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77" r:id="rId6"/>
    <p:sldId id="260" r:id="rId7"/>
    <p:sldId id="262" r:id="rId8"/>
    <p:sldId id="263" r:id="rId9"/>
    <p:sldId id="264" r:id="rId10"/>
    <p:sldId id="266" r:id="rId11"/>
    <p:sldId id="267" r:id="rId12"/>
    <p:sldId id="268" r:id="rId13"/>
    <p:sldId id="274" r:id="rId14"/>
    <p:sldId id="275" r:id="rId15"/>
    <p:sldId id="271" r:id="rId16"/>
    <p:sldId id="272" r:id="rId17"/>
    <p:sldId id="279" r:id="rId18"/>
    <p:sldId id="276" r:id="rId19"/>
    <p:sldId id="278" r:id="rId20"/>
    <p:sldId id="261" r:id="rId21"/>
    <p:sldId id="28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1477496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1481011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2874288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565B86-571F-4E84-8829-A47ED229A56C}"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1661796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565B86-571F-4E84-8829-A47ED229A56C}" type="datetimeFigureOut">
              <a:rPr lang="en-US" smtClean="0"/>
              <a:t>5/4/2020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3586198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565B86-571F-4E84-8829-A47ED229A56C}" type="datetimeFigureOut">
              <a:rPr lang="en-US" smtClean="0"/>
              <a:t>5/4/2020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2736254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565B86-571F-4E84-8829-A47ED229A56C}" type="datetimeFigureOut">
              <a:rPr lang="en-US" smtClean="0"/>
              <a:t>5/4/2020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3727106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565B86-571F-4E84-8829-A47ED229A56C}"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4248339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565B86-571F-4E84-8829-A47ED229A56C}"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3296743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565B86-571F-4E84-8829-A47ED229A56C}"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3526364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2874003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19930296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2238536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41078090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4182937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28164906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565B86-571F-4E84-8829-A47ED229A56C}"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F02F29-B575-4A7E-98C7-B58579E796E3}" type="slidenum">
              <a:rPr lang="en-US" smtClean="0"/>
              <a:t>‹#›</a:t>
            </a:fld>
            <a:endParaRPr lang="en-US"/>
          </a:p>
        </p:txBody>
      </p:sp>
    </p:spTree>
    <p:extLst>
      <p:ext uri="{BB962C8B-B14F-4D97-AF65-F5344CB8AC3E}">
        <p14:creationId xmlns:p14="http://schemas.microsoft.com/office/powerpoint/2010/main" val="3251421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E565B86-571F-4E84-8829-A47ED229A56C}" type="datetimeFigureOut">
              <a:rPr lang="en-US" smtClean="0"/>
              <a:t>5/4/2020</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7F02F29-B575-4A7E-98C7-B58579E796E3}" type="slidenum">
              <a:rPr lang="en-US" smtClean="0"/>
              <a:t>‹#›</a:t>
            </a:fld>
            <a:endParaRPr lang="en-US"/>
          </a:p>
        </p:txBody>
      </p:sp>
    </p:spTree>
    <p:extLst>
      <p:ext uri="{BB962C8B-B14F-4D97-AF65-F5344CB8AC3E}">
        <p14:creationId xmlns:p14="http://schemas.microsoft.com/office/powerpoint/2010/main" val="26333182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documentation.sas.com/?docsetId=procstat&amp;docsetTarget=procstat_freq_syntax01.htm&amp;docsetVersion=9.4&amp;locale=en"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ata-flair.training/blogs/sas-tutorial/" TargetMode="External"/><Relationship Id="rId2" Type="http://schemas.openxmlformats.org/officeDocument/2006/relationships/hyperlink" Target="https://documentation.sas.com/?docsetId=procstat&amp;docsetTarget=procstat_freq_syntax01.htm&amp;docsetVersion=9.4&amp;locale=en"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BFF5F-1A18-4955-BB54-1C964655B9D4}"/>
              </a:ext>
            </a:extLst>
          </p:cNvPr>
          <p:cNvSpPr>
            <a:spLocks noGrp="1"/>
          </p:cNvSpPr>
          <p:nvPr>
            <p:ph type="ctrTitle"/>
          </p:nvPr>
        </p:nvSpPr>
        <p:spPr>
          <a:xfrm>
            <a:off x="1524000" y="643468"/>
            <a:ext cx="9144000" cy="2339429"/>
          </a:xfrm>
        </p:spPr>
        <p:txBody>
          <a:bodyPr anchor="b">
            <a:normAutofit/>
          </a:bodyPr>
          <a:lstStyle/>
          <a:p>
            <a:pPr algn="ctr"/>
            <a:r>
              <a:rPr lang="en-US" sz="7200" dirty="0"/>
              <a:t>An Introduction to SAS</a:t>
            </a:r>
          </a:p>
        </p:txBody>
      </p:sp>
      <p:sp>
        <p:nvSpPr>
          <p:cNvPr id="3" name="Subtitle 2">
            <a:extLst>
              <a:ext uri="{FF2B5EF4-FFF2-40B4-BE49-F238E27FC236}">
                <a16:creationId xmlns:a16="http://schemas.microsoft.com/office/drawing/2014/main" id="{F6924246-3529-487B-A486-7C771B800D5A}"/>
              </a:ext>
            </a:extLst>
          </p:cNvPr>
          <p:cNvSpPr>
            <a:spLocks noGrp="1"/>
          </p:cNvSpPr>
          <p:nvPr>
            <p:ph type="subTitle" idx="1"/>
          </p:nvPr>
        </p:nvSpPr>
        <p:spPr>
          <a:xfrm>
            <a:off x="2719546" y="4934075"/>
            <a:ext cx="6752908" cy="552325"/>
          </a:xfrm>
        </p:spPr>
        <p:txBody>
          <a:bodyPr>
            <a:normAutofit/>
          </a:bodyPr>
          <a:lstStyle/>
          <a:p>
            <a:pPr algn="ctr"/>
            <a:r>
              <a:rPr lang="en-US" sz="2400" dirty="0"/>
              <a:t>Susan Frankki</a:t>
            </a:r>
          </a:p>
        </p:txBody>
      </p:sp>
    </p:spTree>
    <p:extLst>
      <p:ext uri="{BB962C8B-B14F-4D97-AF65-F5344CB8AC3E}">
        <p14:creationId xmlns:p14="http://schemas.microsoft.com/office/powerpoint/2010/main" val="170038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956F-5AF8-41D6-BA2A-1A6BBE939B27}"/>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4E5FC622-6DB0-4A11-890A-D487FD6B2FA7}"/>
              </a:ext>
            </a:extLst>
          </p:cNvPr>
          <p:cNvSpPr>
            <a:spLocks noGrp="1"/>
          </p:cNvSpPr>
          <p:nvPr>
            <p:ph idx="1"/>
          </p:nvPr>
        </p:nvSpPr>
        <p:spPr/>
        <p:txBody>
          <a:bodyPr/>
          <a:lstStyle/>
          <a:p>
            <a:r>
              <a:rPr lang="en-US" dirty="0"/>
              <a:t>SAS was created in 1960</a:t>
            </a:r>
          </a:p>
          <a:p>
            <a:pPr lvl="1"/>
            <a:r>
              <a:rPr lang="en-US" dirty="0"/>
              <a:t>Originally used for statistics application in agriculture projects</a:t>
            </a:r>
          </a:p>
          <a:p>
            <a:r>
              <a:rPr lang="en-US" dirty="0"/>
              <a:t>Most commonly used by large scale organizations</a:t>
            </a:r>
          </a:p>
          <a:p>
            <a:r>
              <a:rPr lang="en-US" dirty="0"/>
              <a:t>Closed Source</a:t>
            </a:r>
          </a:p>
          <a:p>
            <a:endParaRPr lang="en-US" dirty="0"/>
          </a:p>
          <a:p>
            <a:endParaRPr lang="en-US" dirty="0"/>
          </a:p>
        </p:txBody>
      </p:sp>
    </p:spTree>
    <p:extLst>
      <p:ext uri="{BB962C8B-B14F-4D97-AF65-F5344CB8AC3E}">
        <p14:creationId xmlns:p14="http://schemas.microsoft.com/office/powerpoint/2010/main" val="1294490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D3966-4EA9-4A7C-AEB9-D72B3F8247F4}"/>
              </a:ext>
            </a:extLst>
          </p:cNvPr>
          <p:cNvSpPr>
            <a:spLocks noGrp="1"/>
          </p:cNvSpPr>
          <p:nvPr>
            <p:ph type="title"/>
          </p:nvPr>
        </p:nvSpPr>
        <p:spPr/>
        <p:txBody>
          <a:bodyPr/>
          <a:lstStyle/>
          <a:p>
            <a:r>
              <a:rPr lang="en-US" dirty="0"/>
              <a:t>Advantages</a:t>
            </a:r>
          </a:p>
        </p:txBody>
      </p:sp>
      <p:sp>
        <p:nvSpPr>
          <p:cNvPr id="8" name="Content Placeholder 7">
            <a:extLst>
              <a:ext uri="{FF2B5EF4-FFF2-40B4-BE49-F238E27FC236}">
                <a16:creationId xmlns:a16="http://schemas.microsoft.com/office/drawing/2014/main" id="{7FACACCA-86E5-4E14-920B-5258FC258F4B}"/>
              </a:ext>
            </a:extLst>
          </p:cNvPr>
          <p:cNvSpPr>
            <a:spLocks noGrp="1"/>
          </p:cNvSpPr>
          <p:nvPr>
            <p:ph idx="1"/>
          </p:nvPr>
        </p:nvSpPr>
        <p:spPr>
          <a:xfrm>
            <a:off x="1484310" y="2429521"/>
            <a:ext cx="10018713" cy="3742679"/>
          </a:xfrm>
        </p:spPr>
        <p:txBody>
          <a:bodyPr>
            <a:normAutofit fontScale="77500" lnSpcReduction="20000"/>
          </a:bodyPr>
          <a:lstStyle/>
          <a:p>
            <a:r>
              <a:rPr lang="en-US" dirty="0"/>
              <a:t>Updates rolled out with new releases</a:t>
            </a:r>
          </a:p>
          <a:p>
            <a:pPr lvl="1"/>
            <a:r>
              <a:rPr lang="en-US" dirty="0"/>
              <a:t>Come from controlled environment and are well tested</a:t>
            </a:r>
          </a:p>
          <a:p>
            <a:r>
              <a:rPr lang="en-US" dirty="0"/>
              <a:t>Easy debugging</a:t>
            </a:r>
          </a:p>
          <a:p>
            <a:r>
              <a:rPr lang="en-US" dirty="0"/>
              <a:t>Dedicated customer service</a:t>
            </a:r>
          </a:p>
          <a:p>
            <a:r>
              <a:rPr lang="en-US" dirty="0"/>
              <a:t>Easy to learn</a:t>
            </a:r>
          </a:p>
          <a:p>
            <a:r>
              <a:rPr lang="en-US" dirty="0"/>
              <a:t>Decent graphical capabilities</a:t>
            </a:r>
          </a:p>
          <a:p>
            <a:r>
              <a:rPr lang="en-US" dirty="0"/>
              <a:t>Strong data security features</a:t>
            </a:r>
          </a:p>
          <a:p>
            <a:r>
              <a:rPr lang="en-US" dirty="0"/>
              <a:t>Good with large databases</a:t>
            </a:r>
          </a:p>
          <a:p>
            <a:r>
              <a:rPr lang="en-US" dirty="0"/>
              <a:t>Nice output</a:t>
            </a:r>
          </a:p>
          <a:p>
            <a:r>
              <a:rPr lang="en-US" dirty="0"/>
              <a:t>SQL code can be used</a:t>
            </a:r>
          </a:p>
          <a:p>
            <a:endParaRPr lang="en-US" dirty="0"/>
          </a:p>
        </p:txBody>
      </p:sp>
    </p:spTree>
    <p:extLst>
      <p:ext uri="{BB962C8B-B14F-4D97-AF65-F5344CB8AC3E}">
        <p14:creationId xmlns:p14="http://schemas.microsoft.com/office/powerpoint/2010/main" val="744125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8E68-44BB-4F95-9A86-A0714E0824DE}"/>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24976A82-206F-4BB6-9CE0-C517333BF6E8}"/>
              </a:ext>
            </a:extLst>
          </p:cNvPr>
          <p:cNvSpPr>
            <a:spLocks noGrp="1"/>
          </p:cNvSpPr>
          <p:nvPr>
            <p:ph idx="1"/>
          </p:nvPr>
        </p:nvSpPr>
        <p:spPr/>
        <p:txBody>
          <a:bodyPr/>
          <a:lstStyle/>
          <a:p>
            <a:r>
              <a:rPr lang="en-US" dirty="0"/>
              <a:t>Cost</a:t>
            </a:r>
          </a:p>
          <a:p>
            <a:r>
              <a:rPr lang="en-US" dirty="0"/>
              <a:t>Not great graphical features, makes decent graphs but they are not easily customizable</a:t>
            </a:r>
          </a:p>
          <a:p>
            <a:r>
              <a:rPr lang="en-US" dirty="0"/>
              <a:t>Text mining is difficult</a:t>
            </a:r>
          </a:p>
          <a:p>
            <a:r>
              <a:rPr lang="en-US" dirty="0"/>
              <a:t>More of a procedural language so often more lines of code compared to R</a:t>
            </a:r>
          </a:p>
          <a:p>
            <a:endParaRPr lang="en-US" dirty="0"/>
          </a:p>
        </p:txBody>
      </p:sp>
    </p:spTree>
    <p:extLst>
      <p:ext uri="{BB962C8B-B14F-4D97-AF65-F5344CB8AC3E}">
        <p14:creationId xmlns:p14="http://schemas.microsoft.com/office/powerpoint/2010/main" val="2653859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D69EC-355D-4C6E-B63D-5785407E1FFD}"/>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71FFE901-9CE7-4D20-8BEB-6801ED059043}"/>
              </a:ext>
            </a:extLst>
          </p:cNvPr>
          <p:cNvSpPr>
            <a:spLocks noGrp="1"/>
          </p:cNvSpPr>
          <p:nvPr>
            <p:ph idx="1"/>
          </p:nvPr>
        </p:nvSpPr>
        <p:spPr/>
        <p:txBody>
          <a:bodyPr/>
          <a:lstStyle/>
          <a:p>
            <a:r>
              <a:rPr lang="en-US" dirty="0"/>
              <a:t>Not case sensitive</a:t>
            </a:r>
          </a:p>
          <a:p>
            <a:r>
              <a:rPr lang="en-US" dirty="0"/>
              <a:t>Not line or space sensitive</a:t>
            </a:r>
          </a:p>
          <a:p>
            <a:r>
              <a:rPr lang="en-US" dirty="0"/>
              <a:t>Each line should end with a semicolon</a:t>
            </a:r>
          </a:p>
          <a:p>
            <a:r>
              <a:rPr lang="en-US" dirty="0"/>
              <a:t>Each code chunk ends with “run;”</a:t>
            </a:r>
          </a:p>
          <a:p>
            <a:r>
              <a:rPr lang="en-US" dirty="0"/>
              <a:t>F8 can be used as a short cut to run all code or highlighted code</a:t>
            </a:r>
          </a:p>
        </p:txBody>
      </p:sp>
    </p:spTree>
    <p:extLst>
      <p:ext uri="{BB962C8B-B14F-4D97-AF65-F5344CB8AC3E}">
        <p14:creationId xmlns:p14="http://schemas.microsoft.com/office/powerpoint/2010/main" val="1498642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55E09-52CE-4C16-BC54-E5B703921647}"/>
              </a:ext>
            </a:extLst>
          </p:cNvPr>
          <p:cNvSpPr>
            <a:spLocks noGrp="1"/>
          </p:cNvSpPr>
          <p:nvPr>
            <p:ph type="title"/>
          </p:nvPr>
        </p:nvSpPr>
        <p:spPr/>
        <p:txBody>
          <a:bodyPr/>
          <a:lstStyle/>
          <a:p>
            <a:r>
              <a:rPr lang="en-US" dirty="0"/>
              <a:t>Enterprise Guide</a:t>
            </a:r>
          </a:p>
        </p:txBody>
      </p:sp>
      <p:sp>
        <p:nvSpPr>
          <p:cNvPr id="3" name="Content Placeholder 2">
            <a:extLst>
              <a:ext uri="{FF2B5EF4-FFF2-40B4-BE49-F238E27FC236}">
                <a16:creationId xmlns:a16="http://schemas.microsoft.com/office/drawing/2014/main" id="{E3A86BFF-57C9-4A1E-8B62-445EBDE857F5}"/>
              </a:ext>
            </a:extLst>
          </p:cNvPr>
          <p:cNvSpPr>
            <a:spLocks noGrp="1"/>
          </p:cNvSpPr>
          <p:nvPr>
            <p:ph idx="1"/>
          </p:nvPr>
        </p:nvSpPr>
        <p:spPr/>
        <p:txBody>
          <a:bodyPr>
            <a:normAutofit lnSpcReduction="10000"/>
          </a:bodyPr>
          <a:lstStyle/>
          <a:p>
            <a:r>
              <a:rPr lang="en-US" dirty="0"/>
              <a:t>Enterprise guide is a popular IDE used at many corporations including Gundersen</a:t>
            </a:r>
          </a:p>
          <a:p>
            <a:r>
              <a:rPr lang="en-US" dirty="0"/>
              <a:t>Has wizards to assist with writing code, including multiple levels of autocomplete</a:t>
            </a:r>
          </a:p>
          <a:p>
            <a:r>
              <a:rPr lang="en-US" dirty="0"/>
              <a:t>Intuitive, customizable</a:t>
            </a:r>
          </a:p>
          <a:p>
            <a:r>
              <a:rPr lang="en-US" dirty="0"/>
              <a:t>Transparent access to data</a:t>
            </a:r>
          </a:p>
          <a:p>
            <a:r>
              <a:rPr lang="en-US" dirty="0"/>
              <a:t>Easy ways to export data and/or results</a:t>
            </a:r>
          </a:p>
        </p:txBody>
      </p:sp>
    </p:spTree>
    <p:extLst>
      <p:ext uri="{BB962C8B-B14F-4D97-AF65-F5344CB8AC3E}">
        <p14:creationId xmlns:p14="http://schemas.microsoft.com/office/powerpoint/2010/main" val="3519546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39252-9C86-4893-B5D5-A65168EB8289}"/>
              </a:ext>
            </a:extLst>
          </p:cNvPr>
          <p:cNvSpPr>
            <a:spLocks noGrp="1"/>
          </p:cNvSpPr>
          <p:nvPr>
            <p:ph type="title"/>
          </p:nvPr>
        </p:nvSpPr>
        <p:spPr/>
        <p:txBody>
          <a:bodyPr/>
          <a:lstStyle/>
          <a:p>
            <a:r>
              <a:rPr lang="en-US" dirty="0"/>
              <a:t>Main Screen</a:t>
            </a:r>
          </a:p>
        </p:txBody>
      </p:sp>
      <p:pic>
        <p:nvPicPr>
          <p:cNvPr id="4" name="Content Placeholder 3">
            <a:extLst>
              <a:ext uri="{FF2B5EF4-FFF2-40B4-BE49-F238E27FC236}">
                <a16:creationId xmlns:a16="http://schemas.microsoft.com/office/drawing/2014/main" id="{269414CF-021E-4045-8AA4-91DEF6318670}"/>
              </a:ext>
            </a:extLst>
          </p:cNvPr>
          <p:cNvPicPr>
            <a:picLocks noGrp="1" noChangeAspect="1"/>
          </p:cNvPicPr>
          <p:nvPr>
            <p:ph idx="1"/>
          </p:nvPr>
        </p:nvPicPr>
        <p:blipFill>
          <a:blip r:embed="rId2"/>
          <a:stretch>
            <a:fillRect/>
          </a:stretch>
        </p:blipFill>
        <p:spPr>
          <a:xfrm>
            <a:off x="3249026" y="2438399"/>
            <a:ext cx="5693947" cy="4372993"/>
          </a:xfrm>
          <a:prstGeom prst="rect">
            <a:avLst/>
          </a:prstGeom>
        </p:spPr>
      </p:pic>
    </p:spTree>
    <p:extLst>
      <p:ext uri="{BB962C8B-B14F-4D97-AF65-F5344CB8AC3E}">
        <p14:creationId xmlns:p14="http://schemas.microsoft.com/office/powerpoint/2010/main" val="1996532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245E-C916-4320-A90B-99B09409EBA1}"/>
              </a:ext>
            </a:extLst>
          </p:cNvPr>
          <p:cNvSpPr>
            <a:spLocks noGrp="1"/>
          </p:cNvSpPr>
          <p:nvPr>
            <p:ph type="title"/>
          </p:nvPr>
        </p:nvSpPr>
        <p:spPr/>
        <p:txBody>
          <a:bodyPr/>
          <a:lstStyle/>
          <a:p>
            <a:r>
              <a:rPr lang="en-US" dirty="0"/>
              <a:t>Import Data</a:t>
            </a:r>
          </a:p>
        </p:txBody>
      </p:sp>
      <p:pic>
        <p:nvPicPr>
          <p:cNvPr id="4" name="Content Placeholder 3">
            <a:extLst>
              <a:ext uri="{FF2B5EF4-FFF2-40B4-BE49-F238E27FC236}">
                <a16:creationId xmlns:a16="http://schemas.microsoft.com/office/drawing/2014/main" id="{0E5ACE04-1213-4EF3-9D99-24490C26DD35}"/>
              </a:ext>
            </a:extLst>
          </p:cNvPr>
          <p:cNvPicPr>
            <a:picLocks noGrp="1" noChangeAspect="1"/>
          </p:cNvPicPr>
          <p:nvPr>
            <p:ph sz="half" idx="1"/>
          </p:nvPr>
        </p:nvPicPr>
        <p:blipFill>
          <a:blip r:embed="rId2"/>
          <a:stretch>
            <a:fillRect/>
          </a:stretch>
        </p:blipFill>
        <p:spPr>
          <a:xfrm>
            <a:off x="1607394" y="2438398"/>
            <a:ext cx="4934134" cy="3811481"/>
          </a:xfrm>
          <a:prstGeom prst="rect">
            <a:avLst/>
          </a:prstGeom>
        </p:spPr>
      </p:pic>
      <p:sp>
        <p:nvSpPr>
          <p:cNvPr id="8" name="Content Placeholder 7">
            <a:extLst>
              <a:ext uri="{FF2B5EF4-FFF2-40B4-BE49-F238E27FC236}">
                <a16:creationId xmlns:a16="http://schemas.microsoft.com/office/drawing/2014/main" id="{D9DA52EF-1DAF-49CD-99CB-C396D28B2592}"/>
              </a:ext>
            </a:extLst>
          </p:cNvPr>
          <p:cNvSpPr>
            <a:spLocks noGrp="1"/>
          </p:cNvSpPr>
          <p:nvPr>
            <p:ph sz="half" idx="2"/>
          </p:nvPr>
        </p:nvSpPr>
        <p:spPr/>
        <p:txBody>
          <a:bodyPr/>
          <a:lstStyle/>
          <a:p>
            <a:r>
              <a:rPr lang="en-US" dirty="0"/>
              <a:t>Import data is very simple</a:t>
            </a:r>
          </a:p>
          <a:p>
            <a:r>
              <a:rPr lang="en-US" dirty="0"/>
              <a:t>File-&gt;Import Data then just choose the </a:t>
            </a:r>
            <a:r>
              <a:rPr lang="en-US" dirty="0" err="1"/>
              <a:t>filepath</a:t>
            </a:r>
            <a:endParaRPr lang="en-US" dirty="0"/>
          </a:p>
          <a:p>
            <a:r>
              <a:rPr lang="en-US" dirty="0"/>
              <a:t>Doesn’t matter where it is located</a:t>
            </a:r>
          </a:p>
          <a:p>
            <a:r>
              <a:rPr lang="en-US" dirty="0"/>
              <a:t>The import wizard goes through the necessary steps to import your data </a:t>
            </a:r>
          </a:p>
        </p:txBody>
      </p:sp>
    </p:spTree>
    <p:extLst>
      <p:ext uri="{BB962C8B-B14F-4D97-AF65-F5344CB8AC3E}">
        <p14:creationId xmlns:p14="http://schemas.microsoft.com/office/powerpoint/2010/main" val="3417879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E94BB-804F-47E0-B1BC-0C76B2B4EB78}"/>
              </a:ext>
            </a:extLst>
          </p:cNvPr>
          <p:cNvSpPr>
            <a:spLocks noGrp="1"/>
          </p:cNvSpPr>
          <p:nvPr>
            <p:ph type="title"/>
          </p:nvPr>
        </p:nvSpPr>
        <p:spPr/>
        <p:txBody>
          <a:bodyPr/>
          <a:lstStyle/>
          <a:p>
            <a:r>
              <a:rPr lang="en-US" dirty="0"/>
              <a:t>Import Data</a:t>
            </a:r>
          </a:p>
        </p:txBody>
      </p:sp>
      <p:pic>
        <p:nvPicPr>
          <p:cNvPr id="4" name="Content Placeholder 3">
            <a:extLst>
              <a:ext uri="{FF2B5EF4-FFF2-40B4-BE49-F238E27FC236}">
                <a16:creationId xmlns:a16="http://schemas.microsoft.com/office/drawing/2014/main" id="{628911A1-CEB0-4A53-B29E-B3A966316CD3}"/>
              </a:ext>
            </a:extLst>
          </p:cNvPr>
          <p:cNvPicPr>
            <a:picLocks noGrp="1" noChangeAspect="1"/>
          </p:cNvPicPr>
          <p:nvPr>
            <p:ph sz="half" idx="1"/>
          </p:nvPr>
        </p:nvPicPr>
        <p:blipFill>
          <a:blip r:embed="rId2"/>
          <a:stretch>
            <a:fillRect/>
          </a:stretch>
        </p:blipFill>
        <p:spPr>
          <a:xfrm>
            <a:off x="1351145" y="2438399"/>
            <a:ext cx="5020669" cy="3858087"/>
          </a:xfrm>
          <a:prstGeom prst="rect">
            <a:avLst/>
          </a:prstGeom>
        </p:spPr>
      </p:pic>
      <p:sp>
        <p:nvSpPr>
          <p:cNvPr id="5" name="Content Placeholder 4">
            <a:extLst>
              <a:ext uri="{FF2B5EF4-FFF2-40B4-BE49-F238E27FC236}">
                <a16:creationId xmlns:a16="http://schemas.microsoft.com/office/drawing/2014/main" id="{3027B561-5A2D-41B8-A9CA-4F3A9711C577}"/>
              </a:ext>
            </a:extLst>
          </p:cNvPr>
          <p:cNvSpPr>
            <a:spLocks noGrp="1"/>
          </p:cNvSpPr>
          <p:nvPr>
            <p:ph sz="half" idx="2"/>
          </p:nvPr>
        </p:nvSpPr>
        <p:spPr/>
        <p:txBody>
          <a:bodyPr/>
          <a:lstStyle/>
          <a:p>
            <a:r>
              <a:rPr lang="en-US" dirty="0"/>
              <a:t>There are various things you can change in the import data steps</a:t>
            </a:r>
          </a:p>
          <a:p>
            <a:r>
              <a:rPr lang="en-US" dirty="0"/>
              <a:t>The 3</a:t>
            </a:r>
            <a:r>
              <a:rPr lang="en-US" baseline="30000" dirty="0"/>
              <a:t>rd</a:t>
            </a:r>
            <a:r>
              <a:rPr lang="en-US" dirty="0"/>
              <a:t> step see at the left shows the variables and types, occasionally things are read in weirdly and you might have to change the type and source </a:t>
            </a:r>
            <a:r>
              <a:rPr lang="en-US" dirty="0" err="1"/>
              <a:t>informat</a:t>
            </a:r>
            <a:endParaRPr lang="en-US" dirty="0"/>
          </a:p>
        </p:txBody>
      </p:sp>
    </p:spTree>
    <p:extLst>
      <p:ext uri="{BB962C8B-B14F-4D97-AF65-F5344CB8AC3E}">
        <p14:creationId xmlns:p14="http://schemas.microsoft.com/office/powerpoint/2010/main" val="87359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B5AF24-2751-43C0-822C-8933CF75FEB0}"/>
              </a:ext>
            </a:extLst>
          </p:cNvPr>
          <p:cNvSpPr>
            <a:spLocks noGrp="1"/>
          </p:cNvSpPr>
          <p:nvPr>
            <p:ph type="title"/>
          </p:nvPr>
        </p:nvSpPr>
        <p:spPr/>
        <p:txBody>
          <a:bodyPr/>
          <a:lstStyle/>
          <a:p>
            <a:r>
              <a:rPr lang="en-US" dirty="0"/>
              <a:t>Import Data</a:t>
            </a:r>
          </a:p>
        </p:txBody>
      </p:sp>
      <p:pic>
        <p:nvPicPr>
          <p:cNvPr id="4" name="Content Placeholder 3">
            <a:extLst>
              <a:ext uri="{FF2B5EF4-FFF2-40B4-BE49-F238E27FC236}">
                <a16:creationId xmlns:a16="http://schemas.microsoft.com/office/drawing/2014/main" id="{ED09E23F-C4CA-405F-98FD-3058B5207045}"/>
              </a:ext>
            </a:extLst>
          </p:cNvPr>
          <p:cNvPicPr>
            <a:picLocks noGrp="1" noChangeAspect="1"/>
          </p:cNvPicPr>
          <p:nvPr>
            <p:ph sz="half" idx="1"/>
          </p:nvPr>
        </p:nvPicPr>
        <p:blipFill>
          <a:blip r:embed="rId2"/>
          <a:stretch>
            <a:fillRect/>
          </a:stretch>
        </p:blipFill>
        <p:spPr>
          <a:xfrm>
            <a:off x="1484311" y="2438398"/>
            <a:ext cx="5123656" cy="3957881"/>
          </a:xfrm>
          <a:prstGeom prst="rect">
            <a:avLst/>
          </a:prstGeom>
        </p:spPr>
      </p:pic>
      <p:sp>
        <p:nvSpPr>
          <p:cNvPr id="6" name="Content Placeholder 5">
            <a:extLst>
              <a:ext uri="{FF2B5EF4-FFF2-40B4-BE49-F238E27FC236}">
                <a16:creationId xmlns:a16="http://schemas.microsoft.com/office/drawing/2014/main" id="{45506A76-E767-401D-90E8-AFB5A3B1BB79}"/>
              </a:ext>
            </a:extLst>
          </p:cNvPr>
          <p:cNvSpPr>
            <a:spLocks noGrp="1"/>
          </p:cNvSpPr>
          <p:nvPr>
            <p:ph sz="half" idx="2"/>
          </p:nvPr>
        </p:nvSpPr>
        <p:spPr/>
        <p:txBody>
          <a:bodyPr/>
          <a:lstStyle/>
          <a:p>
            <a:r>
              <a:rPr lang="en-US" dirty="0"/>
              <a:t>Once data is imported it will automatically pop up as seen on the left</a:t>
            </a:r>
          </a:p>
          <a:p>
            <a:r>
              <a:rPr lang="en-US" dirty="0"/>
              <a:t>You can also double click the little excel symbol on the far left to open the original form of the data </a:t>
            </a:r>
          </a:p>
        </p:txBody>
      </p:sp>
      <p:cxnSp>
        <p:nvCxnSpPr>
          <p:cNvPr id="8" name="Straight Arrow Connector 7">
            <a:extLst>
              <a:ext uri="{FF2B5EF4-FFF2-40B4-BE49-F238E27FC236}">
                <a16:creationId xmlns:a16="http://schemas.microsoft.com/office/drawing/2014/main" id="{21834089-7A37-49FB-B849-5DD401A9ECE1}"/>
              </a:ext>
            </a:extLst>
          </p:cNvPr>
          <p:cNvCxnSpPr>
            <a:cxnSpLocks/>
          </p:cNvCxnSpPr>
          <p:nvPr/>
        </p:nvCxnSpPr>
        <p:spPr>
          <a:xfrm flipH="1" flipV="1">
            <a:off x="1722268" y="3124940"/>
            <a:ext cx="5122688" cy="1589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992156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549E47-DBE3-4ED3-B7B3-ACB73FF5B17A}"/>
              </a:ext>
            </a:extLst>
          </p:cNvPr>
          <p:cNvSpPr>
            <a:spLocks noGrp="1"/>
          </p:cNvSpPr>
          <p:nvPr>
            <p:ph type="title"/>
          </p:nvPr>
        </p:nvSpPr>
        <p:spPr/>
        <p:txBody>
          <a:bodyPr/>
          <a:lstStyle/>
          <a:p>
            <a:r>
              <a:rPr lang="en-US" dirty="0"/>
              <a:t>Program</a:t>
            </a:r>
          </a:p>
        </p:txBody>
      </p:sp>
      <p:pic>
        <p:nvPicPr>
          <p:cNvPr id="4" name="Content Placeholder 3">
            <a:extLst>
              <a:ext uri="{FF2B5EF4-FFF2-40B4-BE49-F238E27FC236}">
                <a16:creationId xmlns:a16="http://schemas.microsoft.com/office/drawing/2014/main" id="{DE84E4A8-A310-4E30-A221-770EE7C0B4C4}"/>
              </a:ext>
            </a:extLst>
          </p:cNvPr>
          <p:cNvPicPr>
            <a:picLocks noGrp="1" noChangeAspect="1"/>
          </p:cNvPicPr>
          <p:nvPr>
            <p:ph sz="half" idx="1"/>
          </p:nvPr>
        </p:nvPicPr>
        <p:blipFill>
          <a:blip r:embed="rId2"/>
          <a:stretch>
            <a:fillRect/>
          </a:stretch>
        </p:blipFill>
        <p:spPr>
          <a:xfrm>
            <a:off x="1324513" y="1168892"/>
            <a:ext cx="3154532" cy="2790549"/>
          </a:xfrm>
          <a:prstGeom prst="rect">
            <a:avLst/>
          </a:prstGeom>
        </p:spPr>
      </p:pic>
      <p:sp>
        <p:nvSpPr>
          <p:cNvPr id="6" name="Content Placeholder 5">
            <a:extLst>
              <a:ext uri="{FF2B5EF4-FFF2-40B4-BE49-F238E27FC236}">
                <a16:creationId xmlns:a16="http://schemas.microsoft.com/office/drawing/2014/main" id="{83F400D3-E40A-4673-B81C-B966A873F3CB}"/>
              </a:ext>
            </a:extLst>
          </p:cNvPr>
          <p:cNvSpPr>
            <a:spLocks noGrp="1"/>
          </p:cNvSpPr>
          <p:nvPr>
            <p:ph sz="half" idx="2"/>
          </p:nvPr>
        </p:nvSpPr>
        <p:spPr/>
        <p:txBody>
          <a:bodyPr/>
          <a:lstStyle/>
          <a:p>
            <a:r>
              <a:rPr lang="en-US" dirty="0"/>
              <a:t>To start writing code you need a program</a:t>
            </a:r>
          </a:p>
          <a:p>
            <a:r>
              <a:rPr lang="en-US" dirty="0"/>
              <a:t>File-&gt;New-&gt;Program</a:t>
            </a:r>
          </a:p>
          <a:p>
            <a:r>
              <a:rPr lang="en-US" dirty="0"/>
              <a:t>Program now pops up on the left in the project tree, you can click on it twice to rename</a:t>
            </a:r>
          </a:p>
        </p:txBody>
      </p:sp>
      <p:pic>
        <p:nvPicPr>
          <p:cNvPr id="7" name="Picture 6">
            <a:extLst>
              <a:ext uri="{FF2B5EF4-FFF2-40B4-BE49-F238E27FC236}">
                <a16:creationId xmlns:a16="http://schemas.microsoft.com/office/drawing/2014/main" id="{9FD8E02A-18D3-469F-BAD4-51648042846C}"/>
              </a:ext>
            </a:extLst>
          </p:cNvPr>
          <p:cNvPicPr>
            <a:picLocks noChangeAspect="1"/>
          </p:cNvPicPr>
          <p:nvPr/>
        </p:nvPicPr>
        <p:blipFill>
          <a:blip r:embed="rId3"/>
          <a:stretch>
            <a:fillRect/>
          </a:stretch>
        </p:blipFill>
        <p:spPr>
          <a:xfrm>
            <a:off x="3107325" y="3959441"/>
            <a:ext cx="3159111" cy="2790548"/>
          </a:xfrm>
          <a:prstGeom prst="rect">
            <a:avLst/>
          </a:prstGeom>
        </p:spPr>
      </p:pic>
    </p:spTree>
    <p:extLst>
      <p:ext uri="{BB962C8B-B14F-4D97-AF65-F5344CB8AC3E}">
        <p14:creationId xmlns:p14="http://schemas.microsoft.com/office/powerpoint/2010/main" val="4256208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E1E4FC7-B30A-406F-AD59-08448A96DC7B}"/>
              </a:ext>
            </a:extLst>
          </p:cNvPr>
          <p:cNvSpPr>
            <a:spLocks noGrp="1"/>
          </p:cNvSpPr>
          <p:nvPr>
            <p:ph type="title"/>
          </p:nvPr>
        </p:nvSpPr>
        <p:spPr/>
        <p:txBody>
          <a:bodyPr/>
          <a:lstStyle/>
          <a:p>
            <a:r>
              <a:rPr lang="en-US" dirty="0"/>
              <a:t>Data Step</a:t>
            </a:r>
          </a:p>
        </p:txBody>
      </p:sp>
      <p:pic>
        <p:nvPicPr>
          <p:cNvPr id="7" name="Content Placeholder 6">
            <a:extLst>
              <a:ext uri="{FF2B5EF4-FFF2-40B4-BE49-F238E27FC236}">
                <a16:creationId xmlns:a16="http://schemas.microsoft.com/office/drawing/2014/main" id="{9F58CD73-FE25-4958-BECB-FCBC0C01E578}"/>
              </a:ext>
            </a:extLst>
          </p:cNvPr>
          <p:cNvPicPr>
            <a:picLocks noGrp="1" noChangeAspect="1"/>
          </p:cNvPicPr>
          <p:nvPr>
            <p:ph sz="half" idx="1"/>
          </p:nvPr>
        </p:nvPicPr>
        <p:blipFill>
          <a:blip r:embed="rId2"/>
          <a:stretch>
            <a:fillRect/>
          </a:stretch>
        </p:blipFill>
        <p:spPr>
          <a:xfrm>
            <a:off x="1484311" y="2438398"/>
            <a:ext cx="5040776" cy="4379399"/>
          </a:xfrm>
          <a:prstGeom prst="rect">
            <a:avLst/>
          </a:prstGeom>
        </p:spPr>
      </p:pic>
      <p:sp>
        <p:nvSpPr>
          <p:cNvPr id="9" name="Content Placeholder 8">
            <a:extLst>
              <a:ext uri="{FF2B5EF4-FFF2-40B4-BE49-F238E27FC236}">
                <a16:creationId xmlns:a16="http://schemas.microsoft.com/office/drawing/2014/main" id="{A104BF0D-8BBA-4092-8F7D-5D0FD3028850}"/>
              </a:ext>
            </a:extLst>
          </p:cNvPr>
          <p:cNvSpPr>
            <a:spLocks noGrp="1"/>
          </p:cNvSpPr>
          <p:nvPr>
            <p:ph sz="half" idx="2"/>
          </p:nvPr>
        </p:nvSpPr>
        <p:spPr/>
        <p:txBody>
          <a:bodyPr/>
          <a:lstStyle/>
          <a:p>
            <a:r>
              <a:rPr lang="en-US" dirty="0"/>
              <a:t>You can use a data step to subset your data</a:t>
            </a:r>
          </a:p>
          <a:p>
            <a:pPr lvl="1"/>
            <a:r>
              <a:rPr lang="en-US" dirty="0"/>
              <a:t>Say “data” followed by the name of your new data (or the same name if you want to just overwrite it)</a:t>
            </a:r>
          </a:p>
          <a:p>
            <a:pPr lvl="1"/>
            <a:r>
              <a:rPr lang="en-US" dirty="0"/>
              <a:t>One example is a where statement with a variable and logical operator</a:t>
            </a:r>
          </a:p>
          <a:p>
            <a:r>
              <a:rPr lang="en-US" dirty="0"/>
              <a:t>You can see on the left the autocomplete option pops us with suggestions of both the available variables and the operators</a:t>
            </a:r>
          </a:p>
        </p:txBody>
      </p:sp>
    </p:spTree>
    <p:extLst>
      <p:ext uri="{BB962C8B-B14F-4D97-AF65-F5344CB8AC3E}">
        <p14:creationId xmlns:p14="http://schemas.microsoft.com/office/powerpoint/2010/main" val="1341229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2575B-D3D4-4217-A8B1-98358BFFD9E0}"/>
              </a:ext>
            </a:extLst>
          </p:cNvPr>
          <p:cNvSpPr>
            <a:spLocks noGrp="1"/>
          </p:cNvSpPr>
          <p:nvPr>
            <p:ph type="title"/>
          </p:nvPr>
        </p:nvSpPr>
        <p:spPr/>
        <p:txBody>
          <a:bodyPr/>
          <a:lstStyle/>
          <a:p>
            <a:r>
              <a:rPr lang="en-US" dirty="0"/>
              <a:t>Proc Freq</a:t>
            </a:r>
          </a:p>
        </p:txBody>
      </p:sp>
      <p:pic>
        <p:nvPicPr>
          <p:cNvPr id="5" name="Content Placeholder 4">
            <a:extLst>
              <a:ext uri="{FF2B5EF4-FFF2-40B4-BE49-F238E27FC236}">
                <a16:creationId xmlns:a16="http://schemas.microsoft.com/office/drawing/2014/main" id="{C55DD147-C7E2-4083-ACC9-DBE9D3C570D5}"/>
              </a:ext>
            </a:extLst>
          </p:cNvPr>
          <p:cNvPicPr>
            <a:picLocks noGrp="1" noChangeAspect="1"/>
          </p:cNvPicPr>
          <p:nvPr>
            <p:ph sz="half" idx="1"/>
          </p:nvPr>
        </p:nvPicPr>
        <p:blipFill>
          <a:blip r:embed="rId2"/>
          <a:stretch>
            <a:fillRect/>
          </a:stretch>
        </p:blipFill>
        <p:spPr>
          <a:xfrm>
            <a:off x="1746529" y="2667000"/>
            <a:ext cx="4121253" cy="1261981"/>
          </a:xfrm>
          <a:prstGeom prst="rect">
            <a:avLst/>
          </a:prstGeom>
        </p:spPr>
      </p:pic>
      <p:sp>
        <p:nvSpPr>
          <p:cNvPr id="4" name="Content Placeholder 3">
            <a:extLst>
              <a:ext uri="{FF2B5EF4-FFF2-40B4-BE49-F238E27FC236}">
                <a16:creationId xmlns:a16="http://schemas.microsoft.com/office/drawing/2014/main" id="{EE4736F7-973E-4A30-9D6D-9B15B5654AD6}"/>
              </a:ext>
            </a:extLst>
          </p:cNvPr>
          <p:cNvSpPr>
            <a:spLocks noGrp="1"/>
          </p:cNvSpPr>
          <p:nvPr>
            <p:ph sz="half" idx="2"/>
          </p:nvPr>
        </p:nvSpPr>
        <p:spPr/>
        <p:txBody>
          <a:bodyPr/>
          <a:lstStyle/>
          <a:p>
            <a:r>
              <a:rPr lang="en-US" dirty="0"/>
              <a:t>A common procedure that I use constantly is the proc </a:t>
            </a:r>
            <a:r>
              <a:rPr lang="en-US" dirty="0" err="1"/>
              <a:t>freq</a:t>
            </a:r>
            <a:endParaRPr lang="en-US" dirty="0"/>
          </a:p>
          <a:p>
            <a:r>
              <a:rPr lang="en-US" dirty="0"/>
              <a:t>The basic form of this procedure creates a frequency table as seen on the left</a:t>
            </a:r>
          </a:p>
        </p:txBody>
      </p:sp>
      <p:pic>
        <p:nvPicPr>
          <p:cNvPr id="6" name="Picture 5">
            <a:extLst>
              <a:ext uri="{FF2B5EF4-FFF2-40B4-BE49-F238E27FC236}">
                <a16:creationId xmlns:a16="http://schemas.microsoft.com/office/drawing/2014/main" id="{9B557F18-C738-4CB9-9B72-2F0C690A682E}"/>
              </a:ext>
            </a:extLst>
          </p:cNvPr>
          <p:cNvPicPr>
            <a:picLocks noChangeAspect="1"/>
          </p:cNvPicPr>
          <p:nvPr/>
        </p:nvPicPr>
        <p:blipFill>
          <a:blip r:embed="rId3"/>
          <a:stretch>
            <a:fillRect/>
          </a:stretch>
        </p:blipFill>
        <p:spPr>
          <a:xfrm>
            <a:off x="1746529" y="4229100"/>
            <a:ext cx="4121253" cy="1652159"/>
          </a:xfrm>
          <a:prstGeom prst="rect">
            <a:avLst/>
          </a:prstGeom>
        </p:spPr>
      </p:pic>
    </p:spTree>
    <p:extLst>
      <p:ext uri="{BB962C8B-B14F-4D97-AF65-F5344CB8AC3E}">
        <p14:creationId xmlns:p14="http://schemas.microsoft.com/office/powerpoint/2010/main" val="3919099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F33B6-55D2-4278-8484-0D29A5DCCE79}"/>
              </a:ext>
            </a:extLst>
          </p:cNvPr>
          <p:cNvSpPr>
            <a:spLocks noGrp="1"/>
          </p:cNvSpPr>
          <p:nvPr>
            <p:ph type="title"/>
          </p:nvPr>
        </p:nvSpPr>
        <p:spPr/>
        <p:txBody>
          <a:bodyPr/>
          <a:lstStyle/>
          <a:p>
            <a:r>
              <a:rPr lang="en-US" dirty="0"/>
              <a:t>Proc Means</a:t>
            </a:r>
          </a:p>
        </p:txBody>
      </p:sp>
      <p:pic>
        <p:nvPicPr>
          <p:cNvPr id="5" name="Content Placeholder 4">
            <a:extLst>
              <a:ext uri="{FF2B5EF4-FFF2-40B4-BE49-F238E27FC236}">
                <a16:creationId xmlns:a16="http://schemas.microsoft.com/office/drawing/2014/main" id="{90EB00AA-6FE1-4879-8E95-BD1CA9E3842C}"/>
              </a:ext>
            </a:extLst>
          </p:cNvPr>
          <p:cNvPicPr>
            <a:picLocks noGrp="1" noChangeAspect="1"/>
          </p:cNvPicPr>
          <p:nvPr>
            <p:ph sz="half" idx="1"/>
          </p:nvPr>
        </p:nvPicPr>
        <p:blipFill>
          <a:blip r:embed="rId2"/>
          <a:stretch>
            <a:fillRect/>
          </a:stretch>
        </p:blipFill>
        <p:spPr>
          <a:xfrm>
            <a:off x="1377781" y="2648755"/>
            <a:ext cx="4894262" cy="780245"/>
          </a:xfrm>
          <a:prstGeom prst="rect">
            <a:avLst/>
          </a:prstGeom>
        </p:spPr>
      </p:pic>
      <p:sp>
        <p:nvSpPr>
          <p:cNvPr id="4" name="Content Placeholder 3">
            <a:extLst>
              <a:ext uri="{FF2B5EF4-FFF2-40B4-BE49-F238E27FC236}">
                <a16:creationId xmlns:a16="http://schemas.microsoft.com/office/drawing/2014/main" id="{D2DB3DEE-9A74-4218-8C49-C94C593850C3}"/>
              </a:ext>
            </a:extLst>
          </p:cNvPr>
          <p:cNvSpPr>
            <a:spLocks noGrp="1"/>
          </p:cNvSpPr>
          <p:nvPr>
            <p:ph sz="half" idx="2"/>
          </p:nvPr>
        </p:nvSpPr>
        <p:spPr/>
        <p:txBody>
          <a:bodyPr/>
          <a:lstStyle/>
          <a:p>
            <a:r>
              <a:rPr lang="en-US" dirty="0"/>
              <a:t>Another common procedure is proc means</a:t>
            </a:r>
          </a:p>
          <a:p>
            <a:r>
              <a:rPr lang="en-US" dirty="0"/>
              <a:t>As with other procedures you can specify what you want the output to be</a:t>
            </a:r>
          </a:p>
          <a:p>
            <a:pPr lvl="1"/>
            <a:r>
              <a:rPr lang="en-US" dirty="0"/>
              <a:t>On the left you can see that after the proc means call I specify that I want n, </a:t>
            </a:r>
            <a:r>
              <a:rPr lang="en-US" dirty="0" err="1"/>
              <a:t>nmiss</a:t>
            </a:r>
            <a:r>
              <a:rPr lang="en-US" dirty="0"/>
              <a:t>, mean, median and max.</a:t>
            </a:r>
          </a:p>
          <a:p>
            <a:r>
              <a:rPr lang="en-US" dirty="0"/>
              <a:t>Output on the bottom left</a:t>
            </a:r>
          </a:p>
        </p:txBody>
      </p:sp>
      <p:pic>
        <p:nvPicPr>
          <p:cNvPr id="6" name="Picture 5">
            <a:extLst>
              <a:ext uri="{FF2B5EF4-FFF2-40B4-BE49-F238E27FC236}">
                <a16:creationId xmlns:a16="http://schemas.microsoft.com/office/drawing/2014/main" id="{9B38216E-9F9E-4460-B74D-249570201EEB}"/>
              </a:ext>
            </a:extLst>
          </p:cNvPr>
          <p:cNvPicPr>
            <a:picLocks noChangeAspect="1"/>
          </p:cNvPicPr>
          <p:nvPr/>
        </p:nvPicPr>
        <p:blipFill>
          <a:blip r:embed="rId3"/>
          <a:stretch>
            <a:fillRect/>
          </a:stretch>
        </p:blipFill>
        <p:spPr>
          <a:xfrm>
            <a:off x="1377781" y="3900626"/>
            <a:ext cx="4718219" cy="1729422"/>
          </a:xfrm>
          <a:prstGeom prst="rect">
            <a:avLst/>
          </a:prstGeom>
        </p:spPr>
      </p:pic>
    </p:spTree>
    <p:extLst>
      <p:ext uri="{BB962C8B-B14F-4D97-AF65-F5344CB8AC3E}">
        <p14:creationId xmlns:p14="http://schemas.microsoft.com/office/powerpoint/2010/main" val="1550961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538EAC-754B-4E6A-BD12-F7BF95BB2E27}"/>
              </a:ext>
            </a:extLst>
          </p:cNvPr>
          <p:cNvSpPr>
            <a:spLocks noGrp="1"/>
          </p:cNvSpPr>
          <p:nvPr>
            <p:ph type="title"/>
          </p:nvPr>
        </p:nvSpPr>
        <p:spPr/>
        <p:txBody>
          <a:bodyPr/>
          <a:lstStyle/>
          <a:p>
            <a:r>
              <a:rPr lang="en-US" dirty="0"/>
              <a:t>Creating New Variables</a:t>
            </a:r>
          </a:p>
        </p:txBody>
      </p:sp>
      <p:pic>
        <p:nvPicPr>
          <p:cNvPr id="4" name="Content Placeholder 3">
            <a:extLst>
              <a:ext uri="{FF2B5EF4-FFF2-40B4-BE49-F238E27FC236}">
                <a16:creationId xmlns:a16="http://schemas.microsoft.com/office/drawing/2014/main" id="{E6A6286F-A4D9-473C-B947-DDE88AFA8D66}"/>
              </a:ext>
            </a:extLst>
          </p:cNvPr>
          <p:cNvPicPr>
            <a:picLocks noGrp="1" noChangeAspect="1"/>
          </p:cNvPicPr>
          <p:nvPr>
            <p:ph sz="half" idx="1"/>
          </p:nvPr>
        </p:nvPicPr>
        <p:blipFill>
          <a:blip r:embed="rId2"/>
          <a:stretch>
            <a:fillRect/>
          </a:stretch>
        </p:blipFill>
        <p:spPr>
          <a:xfrm>
            <a:off x="1484311" y="2537215"/>
            <a:ext cx="6964062" cy="1527279"/>
          </a:xfrm>
          <a:prstGeom prst="rect">
            <a:avLst/>
          </a:prstGeom>
        </p:spPr>
      </p:pic>
      <p:sp>
        <p:nvSpPr>
          <p:cNvPr id="6" name="Content Placeholder 5">
            <a:extLst>
              <a:ext uri="{FF2B5EF4-FFF2-40B4-BE49-F238E27FC236}">
                <a16:creationId xmlns:a16="http://schemas.microsoft.com/office/drawing/2014/main" id="{5C1B4EE0-8058-4055-A384-908BE12A563B}"/>
              </a:ext>
            </a:extLst>
          </p:cNvPr>
          <p:cNvSpPr>
            <a:spLocks noGrp="1"/>
          </p:cNvSpPr>
          <p:nvPr>
            <p:ph sz="half" idx="2"/>
          </p:nvPr>
        </p:nvSpPr>
        <p:spPr>
          <a:xfrm>
            <a:off x="7131749" y="3642064"/>
            <a:ext cx="4895056" cy="3124200"/>
          </a:xfrm>
        </p:spPr>
        <p:txBody>
          <a:bodyPr/>
          <a:lstStyle/>
          <a:p>
            <a:r>
              <a:rPr lang="en-US" dirty="0"/>
              <a:t>You can create new variables in a </a:t>
            </a:r>
            <a:r>
              <a:rPr lang="en-US" dirty="0" err="1"/>
              <a:t>datastep</a:t>
            </a:r>
            <a:endParaRPr lang="en-US" dirty="0"/>
          </a:p>
          <a:p>
            <a:r>
              <a:rPr lang="en-US" dirty="0"/>
              <a:t>The line that starts with length specifies the length of the new character variable, without this statement length is automatically set to the first value assigned and then if subsequent values are longer they will be cut off</a:t>
            </a:r>
          </a:p>
          <a:p>
            <a:r>
              <a:rPr lang="en-US" dirty="0"/>
              <a:t>Basic if then statement can be used as seen</a:t>
            </a:r>
          </a:p>
        </p:txBody>
      </p:sp>
    </p:spTree>
    <p:extLst>
      <p:ext uri="{BB962C8B-B14F-4D97-AF65-F5344CB8AC3E}">
        <p14:creationId xmlns:p14="http://schemas.microsoft.com/office/powerpoint/2010/main" val="2798981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D81657-55E6-415A-A40D-29A24DCDFA6C}"/>
              </a:ext>
            </a:extLst>
          </p:cNvPr>
          <p:cNvSpPr>
            <a:spLocks noGrp="1"/>
          </p:cNvSpPr>
          <p:nvPr>
            <p:ph type="title"/>
          </p:nvPr>
        </p:nvSpPr>
        <p:spPr/>
        <p:txBody>
          <a:bodyPr/>
          <a:lstStyle/>
          <a:p>
            <a:r>
              <a:rPr lang="en-US" dirty="0"/>
              <a:t>Comparing Categorical Variables</a:t>
            </a:r>
          </a:p>
        </p:txBody>
      </p:sp>
      <p:sp>
        <p:nvSpPr>
          <p:cNvPr id="5" name="Content Placeholder 4">
            <a:extLst>
              <a:ext uri="{FF2B5EF4-FFF2-40B4-BE49-F238E27FC236}">
                <a16:creationId xmlns:a16="http://schemas.microsoft.com/office/drawing/2014/main" id="{0BD35BD2-6154-48A9-9C1C-7706D1422A18}"/>
              </a:ext>
            </a:extLst>
          </p:cNvPr>
          <p:cNvSpPr>
            <a:spLocks noGrp="1"/>
          </p:cNvSpPr>
          <p:nvPr>
            <p:ph sz="half" idx="1"/>
          </p:nvPr>
        </p:nvSpPr>
        <p:spPr/>
        <p:txBody>
          <a:bodyPr/>
          <a:lstStyle/>
          <a:p>
            <a:r>
              <a:rPr lang="en-US" dirty="0"/>
              <a:t>Proc </a:t>
            </a:r>
            <a:r>
              <a:rPr lang="en-US" dirty="0" err="1"/>
              <a:t>freq</a:t>
            </a:r>
            <a:r>
              <a:rPr lang="en-US" dirty="0"/>
              <a:t> can be used to cross tabulate 2 variables with a * symbol</a:t>
            </a:r>
          </a:p>
          <a:p>
            <a:r>
              <a:rPr lang="en-US" dirty="0"/>
              <a:t>Using a / you can then specify options you wish to apply to the data</a:t>
            </a:r>
          </a:p>
          <a:p>
            <a:pPr lvl="1"/>
            <a:r>
              <a:rPr lang="en-US" dirty="0"/>
              <a:t>Above I apply a chi-square test and display the expected values</a:t>
            </a:r>
          </a:p>
        </p:txBody>
      </p:sp>
      <p:pic>
        <p:nvPicPr>
          <p:cNvPr id="7" name="Content Placeholder 6">
            <a:extLst>
              <a:ext uri="{FF2B5EF4-FFF2-40B4-BE49-F238E27FC236}">
                <a16:creationId xmlns:a16="http://schemas.microsoft.com/office/drawing/2014/main" id="{17A56014-7CDB-469A-A292-2E12A24CEE91}"/>
              </a:ext>
            </a:extLst>
          </p:cNvPr>
          <p:cNvPicPr>
            <a:picLocks noGrp="1" noChangeAspect="1"/>
          </p:cNvPicPr>
          <p:nvPr>
            <p:ph sz="half" idx="2"/>
          </p:nvPr>
        </p:nvPicPr>
        <p:blipFill>
          <a:blip r:embed="rId2"/>
          <a:stretch>
            <a:fillRect/>
          </a:stretch>
        </p:blipFill>
        <p:spPr>
          <a:xfrm>
            <a:off x="8187841" y="2037002"/>
            <a:ext cx="3315183" cy="4765200"/>
          </a:xfrm>
          <a:prstGeom prst="rect">
            <a:avLst/>
          </a:prstGeom>
        </p:spPr>
      </p:pic>
      <p:pic>
        <p:nvPicPr>
          <p:cNvPr id="8" name="Picture 7">
            <a:extLst>
              <a:ext uri="{FF2B5EF4-FFF2-40B4-BE49-F238E27FC236}">
                <a16:creationId xmlns:a16="http://schemas.microsoft.com/office/drawing/2014/main" id="{EA9CF4BE-3559-4471-B35F-4EDF711403BE}"/>
              </a:ext>
            </a:extLst>
          </p:cNvPr>
          <p:cNvPicPr>
            <a:picLocks noChangeAspect="1"/>
          </p:cNvPicPr>
          <p:nvPr/>
        </p:nvPicPr>
        <p:blipFill>
          <a:blip r:embed="rId3"/>
          <a:stretch>
            <a:fillRect/>
          </a:stretch>
        </p:blipFill>
        <p:spPr>
          <a:xfrm>
            <a:off x="2663367" y="2265476"/>
            <a:ext cx="4791871" cy="670618"/>
          </a:xfrm>
          <a:prstGeom prst="rect">
            <a:avLst/>
          </a:prstGeom>
        </p:spPr>
      </p:pic>
    </p:spTree>
    <p:extLst>
      <p:ext uri="{BB962C8B-B14F-4D97-AF65-F5344CB8AC3E}">
        <p14:creationId xmlns:p14="http://schemas.microsoft.com/office/powerpoint/2010/main" val="1830555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23797-6CF6-40DF-8898-5259BA74AD6D}"/>
              </a:ext>
            </a:extLst>
          </p:cNvPr>
          <p:cNvSpPr>
            <a:spLocks noGrp="1"/>
          </p:cNvSpPr>
          <p:nvPr>
            <p:ph type="title"/>
          </p:nvPr>
        </p:nvSpPr>
        <p:spPr/>
        <p:txBody>
          <a:bodyPr/>
          <a:lstStyle/>
          <a:p>
            <a:r>
              <a:rPr lang="en-US" dirty="0"/>
              <a:t>Other Procedures</a:t>
            </a:r>
          </a:p>
        </p:txBody>
      </p:sp>
      <p:sp>
        <p:nvSpPr>
          <p:cNvPr id="3" name="Content Placeholder 2">
            <a:extLst>
              <a:ext uri="{FF2B5EF4-FFF2-40B4-BE49-F238E27FC236}">
                <a16:creationId xmlns:a16="http://schemas.microsoft.com/office/drawing/2014/main" id="{999F20D1-612A-4BBF-A214-D9CE2FD86911}"/>
              </a:ext>
            </a:extLst>
          </p:cNvPr>
          <p:cNvSpPr>
            <a:spLocks noGrp="1"/>
          </p:cNvSpPr>
          <p:nvPr>
            <p:ph sz="half" idx="1"/>
          </p:nvPr>
        </p:nvSpPr>
        <p:spPr/>
        <p:txBody>
          <a:bodyPr>
            <a:normAutofit fontScale="92500" lnSpcReduction="10000"/>
          </a:bodyPr>
          <a:lstStyle/>
          <a:p>
            <a:r>
              <a:rPr lang="en-US" dirty="0"/>
              <a:t>The following are the main procedures I used at Gundersen</a:t>
            </a:r>
          </a:p>
          <a:p>
            <a:pPr lvl="1"/>
            <a:r>
              <a:rPr lang="en-US" dirty="0"/>
              <a:t>Proc </a:t>
            </a:r>
            <a:r>
              <a:rPr lang="en-US" dirty="0" err="1"/>
              <a:t>freq</a:t>
            </a:r>
            <a:r>
              <a:rPr lang="en-US" dirty="0"/>
              <a:t>, proc means</a:t>
            </a:r>
          </a:p>
          <a:p>
            <a:pPr lvl="1"/>
            <a:r>
              <a:rPr lang="en-US" dirty="0"/>
              <a:t>Proc </a:t>
            </a:r>
            <a:r>
              <a:rPr lang="en-US" dirty="0" err="1"/>
              <a:t>lifetest</a:t>
            </a:r>
            <a:r>
              <a:rPr lang="en-US" dirty="0"/>
              <a:t> for Kaplan Meier survival analysis</a:t>
            </a:r>
          </a:p>
          <a:p>
            <a:pPr lvl="1"/>
            <a:r>
              <a:rPr lang="en-US" dirty="0"/>
              <a:t>Proc </a:t>
            </a:r>
            <a:r>
              <a:rPr lang="en-US" dirty="0" err="1"/>
              <a:t>phreg</a:t>
            </a:r>
            <a:r>
              <a:rPr lang="en-US" dirty="0"/>
              <a:t> for cox proportional hazard analysis</a:t>
            </a:r>
          </a:p>
          <a:p>
            <a:pPr lvl="1"/>
            <a:r>
              <a:rPr lang="en-US" dirty="0"/>
              <a:t>Proc </a:t>
            </a:r>
            <a:r>
              <a:rPr lang="en-US" dirty="0" err="1"/>
              <a:t>ttest</a:t>
            </a:r>
            <a:endParaRPr lang="en-US" dirty="0"/>
          </a:p>
          <a:p>
            <a:pPr lvl="1"/>
            <a:r>
              <a:rPr lang="en-US" dirty="0"/>
              <a:t>Proc </a:t>
            </a:r>
            <a:r>
              <a:rPr lang="en-US" dirty="0" err="1"/>
              <a:t>psmatch</a:t>
            </a:r>
            <a:r>
              <a:rPr lang="en-US" dirty="0"/>
              <a:t> for propensity score matching</a:t>
            </a:r>
          </a:p>
          <a:p>
            <a:r>
              <a:rPr lang="en-US" dirty="0"/>
              <a:t>To the right is an example of a Kaplan Meier Curve generated by SAS (This plot cannot be shared publicly yet so I had to black out titles)</a:t>
            </a:r>
          </a:p>
        </p:txBody>
      </p:sp>
      <p:pic>
        <p:nvPicPr>
          <p:cNvPr id="5" name="Content Placeholder 4">
            <a:extLst>
              <a:ext uri="{FF2B5EF4-FFF2-40B4-BE49-F238E27FC236}">
                <a16:creationId xmlns:a16="http://schemas.microsoft.com/office/drawing/2014/main" id="{F5FB4797-4B63-40A5-A87F-73502D3D26B1}"/>
              </a:ext>
            </a:extLst>
          </p:cNvPr>
          <p:cNvPicPr>
            <a:picLocks noGrp="1" noChangeAspect="1"/>
          </p:cNvPicPr>
          <p:nvPr>
            <p:ph sz="half" idx="2"/>
          </p:nvPr>
        </p:nvPicPr>
        <p:blipFill>
          <a:blip r:embed="rId2"/>
          <a:stretch>
            <a:fillRect/>
          </a:stretch>
        </p:blipFill>
        <p:spPr>
          <a:xfrm>
            <a:off x="6994199" y="2667000"/>
            <a:ext cx="4121802" cy="3124200"/>
          </a:xfrm>
          <a:prstGeom prst="rect">
            <a:avLst/>
          </a:prstGeom>
        </p:spPr>
      </p:pic>
    </p:spTree>
    <p:extLst>
      <p:ext uri="{BB962C8B-B14F-4D97-AF65-F5344CB8AC3E}">
        <p14:creationId xmlns:p14="http://schemas.microsoft.com/office/powerpoint/2010/main" val="3050333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209B-DCCA-4A88-B2D2-9B010104003C}"/>
              </a:ext>
            </a:extLst>
          </p:cNvPr>
          <p:cNvSpPr>
            <a:spLocks noGrp="1"/>
          </p:cNvSpPr>
          <p:nvPr>
            <p:ph type="title"/>
          </p:nvPr>
        </p:nvSpPr>
        <p:spPr/>
        <p:txBody>
          <a:bodyPr/>
          <a:lstStyle/>
          <a:p>
            <a:r>
              <a:rPr lang="en-US" dirty="0"/>
              <a:t>SAS Help Website</a:t>
            </a:r>
          </a:p>
        </p:txBody>
      </p:sp>
      <p:sp>
        <p:nvSpPr>
          <p:cNvPr id="3" name="Content Placeholder 2">
            <a:extLst>
              <a:ext uri="{FF2B5EF4-FFF2-40B4-BE49-F238E27FC236}">
                <a16:creationId xmlns:a16="http://schemas.microsoft.com/office/drawing/2014/main" id="{5114A591-D6D6-43E8-88AE-DE4F7F0CC2B3}"/>
              </a:ext>
            </a:extLst>
          </p:cNvPr>
          <p:cNvSpPr>
            <a:spLocks noGrp="1"/>
          </p:cNvSpPr>
          <p:nvPr>
            <p:ph sz="half" idx="1"/>
          </p:nvPr>
        </p:nvSpPr>
        <p:spPr>
          <a:xfrm>
            <a:off x="4046139" y="1965663"/>
            <a:ext cx="4895055" cy="2064799"/>
          </a:xfrm>
        </p:spPr>
        <p:txBody>
          <a:bodyPr/>
          <a:lstStyle/>
          <a:p>
            <a:r>
              <a:rPr lang="en-US" dirty="0"/>
              <a:t>SAS help has very easy to follow documentations, a screen shot is shown below</a:t>
            </a:r>
          </a:p>
          <a:p>
            <a:r>
              <a:rPr lang="en-US" dirty="0">
                <a:hlinkClick r:id="rId2"/>
              </a:rPr>
              <a:t>https://documentation.sas.com/?docsetId=procstat&amp;docsetTarget=procstat_freq_syntax01.htm&amp;docsetVersion=9.4&amp;locale=en</a:t>
            </a:r>
            <a:endParaRPr lang="en-US" dirty="0"/>
          </a:p>
        </p:txBody>
      </p:sp>
      <p:pic>
        <p:nvPicPr>
          <p:cNvPr id="5" name="Content Placeholder 4">
            <a:extLst>
              <a:ext uri="{FF2B5EF4-FFF2-40B4-BE49-F238E27FC236}">
                <a16:creationId xmlns:a16="http://schemas.microsoft.com/office/drawing/2014/main" id="{86523162-0784-4B5F-A0FD-692A1543D42B}"/>
              </a:ext>
            </a:extLst>
          </p:cNvPr>
          <p:cNvPicPr>
            <a:picLocks noGrp="1" noChangeAspect="1"/>
          </p:cNvPicPr>
          <p:nvPr>
            <p:ph sz="half" idx="2"/>
          </p:nvPr>
        </p:nvPicPr>
        <p:blipFill>
          <a:blip r:embed="rId3"/>
          <a:stretch>
            <a:fillRect/>
          </a:stretch>
        </p:blipFill>
        <p:spPr>
          <a:xfrm>
            <a:off x="2865299" y="3776350"/>
            <a:ext cx="7256734" cy="3067949"/>
          </a:xfrm>
          <a:prstGeom prst="rect">
            <a:avLst/>
          </a:prstGeom>
        </p:spPr>
      </p:pic>
    </p:spTree>
    <p:extLst>
      <p:ext uri="{BB962C8B-B14F-4D97-AF65-F5344CB8AC3E}">
        <p14:creationId xmlns:p14="http://schemas.microsoft.com/office/powerpoint/2010/main" val="2266913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29F8A-8965-40A1-AFB9-CEB018F8DF1F}"/>
              </a:ext>
            </a:extLst>
          </p:cNvPr>
          <p:cNvSpPr>
            <a:spLocks noGrp="1"/>
          </p:cNvSpPr>
          <p:nvPr>
            <p:ph type="title"/>
          </p:nvPr>
        </p:nvSpPr>
        <p:spPr/>
        <p:txBody>
          <a:bodyPr/>
          <a:lstStyle/>
          <a:p>
            <a:r>
              <a:rPr lang="en-US" dirty="0"/>
              <a:t>Other Issues I Have Had</a:t>
            </a:r>
          </a:p>
        </p:txBody>
      </p:sp>
      <p:sp>
        <p:nvSpPr>
          <p:cNvPr id="3" name="Content Placeholder 2">
            <a:extLst>
              <a:ext uri="{FF2B5EF4-FFF2-40B4-BE49-F238E27FC236}">
                <a16:creationId xmlns:a16="http://schemas.microsoft.com/office/drawing/2014/main" id="{5807B810-2418-419A-BC9D-97A8385114BC}"/>
              </a:ext>
            </a:extLst>
          </p:cNvPr>
          <p:cNvSpPr>
            <a:spLocks noGrp="1"/>
          </p:cNvSpPr>
          <p:nvPr>
            <p:ph idx="1"/>
          </p:nvPr>
        </p:nvSpPr>
        <p:spPr/>
        <p:txBody>
          <a:bodyPr/>
          <a:lstStyle/>
          <a:p>
            <a:r>
              <a:rPr lang="en-US" dirty="0"/>
              <a:t>Like with R, dates can be fussy</a:t>
            </a:r>
          </a:p>
          <a:p>
            <a:r>
              <a:rPr lang="en-US" dirty="0"/>
              <a:t>Occasionally things will show up weird with the data upload</a:t>
            </a:r>
          </a:p>
          <a:p>
            <a:r>
              <a:rPr lang="en-US" dirty="0"/>
              <a:t>While Access is a form of data that SAS accepts, it seems to cause issues  and not always communicate well so it is better to export from Access to an excel document first.</a:t>
            </a:r>
          </a:p>
          <a:p>
            <a:r>
              <a:rPr lang="en-US" dirty="0"/>
              <a:t>Time series is in an additional package that needs to be purchased</a:t>
            </a:r>
          </a:p>
          <a:p>
            <a:endParaRPr lang="en-US" dirty="0"/>
          </a:p>
          <a:p>
            <a:endParaRPr lang="en-US" dirty="0"/>
          </a:p>
          <a:p>
            <a:endParaRPr lang="en-US" dirty="0"/>
          </a:p>
        </p:txBody>
      </p:sp>
    </p:spTree>
    <p:extLst>
      <p:ext uri="{BB962C8B-B14F-4D97-AF65-F5344CB8AC3E}">
        <p14:creationId xmlns:p14="http://schemas.microsoft.com/office/powerpoint/2010/main" val="673923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70DE0-F929-45C2-85B1-DC624B8BF713}"/>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0995D110-0067-46D5-A860-F730A65043B6}"/>
              </a:ext>
            </a:extLst>
          </p:cNvPr>
          <p:cNvSpPr>
            <a:spLocks noGrp="1"/>
          </p:cNvSpPr>
          <p:nvPr>
            <p:ph idx="1"/>
          </p:nvPr>
        </p:nvSpPr>
        <p:spPr/>
        <p:txBody>
          <a:bodyPr/>
          <a:lstStyle/>
          <a:p>
            <a:r>
              <a:rPr lang="en-US" dirty="0"/>
              <a:t>There are a lot of great resources available with a quick google search, the two below are the general documentation website, and a website with a great overview and walkthrough of SAS</a:t>
            </a:r>
          </a:p>
          <a:p>
            <a:r>
              <a:rPr lang="en-US" dirty="0">
                <a:hlinkClick r:id="rId2"/>
              </a:rPr>
              <a:t>https://documentation.sas.com/?docsetId=procstat&amp;docsetTarget=procstat_freq_syntax01.htm&amp;docsetVersion=9.4&amp;locale=en</a:t>
            </a:r>
            <a:endParaRPr lang="en-US" dirty="0"/>
          </a:p>
          <a:p>
            <a:r>
              <a:rPr lang="en-US" dirty="0">
                <a:hlinkClick r:id="rId3"/>
              </a:rPr>
              <a:t>https://data-flair.training/blogs/sas-tutorial/</a:t>
            </a:r>
            <a:endParaRPr lang="en-US" dirty="0"/>
          </a:p>
          <a:p>
            <a:endParaRPr lang="en-US" dirty="0"/>
          </a:p>
          <a:p>
            <a:endParaRPr lang="en-US" dirty="0"/>
          </a:p>
        </p:txBody>
      </p:sp>
    </p:spTree>
    <p:extLst>
      <p:ext uri="{BB962C8B-B14F-4D97-AF65-F5344CB8AC3E}">
        <p14:creationId xmlns:p14="http://schemas.microsoft.com/office/powerpoint/2010/main" val="68257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96118-9F98-44AD-AFD7-1C786680BD5E}"/>
              </a:ext>
            </a:extLst>
          </p:cNvPr>
          <p:cNvSpPr>
            <a:spLocks noGrp="1"/>
          </p:cNvSpPr>
          <p:nvPr>
            <p:ph type="title"/>
          </p:nvPr>
        </p:nvSpPr>
        <p:spPr/>
        <p:txBody>
          <a:bodyPr/>
          <a:lstStyle/>
          <a:p>
            <a:r>
              <a:rPr lang="en-US" dirty="0"/>
              <a:t>Congratulations and Have a Great Summer</a:t>
            </a:r>
          </a:p>
        </p:txBody>
      </p:sp>
      <p:sp>
        <p:nvSpPr>
          <p:cNvPr id="3" name="Content Placeholder 2">
            <a:extLst>
              <a:ext uri="{FF2B5EF4-FFF2-40B4-BE49-F238E27FC236}">
                <a16:creationId xmlns:a16="http://schemas.microsoft.com/office/drawing/2014/main" id="{E74F8DFC-56E3-49EB-ABB8-DB1EAD375824}"/>
              </a:ext>
            </a:extLst>
          </p:cNvPr>
          <p:cNvSpPr>
            <a:spLocks noGrp="1"/>
          </p:cNvSpPr>
          <p:nvPr>
            <p:ph idx="1"/>
          </p:nvPr>
        </p:nvSpPr>
        <p:spPr/>
        <p:txBody>
          <a:bodyPr/>
          <a:lstStyle/>
          <a:p>
            <a:r>
              <a:rPr lang="en-US" dirty="0"/>
              <a:t>Congratulations to those who are graduating!</a:t>
            </a:r>
          </a:p>
          <a:p>
            <a:r>
              <a:rPr lang="en-US" dirty="0"/>
              <a:t>Good luck to everyone on their future endeavors!</a:t>
            </a:r>
          </a:p>
        </p:txBody>
      </p:sp>
    </p:spTree>
    <p:extLst>
      <p:ext uri="{BB962C8B-B14F-4D97-AF65-F5344CB8AC3E}">
        <p14:creationId xmlns:p14="http://schemas.microsoft.com/office/powerpoint/2010/main" val="29425835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5087</TotalTime>
  <Words>873</Words>
  <Application>Microsoft Office PowerPoint</Application>
  <PresentationFormat>Widescreen</PresentationFormat>
  <Paragraphs>96</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Corbel</vt:lpstr>
      <vt:lpstr>Parallax</vt:lpstr>
      <vt:lpstr>An Introduction to SAS</vt:lpstr>
      <vt:lpstr>Background</vt:lpstr>
      <vt:lpstr>Advantages</vt:lpstr>
      <vt:lpstr>Disadvantages</vt:lpstr>
      <vt:lpstr>Syntax</vt:lpstr>
      <vt:lpstr>Enterprise Guide</vt:lpstr>
      <vt:lpstr>Main Screen</vt:lpstr>
      <vt:lpstr>Import Data</vt:lpstr>
      <vt:lpstr>Import Data</vt:lpstr>
      <vt:lpstr>Import Data</vt:lpstr>
      <vt:lpstr>Program</vt:lpstr>
      <vt:lpstr>Data Step</vt:lpstr>
      <vt:lpstr>Proc Freq</vt:lpstr>
      <vt:lpstr>Proc Means</vt:lpstr>
      <vt:lpstr>Creating New Variables</vt:lpstr>
      <vt:lpstr>Comparing Categorical Variables</vt:lpstr>
      <vt:lpstr>Other Procedures</vt:lpstr>
      <vt:lpstr>SAS Help Website</vt:lpstr>
      <vt:lpstr>Other Issues I Have Had</vt:lpstr>
      <vt:lpstr>Resources</vt:lpstr>
      <vt:lpstr>Congratulations and Have a Great Summer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Frankki, Susan M</dc:creator>
  <cp:lastModifiedBy>Frankki, Susan M</cp:lastModifiedBy>
  <cp:revision>33</cp:revision>
  <dcterms:created xsi:type="dcterms:W3CDTF">2020-05-04T16:09:44Z</dcterms:created>
  <dcterms:modified xsi:type="dcterms:W3CDTF">2020-05-08T04:57:07Z</dcterms:modified>
</cp:coreProperties>
</file>