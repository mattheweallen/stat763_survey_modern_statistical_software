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4" r:id="rId19"/>
    <p:sldId id="274" r:id="rId20"/>
    <p:sldId id="275" r:id="rId21"/>
    <p:sldId id="276" r:id="rId22"/>
    <p:sldId id="295" r:id="rId23"/>
    <p:sldId id="299" r:id="rId24"/>
    <p:sldId id="278" r:id="rId25"/>
    <p:sldId id="279" r:id="rId26"/>
    <p:sldId id="281" r:id="rId27"/>
    <p:sldId id="284" r:id="rId28"/>
    <p:sldId id="285" r:id="rId29"/>
    <p:sldId id="287" r:id="rId30"/>
    <p:sldId id="288" r:id="rId31"/>
    <p:sldId id="289" r:id="rId32"/>
    <p:sldId id="290" r:id="rId33"/>
    <p:sldId id="296" r:id="rId34"/>
    <p:sldId id="292" r:id="rId35"/>
    <p:sldId id="293" r:id="rId36"/>
    <p:sldId id="297" r:id="rId37"/>
    <p:sldId id="29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4FDE76-851C-F102-4D0E-2E7DB3C2E8A3}" v="711" dt="2020-04-28T23:18:33.755"/>
    <p1510:client id="{2F6D9795-6A9A-5A7E-CC0E-9C1459812A6D}" v="751" dt="2020-04-13T00:48:49.077"/>
    <p1510:client id="{38DC6BCE-37AA-3F48-BAE3-BB381C1016C6}" v="53" dt="2020-05-04T18:20:46.106"/>
    <p1510:client id="{B343DADD-CF45-5BD0-2268-EBA2C5215979}" v="3" dt="2020-05-04T23:24:12.072"/>
    <p1510:client id="{C6317C9E-A85E-C30D-D9A4-A1753E58A2BA}" v="92" dt="2020-05-03T16:08:32.466"/>
    <p1510:client id="{D23EE361-2FF7-08B5-536F-4D6CFB3FEF11}" v="861" dt="2020-04-30T20:40:06.563"/>
    <p1510:client id="{F130172F-4361-172C-6553-3DCFAE01ADD3}" v="198" dt="2020-04-10T22:19:35.699"/>
    <p1510:client id="{FE7C2E63-B01A-00E9-ED64-AD7248A4BCED}" v="222" dt="2020-04-27T20:43:06.5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ata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3AA3E0-7ACA-4AAD-9B13-801E1366D51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245EF33-FD44-4D21-AE23-F128352366C4}">
      <dgm:prSet/>
      <dgm:spPr/>
      <dgm:t>
        <a:bodyPr/>
        <a:lstStyle/>
        <a:p>
          <a:r>
            <a:rPr lang="en-US"/>
            <a:t>Different sentiment scales </a:t>
          </a:r>
        </a:p>
      </dgm:t>
    </dgm:pt>
    <dgm:pt modelId="{95958624-8EC4-4C88-AD0B-A5956579E35F}" type="parTrans" cxnId="{E08EC53D-C413-4C59-8626-B3F35FDA7088}">
      <dgm:prSet/>
      <dgm:spPr/>
      <dgm:t>
        <a:bodyPr/>
        <a:lstStyle/>
        <a:p>
          <a:endParaRPr lang="en-US"/>
        </a:p>
      </dgm:t>
    </dgm:pt>
    <dgm:pt modelId="{BE5CEE6B-2DA0-4649-84FF-2580D5CD3127}" type="sibTrans" cxnId="{E08EC53D-C413-4C59-8626-B3F35FDA7088}">
      <dgm:prSet/>
      <dgm:spPr/>
      <dgm:t>
        <a:bodyPr/>
        <a:lstStyle/>
        <a:p>
          <a:endParaRPr lang="en-US"/>
        </a:p>
      </dgm:t>
    </dgm:pt>
    <dgm:pt modelId="{86931C91-D1C3-453E-A951-7E4B2B0E3334}">
      <dgm:prSet/>
      <dgm:spPr/>
      <dgm:t>
        <a:bodyPr/>
        <a:lstStyle/>
        <a:p>
          <a:r>
            <a:rPr lang="en-US"/>
            <a:t>How to find and plot sentiments with different books</a:t>
          </a:r>
        </a:p>
      </dgm:t>
    </dgm:pt>
    <dgm:pt modelId="{BAB12B58-A856-45B1-BAAD-99099A2B3607}" type="parTrans" cxnId="{4CC5F47D-F296-409C-AABB-F99B071AD6C7}">
      <dgm:prSet/>
      <dgm:spPr/>
      <dgm:t>
        <a:bodyPr/>
        <a:lstStyle/>
        <a:p>
          <a:endParaRPr lang="en-US"/>
        </a:p>
      </dgm:t>
    </dgm:pt>
    <dgm:pt modelId="{9C248B86-60B7-41E6-9611-0A6A8BC540CB}" type="sibTrans" cxnId="{4CC5F47D-F296-409C-AABB-F99B071AD6C7}">
      <dgm:prSet/>
      <dgm:spPr/>
      <dgm:t>
        <a:bodyPr/>
        <a:lstStyle/>
        <a:p>
          <a:endParaRPr lang="en-US"/>
        </a:p>
      </dgm:t>
    </dgm:pt>
    <dgm:pt modelId="{8CCE016D-0473-4BA1-9520-73A27A789656}">
      <dgm:prSet/>
      <dgm:spPr/>
      <dgm:t>
        <a:bodyPr/>
        <a:lstStyle/>
        <a:p>
          <a:r>
            <a:rPr lang="en-US"/>
            <a:t>Comparing the sentiment dictionaries</a:t>
          </a:r>
        </a:p>
      </dgm:t>
    </dgm:pt>
    <dgm:pt modelId="{DCCCA4FE-E84A-4885-98C2-BE1BC7915A5D}" type="parTrans" cxnId="{5F89F469-48F1-4D0B-A3E1-3C8462D9564D}">
      <dgm:prSet/>
      <dgm:spPr/>
      <dgm:t>
        <a:bodyPr/>
        <a:lstStyle/>
        <a:p>
          <a:endParaRPr lang="en-US"/>
        </a:p>
      </dgm:t>
    </dgm:pt>
    <dgm:pt modelId="{93BE71D1-219D-494E-BC8A-635D91567729}" type="sibTrans" cxnId="{5F89F469-48F1-4D0B-A3E1-3C8462D9564D}">
      <dgm:prSet/>
      <dgm:spPr/>
      <dgm:t>
        <a:bodyPr/>
        <a:lstStyle/>
        <a:p>
          <a:endParaRPr lang="en-US"/>
        </a:p>
      </dgm:t>
    </dgm:pt>
    <dgm:pt modelId="{DC6EDA72-1A2E-40FD-9D38-CB213F6CCD96}">
      <dgm:prSet/>
      <dgm:spPr/>
      <dgm:t>
        <a:bodyPr/>
        <a:lstStyle/>
        <a:p>
          <a:r>
            <a:rPr lang="en-US"/>
            <a:t>Word Clouds</a:t>
          </a:r>
        </a:p>
      </dgm:t>
    </dgm:pt>
    <dgm:pt modelId="{7F594E5E-2AC2-45AD-A100-F9CCCF69B811}" type="parTrans" cxnId="{97E203D5-3A85-4B9F-983C-DD79C8B91BD5}">
      <dgm:prSet/>
      <dgm:spPr/>
      <dgm:t>
        <a:bodyPr/>
        <a:lstStyle/>
        <a:p>
          <a:endParaRPr lang="en-US"/>
        </a:p>
      </dgm:t>
    </dgm:pt>
    <dgm:pt modelId="{D24B757D-E081-400E-8810-7DEBCEC7F2A1}" type="sibTrans" cxnId="{97E203D5-3A85-4B9F-983C-DD79C8B91BD5}">
      <dgm:prSet/>
      <dgm:spPr/>
      <dgm:t>
        <a:bodyPr/>
        <a:lstStyle/>
        <a:p>
          <a:endParaRPr lang="en-US"/>
        </a:p>
      </dgm:t>
    </dgm:pt>
    <dgm:pt modelId="{F08A7D5B-EF9F-49AA-A5BE-9C69B4B8AEE2}">
      <dgm:prSet/>
      <dgm:spPr/>
      <dgm:t>
        <a:bodyPr/>
        <a:lstStyle/>
        <a:p>
          <a:r>
            <a:rPr lang="en-US"/>
            <a:t>Chapter comparsions not just words</a:t>
          </a:r>
        </a:p>
      </dgm:t>
    </dgm:pt>
    <dgm:pt modelId="{D224CEE9-6CCD-4213-AF3D-08A57ECBECFE}" type="parTrans" cxnId="{A825B05D-7F0A-4511-A222-2416D27DDA60}">
      <dgm:prSet/>
      <dgm:spPr/>
      <dgm:t>
        <a:bodyPr/>
        <a:lstStyle/>
        <a:p>
          <a:endParaRPr lang="en-US"/>
        </a:p>
      </dgm:t>
    </dgm:pt>
    <dgm:pt modelId="{A9B9B56E-F199-44CE-80C3-6AF57934B59D}" type="sibTrans" cxnId="{A825B05D-7F0A-4511-A222-2416D27DDA60}">
      <dgm:prSet/>
      <dgm:spPr/>
      <dgm:t>
        <a:bodyPr/>
        <a:lstStyle/>
        <a:p>
          <a:endParaRPr lang="en-US"/>
        </a:p>
      </dgm:t>
    </dgm:pt>
    <dgm:pt modelId="{2C73D036-7940-4313-AE59-771AC637D018}">
      <dgm:prSet/>
      <dgm:spPr/>
      <dgm:t>
        <a:bodyPr/>
        <a:lstStyle/>
        <a:p>
          <a:r>
            <a:rPr lang="en-US"/>
            <a:t>Drawbacks</a:t>
          </a:r>
        </a:p>
      </dgm:t>
    </dgm:pt>
    <dgm:pt modelId="{4FB995FB-D826-4667-817F-FA07109B8CF9}" type="parTrans" cxnId="{945466FC-EB0E-4415-A37B-CBA641796CB7}">
      <dgm:prSet/>
      <dgm:spPr/>
      <dgm:t>
        <a:bodyPr/>
        <a:lstStyle/>
        <a:p>
          <a:endParaRPr lang="en-US"/>
        </a:p>
      </dgm:t>
    </dgm:pt>
    <dgm:pt modelId="{7F9B911C-F559-4911-8618-0B96240EF12D}" type="sibTrans" cxnId="{945466FC-EB0E-4415-A37B-CBA641796CB7}">
      <dgm:prSet/>
      <dgm:spPr/>
      <dgm:t>
        <a:bodyPr/>
        <a:lstStyle/>
        <a:p>
          <a:endParaRPr lang="en-US"/>
        </a:p>
      </dgm:t>
    </dgm:pt>
    <dgm:pt modelId="{C720A358-7AF7-43AF-A8C5-B7C7F4CFD196}" type="pres">
      <dgm:prSet presAssocID="{DE3AA3E0-7ACA-4AAD-9B13-801E1366D512}" presName="root" presStyleCnt="0">
        <dgm:presLayoutVars>
          <dgm:dir/>
          <dgm:resizeHandles val="exact"/>
        </dgm:presLayoutVars>
      </dgm:prSet>
      <dgm:spPr/>
    </dgm:pt>
    <dgm:pt modelId="{06211F95-C821-41D2-B6EC-4D73D5123FD1}" type="pres">
      <dgm:prSet presAssocID="{8245EF33-FD44-4D21-AE23-F128352366C4}" presName="compNode" presStyleCnt="0"/>
      <dgm:spPr/>
    </dgm:pt>
    <dgm:pt modelId="{F7412FD8-3E41-4B62-AE9F-E34B4928F707}" type="pres">
      <dgm:prSet presAssocID="{8245EF33-FD44-4D21-AE23-F128352366C4}" presName="bgRect" presStyleLbl="bgShp" presStyleIdx="0" presStyleCnt="6"/>
      <dgm:spPr/>
    </dgm:pt>
    <dgm:pt modelId="{B5693D0E-3940-4811-987F-3148F222C1BE}" type="pres">
      <dgm:prSet presAssocID="{8245EF33-FD44-4D21-AE23-F128352366C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ment Urgent"/>
        </a:ext>
      </dgm:extLst>
    </dgm:pt>
    <dgm:pt modelId="{30DBC58E-D2B3-4553-96C8-4C7BF1A9AF44}" type="pres">
      <dgm:prSet presAssocID="{8245EF33-FD44-4D21-AE23-F128352366C4}" presName="spaceRect" presStyleCnt="0"/>
      <dgm:spPr/>
    </dgm:pt>
    <dgm:pt modelId="{E820D5F2-6ABF-479B-BBE7-08B4196D61C6}" type="pres">
      <dgm:prSet presAssocID="{8245EF33-FD44-4D21-AE23-F128352366C4}" presName="parTx" presStyleLbl="revTx" presStyleIdx="0" presStyleCnt="6">
        <dgm:presLayoutVars>
          <dgm:chMax val="0"/>
          <dgm:chPref val="0"/>
        </dgm:presLayoutVars>
      </dgm:prSet>
      <dgm:spPr/>
    </dgm:pt>
    <dgm:pt modelId="{E1499B1C-2DE6-4A01-8A3B-3E9C374A214D}" type="pres">
      <dgm:prSet presAssocID="{BE5CEE6B-2DA0-4649-84FF-2580D5CD3127}" presName="sibTrans" presStyleCnt="0"/>
      <dgm:spPr/>
    </dgm:pt>
    <dgm:pt modelId="{8B0C6763-C724-4F95-BA94-39637769DCE1}" type="pres">
      <dgm:prSet presAssocID="{86931C91-D1C3-453E-A951-7E4B2B0E3334}" presName="compNode" presStyleCnt="0"/>
      <dgm:spPr/>
    </dgm:pt>
    <dgm:pt modelId="{7B123A89-AD88-49E6-A410-A50C53DC15BB}" type="pres">
      <dgm:prSet presAssocID="{86931C91-D1C3-453E-A951-7E4B2B0E3334}" presName="bgRect" presStyleLbl="bgShp" presStyleIdx="1" presStyleCnt="6"/>
      <dgm:spPr/>
    </dgm:pt>
    <dgm:pt modelId="{9F1A1392-9280-4E0E-9199-E16F0231BFCD}" type="pres">
      <dgm:prSet presAssocID="{86931C91-D1C3-453E-A951-7E4B2B0E333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ryboard"/>
        </a:ext>
      </dgm:extLst>
    </dgm:pt>
    <dgm:pt modelId="{03904A2C-9DA8-405D-A7CD-5A9250402F76}" type="pres">
      <dgm:prSet presAssocID="{86931C91-D1C3-453E-A951-7E4B2B0E3334}" presName="spaceRect" presStyleCnt="0"/>
      <dgm:spPr/>
    </dgm:pt>
    <dgm:pt modelId="{B4A52E39-3551-4322-88FC-E4BEDC1E196F}" type="pres">
      <dgm:prSet presAssocID="{86931C91-D1C3-453E-A951-7E4B2B0E3334}" presName="parTx" presStyleLbl="revTx" presStyleIdx="1" presStyleCnt="6">
        <dgm:presLayoutVars>
          <dgm:chMax val="0"/>
          <dgm:chPref val="0"/>
        </dgm:presLayoutVars>
      </dgm:prSet>
      <dgm:spPr/>
    </dgm:pt>
    <dgm:pt modelId="{34003663-C2B6-41A4-9780-8A13B9A3FCEF}" type="pres">
      <dgm:prSet presAssocID="{9C248B86-60B7-41E6-9611-0A6A8BC540CB}" presName="sibTrans" presStyleCnt="0"/>
      <dgm:spPr/>
    </dgm:pt>
    <dgm:pt modelId="{5B9065A8-F4D9-4F42-A1E3-96702D320A47}" type="pres">
      <dgm:prSet presAssocID="{8CCE016D-0473-4BA1-9520-73A27A789656}" presName="compNode" presStyleCnt="0"/>
      <dgm:spPr/>
    </dgm:pt>
    <dgm:pt modelId="{9F329448-C376-4D45-B3AB-84FC905140B1}" type="pres">
      <dgm:prSet presAssocID="{8CCE016D-0473-4BA1-9520-73A27A789656}" presName="bgRect" presStyleLbl="bgShp" presStyleIdx="2" presStyleCnt="6"/>
      <dgm:spPr/>
    </dgm:pt>
    <dgm:pt modelId="{93AB125F-46D6-4743-96E3-98B4CAEB91D8}" type="pres">
      <dgm:prSet presAssocID="{8CCE016D-0473-4BA1-9520-73A27A78965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ctionary"/>
        </a:ext>
      </dgm:extLst>
    </dgm:pt>
    <dgm:pt modelId="{EAD40005-4618-4C49-886A-A5D19E4DA017}" type="pres">
      <dgm:prSet presAssocID="{8CCE016D-0473-4BA1-9520-73A27A789656}" presName="spaceRect" presStyleCnt="0"/>
      <dgm:spPr/>
    </dgm:pt>
    <dgm:pt modelId="{0563833C-BE69-49F1-8111-72D30F977B1C}" type="pres">
      <dgm:prSet presAssocID="{8CCE016D-0473-4BA1-9520-73A27A789656}" presName="parTx" presStyleLbl="revTx" presStyleIdx="2" presStyleCnt="6">
        <dgm:presLayoutVars>
          <dgm:chMax val="0"/>
          <dgm:chPref val="0"/>
        </dgm:presLayoutVars>
      </dgm:prSet>
      <dgm:spPr/>
    </dgm:pt>
    <dgm:pt modelId="{E8020CBA-7725-43B4-85C7-85053EF92F37}" type="pres">
      <dgm:prSet presAssocID="{93BE71D1-219D-494E-BC8A-635D91567729}" presName="sibTrans" presStyleCnt="0"/>
      <dgm:spPr/>
    </dgm:pt>
    <dgm:pt modelId="{E0A81E7E-FF7B-412D-8F73-31FB736B78E8}" type="pres">
      <dgm:prSet presAssocID="{DC6EDA72-1A2E-40FD-9D38-CB213F6CCD96}" presName="compNode" presStyleCnt="0"/>
      <dgm:spPr/>
    </dgm:pt>
    <dgm:pt modelId="{270E3323-1C64-4DBB-9B7B-E242D6155B76}" type="pres">
      <dgm:prSet presAssocID="{DC6EDA72-1A2E-40FD-9D38-CB213F6CCD96}" presName="bgRect" presStyleLbl="bgShp" presStyleIdx="3" presStyleCnt="6"/>
      <dgm:spPr/>
    </dgm:pt>
    <dgm:pt modelId="{49B539CC-8D95-4065-8FAE-36388706CD4C}" type="pres">
      <dgm:prSet presAssocID="{DC6EDA72-1A2E-40FD-9D38-CB213F6CCD9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ud"/>
        </a:ext>
      </dgm:extLst>
    </dgm:pt>
    <dgm:pt modelId="{360188CC-9DDF-4C71-ADA6-1B35DD865013}" type="pres">
      <dgm:prSet presAssocID="{DC6EDA72-1A2E-40FD-9D38-CB213F6CCD96}" presName="spaceRect" presStyleCnt="0"/>
      <dgm:spPr/>
    </dgm:pt>
    <dgm:pt modelId="{F91AC0A0-07B3-475E-8315-FF9A2EF91467}" type="pres">
      <dgm:prSet presAssocID="{DC6EDA72-1A2E-40FD-9D38-CB213F6CCD96}" presName="parTx" presStyleLbl="revTx" presStyleIdx="3" presStyleCnt="6">
        <dgm:presLayoutVars>
          <dgm:chMax val="0"/>
          <dgm:chPref val="0"/>
        </dgm:presLayoutVars>
      </dgm:prSet>
      <dgm:spPr/>
    </dgm:pt>
    <dgm:pt modelId="{81CD9E67-0D58-47D2-8BB2-74CCA9434903}" type="pres">
      <dgm:prSet presAssocID="{D24B757D-E081-400E-8810-7DEBCEC7F2A1}" presName="sibTrans" presStyleCnt="0"/>
      <dgm:spPr/>
    </dgm:pt>
    <dgm:pt modelId="{81C13E18-4FF8-4E70-9EA9-988B6A69AA02}" type="pres">
      <dgm:prSet presAssocID="{F08A7D5B-EF9F-49AA-A5BE-9C69B4B8AEE2}" presName="compNode" presStyleCnt="0"/>
      <dgm:spPr/>
    </dgm:pt>
    <dgm:pt modelId="{8C1CC747-2533-4DD4-80E6-148860ED3DBF}" type="pres">
      <dgm:prSet presAssocID="{F08A7D5B-EF9F-49AA-A5BE-9C69B4B8AEE2}" presName="bgRect" presStyleLbl="bgShp" presStyleIdx="4" presStyleCnt="6"/>
      <dgm:spPr/>
    </dgm:pt>
    <dgm:pt modelId="{F6CB98C8-FF72-4703-8079-8504DB184E6F}" type="pres">
      <dgm:prSet presAssocID="{F08A7D5B-EF9F-49AA-A5BE-9C69B4B8AEE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anslate"/>
        </a:ext>
      </dgm:extLst>
    </dgm:pt>
    <dgm:pt modelId="{EB083253-5327-44A8-A85E-0C440C76F0A9}" type="pres">
      <dgm:prSet presAssocID="{F08A7D5B-EF9F-49AA-A5BE-9C69B4B8AEE2}" presName="spaceRect" presStyleCnt="0"/>
      <dgm:spPr/>
    </dgm:pt>
    <dgm:pt modelId="{C5F1B357-0407-47A8-B42C-00060C28A58F}" type="pres">
      <dgm:prSet presAssocID="{F08A7D5B-EF9F-49AA-A5BE-9C69B4B8AEE2}" presName="parTx" presStyleLbl="revTx" presStyleIdx="4" presStyleCnt="6">
        <dgm:presLayoutVars>
          <dgm:chMax val="0"/>
          <dgm:chPref val="0"/>
        </dgm:presLayoutVars>
      </dgm:prSet>
      <dgm:spPr/>
    </dgm:pt>
    <dgm:pt modelId="{976F77E8-C749-4134-82BC-6649CB2AD016}" type="pres">
      <dgm:prSet presAssocID="{A9B9B56E-F199-44CE-80C3-6AF57934B59D}" presName="sibTrans" presStyleCnt="0"/>
      <dgm:spPr/>
    </dgm:pt>
    <dgm:pt modelId="{667ECE0E-3D86-4B01-9687-D3CF1F30CBE1}" type="pres">
      <dgm:prSet presAssocID="{2C73D036-7940-4313-AE59-771AC637D018}" presName="compNode" presStyleCnt="0"/>
      <dgm:spPr/>
    </dgm:pt>
    <dgm:pt modelId="{E5515DFF-3D52-4933-AA8A-F9C39338EA54}" type="pres">
      <dgm:prSet presAssocID="{2C73D036-7940-4313-AE59-771AC637D018}" presName="bgRect" presStyleLbl="bgShp" presStyleIdx="5" presStyleCnt="6"/>
      <dgm:spPr/>
    </dgm:pt>
    <dgm:pt modelId="{2316BF48-E991-47C4-8582-9F1BCD5AFBA2}" type="pres">
      <dgm:prSet presAssocID="{2C73D036-7940-4313-AE59-771AC637D01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log"/>
        </a:ext>
      </dgm:extLst>
    </dgm:pt>
    <dgm:pt modelId="{EA345B9E-2A56-4D5E-9F6A-F8948D7F1639}" type="pres">
      <dgm:prSet presAssocID="{2C73D036-7940-4313-AE59-771AC637D018}" presName="spaceRect" presStyleCnt="0"/>
      <dgm:spPr/>
    </dgm:pt>
    <dgm:pt modelId="{7A3FFAEA-879C-4985-B4D4-E617EFD0DB10}" type="pres">
      <dgm:prSet presAssocID="{2C73D036-7940-4313-AE59-771AC637D018}" presName="parTx" presStyleLbl="revTx" presStyleIdx="5" presStyleCnt="6">
        <dgm:presLayoutVars>
          <dgm:chMax val="0"/>
          <dgm:chPref val="0"/>
        </dgm:presLayoutVars>
      </dgm:prSet>
      <dgm:spPr/>
    </dgm:pt>
  </dgm:ptLst>
  <dgm:cxnLst>
    <dgm:cxn modelId="{E08EC53D-C413-4C59-8626-B3F35FDA7088}" srcId="{DE3AA3E0-7ACA-4AAD-9B13-801E1366D512}" destId="{8245EF33-FD44-4D21-AE23-F128352366C4}" srcOrd="0" destOrd="0" parTransId="{95958624-8EC4-4C88-AD0B-A5956579E35F}" sibTransId="{BE5CEE6B-2DA0-4649-84FF-2580D5CD3127}"/>
    <dgm:cxn modelId="{A825B05D-7F0A-4511-A222-2416D27DDA60}" srcId="{DE3AA3E0-7ACA-4AAD-9B13-801E1366D512}" destId="{F08A7D5B-EF9F-49AA-A5BE-9C69B4B8AEE2}" srcOrd="4" destOrd="0" parTransId="{D224CEE9-6CCD-4213-AF3D-08A57ECBECFE}" sibTransId="{A9B9B56E-F199-44CE-80C3-6AF57934B59D}"/>
    <dgm:cxn modelId="{4A703B63-F434-4529-A0AA-443F6DD19955}" type="presOf" srcId="{DE3AA3E0-7ACA-4AAD-9B13-801E1366D512}" destId="{C720A358-7AF7-43AF-A8C5-B7C7F4CFD196}" srcOrd="0" destOrd="0" presId="urn:microsoft.com/office/officeart/2018/2/layout/IconVerticalSolidList"/>
    <dgm:cxn modelId="{5F89F469-48F1-4D0B-A3E1-3C8462D9564D}" srcId="{DE3AA3E0-7ACA-4AAD-9B13-801E1366D512}" destId="{8CCE016D-0473-4BA1-9520-73A27A789656}" srcOrd="2" destOrd="0" parTransId="{DCCCA4FE-E84A-4885-98C2-BE1BC7915A5D}" sibTransId="{93BE71D1-219D-494E-BC8A-635D91567729}"/>
    <dgm:cxn modelId="{B6CCB94E-4417-402C-A9DA-9A265021A799}" type="presOf" srcId="{8CCE016D-0473-4BA1-9520-73A27A789656}" destId="{0563833C-BE69-49F1-8111-72D30F977B1C}" srcOrd="0" destOrd="0" presId="urn:microsoft.com/office/officeart/2018/2/layout/IconVerticalSolidList"/>
    <dgm:cxn modelId="{511B7056-2C0B-46C0-A4BD-2072D4C5EDE1}" type="presOf" srcId="{2C73D036-7940-4313-AE59-771AC637D018}" destId="{7A3FFAEA-879C-4985-B4D4-E617EFD0DB10}" srcOrd="0" destOrd="0" presId="urn:microsoft.com/office/officeart/2018/2/layout/IconVerticalSolidList"/>
    <dgm:cxn modelId="{4CC5F47D-F296-409C-AABB-F99B071AD6C7}" srcId="{DE3AA3E0-7ACA-4AAD-9B13-801E1366D512}" destId="{86931C91-D1C3-453E-A951-7E4B2B0E3334}" srcOrd="1" destOrd="0" parTransId="{BAB12B58-A856-45B1-BAAD-99099A2B3607}" sibTransId="{9C248B86-60B7-41E6-9611-0A6A8BC540CB}"/>
    <dgm:cxn modelId="{4B1089BF-0E4F-466C-B7AC-DF7826D5846A}" type="presOf" srcId="{DC6EDA72-1A2E-40FD-9D38-CB213F6CCD96}" destId="{F91AC0A0-07B3-475E-8315-FF9A2EF91467}" srcOrd="0" destOrd="0" presId="urn:microsoft.com/office/officeart/2018/2/layout/IconVerticalSolidList"/>
    <dgm:cxn modelId="{97E203D5-3A85-4B9F-983C-DD79C8B91BD5}" srcId="{DE3AA3E0-7ACA-4AAD-9B13-801E1366D512}" destId="{DC6EDA72-1A2E-40FD-9D38-CB213F6CCD96}" srcOrd="3" destOrd="0" parTransId="{7F594E5E-2AC2-45AD-A100-F9CCCF69B811}" sibTransId="{D24B757D-E081-400E-8810-7DEBCEC7F2A1}"/>
    <dgm:cxn modelId="{28916CE9-5C16-48A6-8ABF-14AA79744471}" type="presOf" srcId="{86931C91-D1C3-453E-A951-7E4B2B0E3334}" destId="{B4A52E39-3551-4322-88FC-E4BEDC1E196F}" srcOrd="0" destOrd="0" presId="urn:microsoft.com/office/officeart/2018/2/layout/IconVerticalSolidList"/>
    <dgm:cxn modelId="{2FF165F2-BB64-477C-8D3F-7101681DD3F0}" type="presOf" srcId="{F08A7D5B-EF9F-49AA-A5BE-9C69B4B8AEE2}" destId="{C5F1B357-0407-47A8-B42C-00060C28A58F}" srcOrd="0" destOrd="0" presId="urn:microsoft.com/office/officeart/2018/2/layout/IconVerticalSolidList"/>
    <dgm:cxn modelId="{97BDC8F2-7B5A-44E0-B165-77F100270375}" type="presOf" srcId="{8245EF33-FD44-4D21-AE23-F128352366C4}" destId="{E820D5F2-6ABF-479B-BBE7-08B4196D61C6}" srcOrd="0" destOrd="0" presId="urn:microsoft.com/office/officeart/2018/2/layout/IconVerticalSolidList"/>
    <dgm:cxn modelId="{945466FC-EB0E-4415-A37B-CBA641796CB7}" srcId="{DE3AA3E0-7ACA-4AAD-9B13-801E1366D512}" destId="{2C73D036-7940-4313-AE59-771AC637D018}" srcOrd="5" destOrd="0" parTransId="{4FB995FB-D826-4667-817F-FA07109B8CF9}" sibTransId="{7F9B911C-F559-4911-8618-0B96240EF12D}"/>
    <dgm:cxn modelId="{0DEE297F-8763-4225-AFDD-D5DAC91C4D19}" type="presParOf" srcId="{C720A358-7AF7-43AF-A8C5-B7C7F4CFD196}" destId="{06211F95-C821-41D2-B6EC-4D73D5123FD1}" srcOrd="0" destOrd="0" presId="urn:microsoft.com/office/officeart/2018/2/layout/IconVerticalSolidList"/>
    <dgm:cxn modelId="{9E68A936-2B37-4D1E-9D5B-5537C07FED6D}" type="presParOf" srcId="{06211F95-C821-41D2-B6EC-4D73D5123FD1}" destId="{F7412FD8-3E41-4B62-AE9F-E34B4928F707}" srcOrd="0" destOrd="0" presId="urn:microsoft.com/office/officeart/2018/2/layout/IconVerticalSolidList"/>
    <dgm:cxn modelId="{3AB7B722-0A21-462E-99C9-FAA857ADE622}" type="presParOf" srcId="{06211F95-C821-41D2-B6EC-4D73D5123FD1}" destId="{B5693D0E-3940-4811-987F-3148F222C1BE}" srcOrd="1" destOrd="0" presId="urn:microsoft.com/office/officeart/2018/2/layout/IconVerticalSolidList"/>
    <dgm:cxn modelId="{9E9EF115-D46F-4E77-9438-9FF9F77C8B96}" type="presParOf" srcId="{06211F95-C821-41D2-B6EC-4D73D5123FD1}" destId="{30DBC58E-D2B3-4553-96C8-4C7BF1A9AF44}" srcOrd="2" destOrd="0" presId="urn:microsoft.com/office/officeart/2018/2/layout/IconVerticalSolidList"/>
    <dgm:cxn modelId="{5D6A9098-6A9A-4D07-AFF2-DADC2ECEBD47}" type="presParOf" srcId="{06211F95-C821-41D2-B6EC-4D73D5123FD1}" destId="{E820D5F2-6ABF-479B-BBE7-08B4196D61C6}" srcOrd="3" destOrd="0" presId="urn:microsoft.com/office/officeart/2018/2/layout/IconVerticalSolidList"/>
    <dgm:cxn modelId="{080AE353-A2CB-4618-838D-EC9F62F449CB}" type="presParOf" srcId="{C720A358-7AF7-43AF-A8C5-B7C7F4CFD196}" destId="{E1499B1C-2DE6-4A01-8A3B-3E9C374A214D}" srcOrd="1" destOrd="0" presId="urn:microsoft.com/office/officeart/2018/2/layout/IconVerticalSolidList"/>
    <dgm:cxn modelId="{7C1E0483-8B2C-40D8-9C96-EED38E33CA26}" type="presParOf" srcId="{C720A358-7AF7-43AF-A8C5-B7C7F4CFD196}" destId="{8B0C6763-C724-4F95-BA94-39637769DCE1}" srcOrd="2" destOrd="0" presId="urn:microsoft.com/office/officeart/2018/2/layout/IconVerticalSolidList"/>
    <dgm:cxn modelId="{D61E9563-C46A-4087-A440-ABB2B09E4539}" type="presParOf" srcId="{8B0C6763-C724-4F95-BA94-39637769DCE1}" destId="{7B123A89-AD88-49E6-A410-A50C53DC15BB}" srcOrd="0" destOrd="0" presId="urn:microsoft.com/office/officeart/2018/2/layout/IconVerticalSolidList"/>
    <dgm:cxn modelId="{04C5F2D7-19BB-48C3-AF45-07E9F1EA0696}" type="presParOf" srcId="{8B0C6763-C724-4F95-BA94-39637769DCE1}" destId="{9F1A1392-9280-4E0E-9199-E16F0231BFCD}" srcOrd="1" destOrd="0" presId="urn:microsoft.com/office/officeart/2018/2/layout/IconVerticalSolidList"/>
    <dgm:cxn modelId="{6697CFF0-70F2-4D86-A4CA-7FB6CA5C7939}" type="presParOf" srcId="{8B0C6763-C724-4F95-BA94-39637769DCE1}" destId="{03904A2C-9DA8-405D-A7CD-5A9250402F76}" srcOrd="2" destOrd="0" presId="urn:microsoft.com/office/officeart/2018/2/layout/IconVerticalSolidList"/>
    <dgm:cxn modelId="{E54BA165-1A7D-4FDD-BBA4-B0AF98C7DCD3}" type="presParOf" srcId="{8B0C6763-C724-4F95-BA94-39637769DCE1}" destId="{B4A52E39-3551-4322-88FC-E4BEDC1E196F}" srcOrd="3" destOrd="0" presId="urn:microsoft.com/office/officeart/2018/2/layout/IconVerticalSolidList"/>
    <dgm:cxn modelId="{AE760BF7-AF5C-4243-B37E-42B306CA66A2}" type="presParOf" srcId="{C720A358-7AF7-43AF-A8C5-B7C7F4CFD196}" destId="{34003663-C2B6-41A4-9780-8A13B9A3FCEF}" srcOrd="3" destOrd="0" presId="urn:microsoft.com/office/officeart/2018/2/layout/IconVerticalSolidList"/>
    <dgm:cxn modelId="{217D6A13-AF90-40BF-8695-6ADD6ACD8229}" type="presParOf" srcId="{C720A358-7AF7-43AF-A8C5-B7C7F4CFD196}" destId="{5B9065A8-F4D9-4F42-A1E3-96702D320A47}" srcOrd="4" destOrd="0" presId="urn:microsoft.com/office/officeart/2018/2/layout/IconVerticalSolidList"/>
    <dgm:cxn modelId="{31394CB3-2F98-49AB-BBC1-4686F78057A2}" type="presParOf" srcId="{5B9065A8-F4D9-4F42-A1E3-96702D320A47}" destId="{9F329448-C376-4D45-B3AB-84FC905140B1}" srcOrd="0" destOrd="0" presId="urn:microsoft.com/office/officeart/2018/2/layout/IconVerticalSolidList"/>
    <dgm:cxn modelId="{4CF67A32-18DC-4C3A-8AFE-8FE2CB2AD5F5}" type="presParOf" srcId="{5B9065A8-F4D9-4F42-A1E3-96702D320A47}" destId="{93AB125F-46D6-4743-96E3-98B4CAEB91D8}" srcOrd="1" destOrd="0" presId="urn:microsoft.com/office/officeart/2018/2/layout/IconVerticalSolidList"/>
    <dgm:cxn modelId="{CB20A1EC-13A6-47D1-9711-E13FE220A46F}" type="presParOf" srcId="{5B9065A8-F4D9-4F42-A1E3-96702D320A47}" destId="{EAD40005-4618-4C49-886A-A5D19E4DA017}" srcOrd="2" destOrd="0" presId="urn:microsoft.com/office/officeart/2018/2/layout/IconVerticalSolidList"/>
    <dgm:cxn modelId="{1620A274-2327-45D9-8113-3A890546773C}" type="presParOf" srcId="{5B9065A8-F4D9-4F42-A1E3-96702D320A47}" destId="{0563833C-BE69-49F1-8111-72D30F977B1C}" srcOrd="3" destOrd="0" presId="urn:microsoft.com/office/officeart/2018/2/layout/IconVerticalSolidList"/>
    <dgm:cxn modelId="{48A034ED-2362-4DB4-97EA-2FFA5E49D7D6}" type="presParOf" srcId="{C720A358-7AF7-43AF-A8C5-B7C7F4CFD196}" destId="{E8020CBA-7725-43B4-85C7-85053EF92F37}" srcOrd="5" destOrd="0" presId="urn:microsoft.com/office/officeart/2018/2/layout/IconVerticalSolidList"/>
    <dgm:cxn modelId="{18552839-3E67-4D08-965C-E96188193EF7}" type="presParOf" srcId="{C720A358-7AF7-43AF-A8C5-B7C7F4CFD196}" destId="{E0A81E7E-FF7B-412D-8F73-31FB736B78E8}" srcOrd="6" destOrd="0" presId="urn:microsoft.com/office/officeart/2018/2/layout/IconVerticalSolidList"/>
    <dgm:cxn modelId="{C801B28D-8888-4D54-BF51-A64D725F4E85}" type="presParOf" srcId="{E0A81E7E-FF7B-412D-8F73-31FB736B78E8}" destId="{270E3323-1C64-4DBB-9B7B-E242D6155B76}" srcOrd="0" destOrd="0" presId="urn:microsoft.com/office/officeart/2018/2/layout/IconVerticalSolidList"/>
    <dgm:cxn modelId="{C8BC5B0C-1EF6-46E9-90EB-FD04AFFC2093}" type="presParOf" srcId="{E0A81E7E-FF7B-412D-8F73-31FB736B78E8}" destId="{49B539CC-8D95-4065-8FAE-36388706CD4C}" srcOrd="1" destOrd="0" presId="urn:microsoft.com/office/officeart/2018/2/layout/IconVerticalSolidList"/>
    <dgm:cxn modelId="{0D4C5458-FF4B-4BCD-9925-8B35FDFD9573}" type="presParOf" srcId="{E0A81E7E-FF7B-412D-8F73-31FB736B78E8}" destId="{360188CC-9DDF-4C71-ADA6-1B35DD865013}" srcOrd="2" destOrd="0" presId="urn:microsoft.com/office/officeart/2018/2/layout/IconVerticalSolidList"/>
    <dgm:cxn modelId="{33508B71-4AE1-47CE-90FE-48D65319570F}" type="presParOf" srcId="{E0A81E7E-FF7B-412D-8F73-31FB736B78E8}" destId="{F91AC0A0-07B3-475E-8315-FF9A2EF91467}" srcOrd="3" destOrd="0" presId="urn:microsoft.com/office/officeart/2018/2/layout/IconVerticalSolidList"/>
    <dgm:cxn modelId="{6CCE3870-5E06-4423-8127-841890638ED1}" type="presParOf" srcId="{C720A358-7AF7-43AF-A8C5-B7C7F4CFD196}" destId="{81CD9E67-0D58-47D2-8BB2-74CCA9434903}" srcOrd="7" destOrd="0" presId="urn:microsoft.com/office/officeart/2018/2/layout/IconVerticalSolidList"/>
    <dgm:cxn modelId="{8A721868-F60D-44C9-A770-7959E08E7282}" type="presParOf" srcId="{C720A358-7AF7-43AF-A8C5-B7C7F4CFD196}" destId="{81C13E18-4FF8-4E70-9EA9-988B6A69AA02}" srcOrd="8" destOrd="0" presId="urn:microsoft.com/office/officeart/2018/2/layout/IconVerticalSolidList"/>
    <dgm:cxn modelId="{0C6AB97B-2F2A-4A94-A5D1-E014281B776F}" type="presParOf" srcId="{81C13E18-4FF8-4E70-9EA9-988B6A69AA02}" destId="{8C1CC747-2533-4DD4-80E6-148860ED3DBF}" srcOrd="0" destOrd="0" presId="urn:microsoft.com/office/officeart/2018/2/layout/IconVerticalSolidList"/>
    <dgm:cxn modelId="{3A281D89-C801-4A8A-9F03-9F224E43FE2D}" type="presParOf" srcId="{81C13E18-4FF8-4E70-9EA9-988B6A69AA02}" destId="{F6CB98C8-FF72-4703-8079-8504DB184E6F}" srcOrd="1" destOrd="0" presId="urn:microsoft.com/office/officeart/2018/2/layout/IconVerticalSolidList"/>
    <dgm:cxn modelId="{3F21BA91-FEE8-47B1-A664-B022E090CFE5}" type="presParOf" srcId="{81C13E18-4FF8-4E70-9EA9-988B6A69AA02}" destId="{EB083253-5327-44A8-A85E-0C440C76F0A9}" srcOrd="2" destOrd="0" presId="urn:microsoft.com/office/officeart/2018/2/layout/IconVerticalSolidList"/>
    <dgm:cxn modelId="{F23A8DF2-17E9-479D-8F9A-9B987F10D1AC}" type="presParOf" srcId="{81C13E18-4FF8-4E70-9EA9-988B6A69AA02}" destId="{C5F1B357-0407-47A8-B42C-00060C28A58F}" srcOrd="3" destOrd="0" presId="urn:microsoft.com/office/officeart/2018/2/layout/IconVerticalSolidList"/>
    <dgm:cxn modelId="{715F6B2F-F9B0-4092-8339-62984AD66736}" type="presParOf" srcId="{C720A358-7AF7-43AF-A8C5-B7C7F4CFD196}" destId="{976F77E8-C749-4134-82BC-6649CB2AD016}" srcOrd="9" destOrd="0" presId="urn:microsoft.com/office/officeart/2018/2/layout/IconVerticalSolidList"/>
    <dgm:cxn modelId="{12928DA9-2D97-44D9-91EB-2B2AE67AB52A}" type="presParOf" srcId="{C720A358-7AF7-43AF-A8C5-B7C7F4CFD196}" destId="{667ECE0E-3D86-4B01-9687-D3CF1F30CBE1}" srcOrd="10" destOrd="0" presId="urn:microsoft.com/office/officeart/2018/2/layout/IconVerticalSolidList"/>
    <dgm:cxn modelId="{9E200449-855A-47D9-AE39-B9F3F0FE64EA}" type="presParOf" srcId="{667ECE0E-3D86-4B01-9687-D3CF1F30CBE1}" destId="{E5515DFF-3D52-4933-AA8A-F9C39338EA54}" srcOrd="0" destOrd="0" presId="urn:microsoft.com/office/officeart/2018/2/layout/IconVerticalSolidList"/>
    <dgm:cxn modelId="{C9B3A0A5-E058-4079-BE40-23D81D144881}" type="presParOf" srcId="{667ECE0E-3D86-4B01-9687-D3CF1F30CBE1}" destId="{2316BF48-E991-47C4-8582-9F1BCD5AFBA2}" srcOrd="1" destOrd="0" presId="urn:microsoft.com/office/officeart/2018/2/layout/IconVerticalSolidList"/>
    <dgm:cxn modelId="{8D58273D-9C49-4486-A14E-00417A064DE3}" type="presParOf" srcId="{667ECE0E-3D86-4B01-9687-D3CF1F30CBE1}" destId="{EA345B9E-2A56-4D5E-9F6A-F8948D7F1639}" srcOrd="2" destOrd="0" presId="urn:microsoft.com/office/officeart/2018/2/layout/IconVerticalSolidList"/>
    <dgm:cxn modelId="{F8BE2274-3C13-4ABA-A86F-8680A24391C0}" type="presParOf" srcId="{667ECE0E-3D86-4B01-9687-D3CF1F30CBE1}" destId="{7A3FFAEA-879C-4985-B4D4-E617EFD0DB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5976D0-5DD0-4B15-ACD8-587E817B9D0F}"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6DFAD39E-3151-435D-8786-FB0C5E6CA4D2}">
      <dgm:prSet/>
      <dgm:spPr/>
      <dgm:t>
        <a:bodyPr/>
        <a:lstStyle/>
        <a:p>
          <a:r>
            <a:rPr lang="en-US"/>
            <a:t>get_sentiments()</a:t>
          </a:r>
        </a:p>
      </dgm:t>
    </dgm:pt>
    <dgm:pt modelId="{060EAA5D-2A8D-48CE-9B94-E06F2BF1891C}" type="parTrans" cxnId="{AB8E1B48-A07D-4978-A07A-096FA949461E}">
      <dgm:prSet/>
      <dgm:spPr/>
      <dgm:t>
        <a:bodyPr/>
        <a:lstStyle/>
        <a:p>
          <a:endParaRPr lang="en-US"/>
        </a:p>
      </dgm:t>
    </dgm:pt>
    <dgm:pt modelId="{A56A8D0D-84E9-40D0-8BC8-006DEF63C326}" type="sibTrans" cxnId="{AB8E1B48-A07D-4978-A07A-096FA949461E}">
      <dgm:prSet/>
      <dgm:spPr/>
      <dgm:t>
        <a:bodyPr/>
        <a:lstStyle/>
        <a:p>
          <a:endParaRPr lang="en-US"/>
        </a:p>
      </dgm:t>
    </dgm:pt>
    <dgm:pt modelId="{70A566D3-FCC3-4446-9C31-984F5A670E7F}">
      <dgm:prSet/>
      <dgm:spPr/>
      <dgm:t>
        <a:bodyPr/>
        <a:lstStyle/>
        <a:p>
          <a:r>
            <a:rPr lang="en-US"/>
            <a:t>3 types to choose from</a:t>
          </a:r>
        </a:p>
      </dgm:t>
    </dgm:pt>
    <dgm:pt modelId="{9280994A-0EFA-44F8-9941-99AF7D09ED89}" type="parTrans" cxnId="{B20FD267-3512-460E-9249-16CA5B58C9CE}">
      <dgm:prSet/>
      <dgm:spPr/>
      <dgm:t>
        <a:bodyPr/>
        <a:lstStyle/>
        <a:p>
          <a:endParaRPr lang="en-US"/>
        </a:p>
      </dgm:t>
    </dgm:pt>
    <dgm:pt modelId="{854F04B1-E829-43A0-8F38-43963635A178}" type="sibTrans" cxnId="{B20FD267-3512-460E-9249-16CA5B58C9CE}">
      <dgm:prSet/>
      <dgm:spPr/>
      <dgm:t>
        <a:bodyPr/>
        <a:lstStyle/>
        <a:p>
          <a:endParaRPr lang="en-US"/>
        </a:p>
      </dgm:t>
    </dgm:pt>
    <dgm:pt modelId="{EC75EB0F-96AC-41BA-A450-FD974B38E6C5}">
      <dgm:prSet/>
      <dgm:spPr/>
      <dgm:t>
        <a:bodyPr/>
        <a:lstStyle/>
        <a:p>
          <a:r>
            <a:rPr lang="en-US"/>
            <a:t>afinn,bing,nrc</a:t>
          </a:r>
        </a:p>
      </dgm:t>
    </dgm:pt>
    <dgm:pt modelId="{3A05BC5D-30EB-4BD9-866A-6B282AFD7732}" type="parTrans" cxnId="{D90E47DE-7D37-4EAA-A497-67010548EE40}">
      <dgm:prSet/>
      <dgm:spPr/>
      <dgm:t>
        <a:bodyPr/>
        <a:lstStyle/>
        <a:p>
          <a:endParaRPr lang="en-US"/>
        </a:p>
      </dgm:t>
    </dgm:pt>
    <dgm:pt modelId="{3F7ABCF8-42BF-47A7-8A87-7C94BEEAEFA4}" type="sibTrans" cxnId="{D90E47DE-7D37-4EAA-A497-67010548EE40}">
      <dgm:prSet/>
      <dgm:spPr/>
      <dgm:t>
        <a:bodyPr/>
        <a:lstStyle/>
        <a:p>
          <a:endParaRPr lang="en-US"/>
        </a:p>
      </dgm:t>
    </dgm:pt>
    <dgm:pt modelId="{0CEEAD91-9D60-4ED4-B144-3FF8C37DE654}" type="pres">
      <dgm:prSet presAssocID="{B15976D0-5DD0-4B15-ACD8-587E817B9D0F}" presName="root" presStyleCnt="0">
        <dgm:presLayoutVars>
          <dgm:dir/>
          <dgm:resizeHandles val="exact"/>
        </dgm:presLayoutVars>
      </dgm:prSet>
      <dgm:spPr/>
    </dgm:pt>
    <dgm:pt modelId="{B0282C11-46AD-4B0E-BE88-9CA7A2479C2F}" type="pres">
      <dgm:prSet presAssocID="{6DFAD39E-3151-435D-8786-FB0C5E6CA4D2}" presName="compNode" presStyleCnt="0"/>
      <dgm:spPr/>
    </dgm:pt>
    <dgm:pt modelId="{731B88AA-3B74-4A7E-B504-31876A695EF4}" type="pres">
      <dgm:prSet presAssocID="{6DFAD39E-3151-435D-8786-FB0C5E6CA4D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41EE574F-4857-499F-99F7-57F5E1B216D3}" type="pres">
      <dgm:prSet presAssocID="{6DFAD39E-3151-435D-8786-FB0C5E6CA4D2}" presName="spaceRect" presStyleCnt="0"/>
      <dgm:spPr/>
    </dgm:pt>
    <dgm:pt modelId="{38630850-E690-4B5B-8508-AB5570E5565A}" type="pres">
      <dgm:prSet presAssocID="{6DFAD39E-3151-435D-8786-FB0C5E6CA4D2}" presName="textRect" presStyleLbl="revTx" presStyleIdx="0" presStyleCnt="3">
        <dgm:presLayoutVars>
          <dgm:chMax val="1"/>
          <dgm:chPref val="1"/>
        </dgm:presLayoutVars>
      </dgm:prSet>
      <dgm:spPr/>
    </dgm:pt>
    <dgm:pt modelId="{D17258D3-E21E-45A3-8EA5-85B01001226D}" type="pres">
      <dgm:prSet presAssocID="{A56A8D0D-84E9-40D0-8BC8-006DEF63C326}" presName="sibTrans" presStyleCnt="0"/>
      <dgm:spPr/>
    </dgm:pt>
    <dgm:pt modelId="{372C9D83-C3FB-425A-BB59-539B0770C27F}" type="pres">
      <dgm:prSet presAssocID="{70A566D3-FCC3-4446-9C31-984F5A670E7F}" presName="compNode" presStyleCnt="0"/>
      <dgm:spPr/>
    </dgm:pt>
    <dgm:pt modelId="{E5B42E13-C9EF-4686-BE8A-DEE95240BCC3}" type="pres">
      <dgm:prSet presAssocID="{70A566D3-FCC3-4446-9C31-984F5A670E7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7A36359F-C8A2-4F47-A609-103132EBC87C}" type="pres">
      <dgm:prSet presAssocID="{70A566D3-FCC3-4446-9C31-984F5A670E7F}" presName="spaceRect" presStyleCnt="0"/>
      <dgm:spPr/>
    </dgm:pt>
    <dgm:pt modelId="{39C201B9-81E7-4BBD-BD5E-999DD420B143}" type="pres">
      <dgm:prSet presAssocID="{70A566D3-FCC3-4446-9C31-984F5A670E7F}" presName="textRect" presStyleLbl="revTx" presStyleIdx="1" presStyleCnt="3">
        <dgm:presLayoutVars>
          <dgm:chMax val="1"/>
          <dgm:chPref val="1"/>
        </dgm:presLayoutVars>
      </dgm:prSet>
      <dgm:spPr/>
    </dgm:pt>
    <dgm:pt modelId="{DE2E694D-3FDA-44E1-B025-1FE1F6633F6C}" type="pres">
      <dgm:prSet presAssocID="{854F04B1-E829-43A0-8F38-43963635A178}" presName="sibTrans" presStyleCnt="0"/>
      <dgm:spPr/>
    </dgm:pt>
    <dgm:pt modelId="{572F9113-2C0E-4AEC-8CCD-1591B700E327}" type="pres">
      <dgm:prSet presAssocID="{EC75EB0F-96AC-41BA-A450-FD974B38E6C5}" presName="compNode" presStyleCnt="0"/>
      <dgm:spPr/>
    </dgm:pt>
    <dgm:pt modelId="{24AA3382-6C1F-4CC2-A1DE-9B818DB50381}" type="pres">
      <dgm:prSet presAssocID="{EC75EB0F-96AC-41BA-A450-FD974B38E6C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F5448199-5F9F-4705-B03D-E25C76BAA370}" type="pres">
      <dgm:prSet presAssocID="{EC75EB0F-96AC-41BA-A450-FD974B38E6C5}" presName="spaceRect" presStyleCnt="0"/>
      <dgm:spPr/>
    </dgm:pt>
    <dgm:pt modelId="{E57CD353-991C-4D86-ADA4-15DB4889373E}" type="pres">
      <dgm:prSet presAssocID="{EC75EB0F-96AC-41BA-A450-FD974B38E6C5}" presName="textRect" presStyleLbl="revTx" presStyleIdx="2" presStyleCnt="3">
        <dgm:presLayoutVars>
          <dgm:chMax val="1"/>
          <dgm:chPref val="1"/>
        </dgm:presLayoutVars>
      </dgm:prSet>
      <dgm:spPr/>
    </dgm:pt>
  </dgm:ptLst>
  <dgm:cxnLst>
    <dgm:cxn modelId="{A6D67667-450F-4038-BC03-06EE52516C25}" type="presOf" srcId="{EC75EB0F-96AC-41BA-A450-FD974B38E6C5}" destId="{E57CD353-991C-4D86-ADA4-15DB4889373E}" srcOrd="0" destOrd="0" presId="urn:microsoft.com/office/officeart/2018/2/layout/IconLabelList"/>
    <dgm:cxn modelId="{B20FD267-3512-460E-9249-16CA5B58C9CE}" srcId="{B15976D0-5DD0-4B15-ACD8-587E817B9D0F}" destId="{70A566D3-FCC3-4446-9C31-984F5A670E7F}" srcOrd="1" destOrd="0" parTransId="{9280994A-0EFA-44F8-9941-99AF7D09ED89}" sibTransId="{854F04B1-E829-43A0-8F38-43963635A178}"/>
    <dgm:cxn modelId="{AB8E1B48-A07D-4978-A07A-096FA949461E}" srcId="{B15976D0-5DD0-4B15-ACD8-587E817B9D0F}" destId="{6DFAD39E-3151-435D-8786-FB0C5E6CA4D2}" srcOrd="0" destOrd="0" parTransId="{060EAA5D-2A8D-48CE-9B94-E06F2BF1891C}" sibTransId="{A56A8D0D-84E9-40D0-8BC8-006DEF63C326}"/>
    <dgm:cxn modelId="{51FEF281-3C36-45CC-9CA0-CC184402EA08}" type="presOf" srcId="{70A566D3-FCC3-4446-9C31-984F5A670E7F}" destId="{39C201B9-81E7-4BBD-BD5E-999DD420B143}" srcOrd="0" destOrd="0" presId="urn:microsoft.com/office/officeart/2018/2/layout/IconLabelList"/>
    <dgm:cxn modelId="{4FE977A9-4A64-48D4-951D-1BA4C7AB550D}" type="presOf" srcId="{B15976D0-5DD0-4B15-ACD8-587E817B9D0F}" destId="{0CEEAD91-9D60-4ED4-B144-3FF8C37DE654}" srcOrd="0" destOrd="0" presId="urn:microsoft.com/office/officeart/2018/2/layout/IconLabelList"/>
    <dgm:cxn modelId="{D90E47DE-7D37-4EAA-A497-67010548EE40}" srcId="{B15976D0-5DD0-4B15-ACD8-587E817B9D0F}" destId="{EC75EB0F-96AC-41BA-A450-FD974B38E6C5}" srcOrd="2" destOrd="0" parTransId="{3A05BC5D-30EB-4BD9-866A-6B282AFD7732}" sibTransId="{3F7ABCF8-42BF-47A7-8A87-7C94BEEAEFA4}"/>
    <dgm:cxn modelId="{233B2DFF-5E3F-4329-9C15-20DF21C64B19}" type="presOf" srcId="{6DFAD39E-3151-435D-8786-FB0C5E6CA4D2}" destId="{38630850-E690-4B5B-8508-AB5570E5565A}" srcOrd="0" destOrd="0" presId="urn:microsoft.com/office/officeart/2018/2/layout/IconLabelList"/>
    <dgm:cxn modelId="{15518899-54A1-45C3-AB1A-DBC49CDEA47B}" type="presParOf" srcId="{0CEEAD91-9D60-4ED4-B144-3FF8C37DE654}" destId="{B0282C11-46AD-4B0E-BE88-9CA7A2479C2F}" srcOrd="0" destOrd="0" presId="urn:microsoft.com/office/officeart/2018/2/layout/IconLabelList"/>
    <dgm:cxn modelId="{47EA949C-DB4B-4FA5-86DA-F28EFE7BC9BC}" type="presParOf" srcId="{B0282C11-46AD-4B0E-BE88-9CA7A2479C2F}" destId="{731B88AA-3B74-4A7E-B504-31876A695EF4}" srcOrd="0" destOrd="0" presId="urn:microsoft.com/office/officeart/2018/2/layout/IconLabelList"/>
    <dgm:cxn modelId="{AB1E1BE7-BC37-450C-ABC5-E740FE73E513}" type="presParOf" srcId="{B0282C11-46AD-4B0E-BE88-9CA7A2479C2F}" destId="{41EE574F-4857-499F-99F7-57F5E1B216D3}" srcOrd="1" destOrd="0" presId="urn:microsoft.com/office/officeart/2018/2/layout/IconLabelList"/>
    <dgm:cxn modelId="{D0DD09CD-6145-4236-9F3E-6A7F2CB816D5}" type="presParOf" srcId="{B0282C11-46AD-4B0E-BE88-9CA7A2479C2F}" destId="{38630850-E690-4B5B-8508-AB5570E5565A}" srcOrd="2" destOrd="0" presId="urn:microsoft.com/office/officeart/2018/2/layout/IconLabelList"/>
    <dgm:cxn modelId="{F0962CE9-05A2-4E1D-9772-9FC84F154B3C}" type="presParOf" srcId="{0CEEAD91-9D60-4ED4-B144-3FF8C37DE654}" destId="{D17258D3-E21E-45A3-8EA5-85B01001226D}" srcOrd="1" destOrd="0" presId="urn:microsoft.com/office/officeart/2018/2/layout/IconLabelList"/>
    <dgm:cxn modelId="{20A0D539-5BD2-48ED-A783-E111A2A3AC51}" type="presParOf" srcId="{0CEEAD91-9D60-4ED4-B144-3FF8C37DE654}" destId="{372C9D83-C3FB-425A-BB59-539B0770C27F}" srcOrd="2" destOrd="0" presId="urn:microsoft.com/office/officeart/2018/2/layout/IconLabelList"/>
    <dgm:cxn modelId="{C40FF726-B878-4C20-9645-ABCD26E37ACD}" type="presParOf" srcId="{372C9D83-C3FB-425A-BB59-539B0770C27F}" destId="{E5B42E13-C9EF-4686-BE8A-DEE95240BCC3}" srcOrd="0" destOrd="0" presId="urn:microsoft.com/office/officeart/2018/2/layout/IconLabelList"/>
    <dgm:cxn modelId="{4C56DC59-D84A-4210-8D35-F68D4397C456}" type="presParOf" srcId="{372C9D83-C3FB-425A-BB59-539B0770C27F}" destId="{7A36359F-C8A2-4F47-A609-103132EBC87C}" srcOrd="1" destOrd="0" presId="urn:microsoft.com/office/officeart/2018/2/layout/IconLabelList"/>
    <dgm:cxn modelId="{4AB9CF3E-5F73-405D-84EA-21AA5A9CE8D1}" type="presParOf" srcId="{372C9D83-C3FB-425A-BB59-539B0770C27F}" destId="{39C201B9-81E7-4BBD-BD5E-999DD420B143}" srcOrd="2" destOrd="0" presId="urn:microsoft.com/office/officeart/2018/2/layout/IconLabelList"/>
    <dgm:cxn modelId="{C1E5C5C0-F684-4769-8233-9548C553BB6F}" type="presParOf" srcId="{0CEEAD91-9D60-4ED4-B144-3FF8C37DE654}" destId="{DE2E694D-3FDA-44E1-B025-1FE1F6633F6C}" srcOrd="3" destOrd="0" presId="urn:microsoft.com/office/officeart/2018/2/layout/IconLabelList"/>
    <dgm:cxn modelId="{5BF7E94A-9085-4E0F-BDB5-F65C410DCD8B}" type="presParOf" srcId="{0CEEAD91-9D60-4ED4-B144-3FF8C37DE654}" destId="{572F9113-2C0E-4AEC-8CCD-1591B700E327}" srcOrd="4" destOrd="0" presId="urn:microsoft.com/office/officeart/2018/2/layout/IconLabelList"/>
    <dgm:cxn modelId="{2E670C32-1E53-487C-821A-1F22602878A4}" type="presParOf" srcId="{572F9113-2C0E-4AEC-8CCD-1591B700E327}" destId="{24AA3382-6C1F-4CC2-A1DE-9B818DB50381}" srcOrd="0" destOrd="0" presId="urn:microsoft.com/office/officeart/2018/2/layout/IconLabelList"/>
    <dgm:cxn modelId="{5B5CA32C-8A46-4BB0-991C-C5F9BA8B7B7A}" type="presParOf" srcId="{572F9113-2C0E-4AEC-8CCD-1591B700E327}" destId="{F5448199-5F9F-4705-B03D-E25C76BAA370}" srcOrd="1" destOrd="0" presId="urn:microsoft.com/office/officeart/2018/2/layout/IconLabelList"/>
    <dgm:cxn modelId="{159624F1-3D17-4648-A2B6-036A6D7923DA}" type="presParOf" srcId="{572F9113-2C0E-4AEC-8CCD-1591B700E327}" destId="{E57CD353-991C-4D86-ADA4-15DB4889373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675E7A-A6A7-49A7-9495-61494D0F114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5BC409D-B9EC-41B8-98C1-6D44BC5BDE3A}">
      <dgm:prSet/>
      <dgm:spPr/>
      <dgm:t>
        <a:bodyPr/>
        <a:lstStyle/>
        <a:p>
          <a:r>
            <a:rPr lang="en-US" dirty="0"/>
            <a:t>We can also examine how sentiment changes throughout each novel.  First, we find a sentiment score for each word using the Bing lexicon and </a:t>
          </a:r>
          <a:r>
            <a:rPr lang="en-US" dirty="0" err="1"/>
            <a:t>inner_join</a:t>
          </a:r>
          <a:r>
            <a:rPr lang="en-US" dirty="0"/>
            <a:t>().</a:t>
          </a:r>
        </a:p>
      </dgm:t>
    </dgm:pt>
    <dgm:pt modelId="{336E6FDC-3EC8-4CDF-84FE-214ACDF3E16C}" type="parTrans" cxnId="{6EEA7712-DBC0-40DF-A61B-7E448F77FA76}">
      <dgm:prSet/>
      <dgm:spPr/>
      <dgm:t>
        <a:bodyPr/>
        <a:lstStyle/>
        <a:p>
          <a:endParaRPr lang="en-US"/>
        </a:p>
      </dgm:t>
    </dgm:pt>
    <dgm:pt modelId="{D2039184-CAC9-4E68-AE8B-804D5B4A626C}" type="sibTrans" cxnId="{6EEA7712-DBC0-40DF-A61B-7E448F77FA76}">
      <dgm:prSet/>
      <dgm:spPr/>
      <dgm:t>
        <a:bodyPr/>
        <a:lstStyle/>
        <a:p>
          <a:endParaRPr lang="en-US"/>
        </a:p>
      </dgm:t>
    </dgm:pt>
    <dgm:pt modelId="{785DC19C-1049-43F6-9C63-5FFE9F99B99F}">
      <dgm:prSet/>
      <dgm:spPr/>
      <dgm:t>
        <a:bodyPr/>
        <a:lstStyle/>
        <a:p>
          <a:r>
            <a:rPr lang="en-US" dirty="0"/>
            <a:t>Next, we count up how many positive and negative words there are in defined sections of each book. </a:t>
          </a:r>
        </a:p>
      </dgm:t>
    </dgm:pt>
    <dgm:pt modelId="{DE99ABBA-E65A-4E2F-9252-61A0B077690F}" type="parTrans" cxnId="{585677FC-FE5F-43A2-9C5C-9CD8A8EB3523}">
      <dgm:prSet/>
      <dgm:spPr/>
      <dgm:t>
        <a:bodyPr/>
        <a:lstStyle/>
        <a:p>
          <a:endParaRPr lang="en-US"/>
        </a:p>
      </dgm:t>
    </dgm:pt>
    <dgm:pt modelId="{C7F31BA3-F2C9-476A-BC2C-9562BB951AFC}" type="sibTrans" cxnId="{585677FC-FE5F-43A2-9C5C-9CD8A8EB3523}">
      <dgm:prSet/>
      <dgm:spPr/>
      <dgm:t>
        <a:bodyPr/>
        <a:lstStyle/>
        <a:p>
          <a:endParaRPr lang="en-US"/>
        </a:p>
      </dgm:t>
    </dgm:pt>
    <dgm:pt modelId="{C8239C7C-E5C8-4EB4-8414-3DB18B043892}">
      <dgm:prSet/>
      <dgm:spPr/>
      <dgm:t>
        <a:bodyPr/>
        <a:lstStyle/>
        <a:p>
          <a:r>
            <a:rPr lang="en-US"/>
            <a:t>We define an index here to keep track of where we are in the narrative; this index (using integer division) counts up sections of 80 lines of text</a:t>
          </a:r>
        </a:p>
      </dgm:t>
    </dgm:pt>
    <dgm:pt modelId="{CA069329-7720-4D01-A65D-C1D269FFE781}" type="parTrans" cxnId="{AD4D9997-9D54-4C6F-A77A-58758C7928BA}">
      <dgm:prSet/>
      <dgm:spPr/>
      <dgm:t>
        <a:bodyPr/>
        <a:lstStyle/>
        <a:p>
          <a:endParaRPr lang="en-US"/>
        </a:p>
      </dgm:t>
    </dgm:pt>
    <dgm:pt modelId="{F5ECCAC2-9AC1-41A4-85DB-5BBE17DB8879}" type="sibTrans" cxnId="{AD4D9997-9D54-4C6F-A77A-58758C7928BA}">
      <dgm:prSet/>
      <dgm:spPr/>
      <dgm:t>
        <a:bodyPr/>
        <a:lstStyle/>
        <a:p>
          <a:endParaRPr lang="en-US"/>
        </a:p>
      </dgm:t>
    </dgm:pt>
    <dgm:pt modelId="{06103C89-EA81-47D2-B3F6-717F91A38B04}" type="pres">
      <dgm:prSet presAssocID="{F5675E7A-A6A7-49A7-9495-61494D0F114B}" presName="root" presStyleCnt="0">
        <dgm:presLayoutVars>
          <dgm:dir/>
          <dgm:resizeHandles val="exact"/>
        </dgm:presLayoutVars>
      </dgm:prSet>
      <dgm:spPr/>
    </dgm:pt>
    <dgm:pt modelId="{29642147-4ADA-41ED-9938-E7EFD4644075}" type="pres">
      <dgm:prSet presAssocID="{75BC409D-B9EC-41B8-98C1-6D44BC5BDE3A}" presName="compNode" presStyleCnt="0"/>
      <dgm:spPr/>
    </dgm:pt>
    <dgm:pt modelId="{2DA94D25-F6C5-408D-AB15-E01D00626C81}" type="pres">
      <dgm:prSet presAssocID="{75BC409D-B9EC-41B8-98C1-6D44BC5BDE3A}" presName="bgRect" presStyleLbl="bgShp" presStyleIdx="0" presStyleCnt="3"/>
      <dgm:spPr/>
    </dgm:pt>
    <dgm:pt modelId="{838EC9BC-6071-48FB-8AEE-78A806C70439}" type="pres">
      <dgm:prSet presAssocID="{75BC409D-B9EC-41B8-98C1-6D44BC5BDE3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3FE267EC-6F22-4887-A8F1-C0CD682516D0}" type="pres">
      <dgm:prSet presAssocID="{75BC409D-B9EC-41B8-98C1-6D44BC5BDE3A}" presName="spaceRect" presStyleCnt="0"/>
      <dgm:spPr/>
    </dgm:pt>
    <dgm:pt modelId="{961F1385-C387-4A35-8189-AE89D2BE0753}" type="pres">
      <dgm:prSet presAssocID="{75BC409D-B9EC-41B8-98C1-6D44BC5BDE3A}" presName="parTx" presStyleLbl="revTx" presStyleIdx="0" presStyleCnt="3">
        <dgm:presLayoutVars>
          <dgm:chMax val="0"/>
          <dgm:chPref val="0"/>
        </dgm:presLayoutVars>
      </dgm:prSet>
      <dgm:spPr/>
    </dgm:pt>
    <dgm:pt modelId="{1877AF1E-1F96-4680-9600-7C02718B2DFD}" type="pres">
      <dgm:prSet presAssocID="{D2039184-CAC9-4E68-AE8B-804D5B4A626C}" presName="sibTrans" presStyleCnt="0"/>
      <dgm:spPr/>
    </dgm:pt>
    <dgm:pt modelId="{7B38B611-1B08-4D0D-9FA3-E233172BB74B}" type="pres">
      <dgm:prSet presAssocID="{785DC19C-1049-43F6-9C63-5FFE9F99B99F}" presName="compNode" presStyleCnt="0"/>
      <dgm:spPr/>
    </dgm:pt>
    <dgm:pt modelId="{1311E756-E26F-4226-BAE9-4F79E5E7F5AD}" type="pres">
      <dgm:prSet presAssocID="{785DC19C-1049-43F6-9C63-5FFE9F99B99F}" presName="bgRect" presStyleLbl="bgShp" presStyleIdx="1" presStyleCnt="3"/>
      <dgm:spPr/>
    </dgm:pt>
    <dgm:pt modelId="{E65F22D5-CBE8-4396-AE46-687CD72B9924}" type="pres">
      <dgm:prSet presAssocID="{785DC19C-1049-43F6-9C63-5FFE9F99B99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9EEE3207-0480-4CA5-B630-8A418AAE5054}" type="pres">
      <dgm:prSet presAssocID="{785DC19C-1049-43F6-9C63-5FFE9F99B99F}" presName="spaceRect" presStyleCnt="0"/>
      <dgm:spPr/>
    </dgm:pt>
    <dgm:pt modelId="{F091DA6D-4D89-401F-AC14-30FC6AC0FA6C}" type="pres">
      <dgm:prSet presAssocID="{785DC19C-1049-43F6-9C63-5FFE9F99B99F}" presName="parTx" presStyleLbl="revTx" presStyleIdx="1" presStyleCnt="3">
        <dgm:presLayoutVars>
          <dgm:chMax val="0"/>
          <dgm:chPref val="0"/>
        </dgm:presLayoutVars>
      </dgm:prSet>
      <dgm:spPr/>
    </dgm:pt>
    <dgm:pt modelId="{73892694-CEA8-4184-8CEF-042E697F4C67}" type="pres">
      <dgm:prSet presAssocID="{C7F31BA3-F2C9-476A-BC2C-9562BB951AFC}" presName="sibTrans" presStyleCnt="0"/>
      <dgm:spPr/>
    </dgm:pt>
    <dgm:pt modelId="{E9425889-0A1D-4F7C-8DFB-19F10D51754D}" type="pres">
      <dgm:prSet presAssocID="{C8239C7C-E5C8-4EB4-8414-3DB18B043892}" presName="compNode" presStyleCnt="0"/>
      <dgm:spPr/>
    </dgm:pt>
    <dgm:pt modelId="{97AA3514-C4C8-40BE-9414-BC62A6F408A4}" type="pres">
      <dgm:prSet presAssocID="{C8239C7C-E5C8-4EB4-8414-3DB18B043892}" presName="bgRect" presStyleLbl="bgShp" presStyleIdx="2" presStyleCnt="3"/>
      <dgm:spPr/>
    </dgm:pt>
    <dgm:pt modelId="{FE939D5F-FC00-4F6A-8965-998E45C3EDBC}" type="pres">
      <dgm:prSet presAssocID="{C8239C7C-E5C8-4EB4-8414-3DB18B043892}"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ribble"/>
        </a:ext>
      </dgm:extLst>
    </dgm:pt>
    <dgm:pt modelId="{C69A17C1-4CDE-4869-A244-80A60C20727A}" type="pres">
      <dgm:prSet presAssocID="{C8239C7C-E5C8-4EB4-8414-3DB18B043892}" presName="spaceRect" presStyleCnt="0"/>
      <dgm:spPr/>
    </dgm:pt>
    <dgm:pt modelId="{F201CA1D-5157-4FC5-A144-26D317EEDBF9}" type="pres">
      <dgm:prSet presAssocID="{C8239C7C-E5C8-4EB4-8414-3DB18B043892}" presName="parTx" presStyleLbl="revTx" presStyleIdx="2" presStyleCnt="3">
        <dgm:presLayoutVars>
          <dgm:chMax val="0"/>
          <dgm:chPref val="0"/>
        </dgm:presLayoutVars>
      </dgm:prSet>
      <dgm:spPr/>
    </dgm:pt>
  </dgm:ptLst>
  <dgm:cxnLst>
    <dgm:cxn modelId="{6EEA7712-DBC0-40DF-A61B-7E448F77FA76}" srcId="{F5675E7A-A6A7-49A7-9495-61494D0F114B}" destId="{75BC409D-B9EC-41B8-98C1-6D44BC5BDE3A}" srcOrd="0" destOrd="0" parTransId="{336E6FDC-3EC8-4CDF-84FE-214ACDF3E16C}" sibTransId="{D2039184-CAC9-4E68-AE8B-804D5B4A626C}"/>
    <dgm:cxn modelId="{1901E517-ECAE-44D9-BE0B-DFCDD36546BB}" type="presOf" srcId="{F5675E7A-A6A7-49A7-9495-61494D0F114B}" destId="{06103C89-EA81-47D2-B3F6-717F91A38B04}" srcOrd="0" destOrd="0" presId="urn:microsoft.com/office/officeart/2018/2/layout/IconVerticalSolidList"/>
    <dgm:cxn modelId="{1FAC153E-EC7D-4C2B-AEB4-99A0A3D21B84}" type="presOf" srcId="{C8239C7C-E5C8-4EB4-8414-3DB18B043892}" destId="{F201CA1D-5157-4FC5-A144-26D317EEDBF9}" srcOrd="0" destOrd="0" presId="urn:microsoft.com/office/officeart/2018/2/layout/IconVerticalSolidList"/>
    <dgm:cxn modelId="{3918DE7B-1BBC-4B98-BF18-05EC2A0403FF}" type="presOf" srcId="{785DC19C-1049-43F6-9C63-5FFE9F99B99F}" destId="{F091DA6D-4D89-401F-AC14-30FC6AC0FA6C}" srcOrd="0" destOrd="0" presId="urn:microsoft.com/office/officeart/2018/2/layout/IconVerticalSolidList"/>
    <dgm:cxn modelId="{C85AF47D-C9AA-4AAD-A325-9CD6BA0BDB4D}" type="presOf" srcId="{75BC409D-B9EC-41B8-98C1-6D44BC5BDE3A}" destId="{961F1385-C387-4A35-8189-AE89D2BE0753}" srcOrd="0" destOrd="0" presId="urn:microsoft.com/office/officeart/2018/2/layout/IconVerticalSolidList"/>
    <dgm:cxn modelId="{AD4D9997-9D54-4C6F-A77A-58758C7928BA}" srcId="{F5675E7A-A6A7-49A7-9495-61494D0F114B}" destId="{C8239C7C-E5C8-4EB4-8414-3DB18B043892}" srcOrd="2" destOrd="0" parTransId="{CA069329-7720-4D01-A65D-C1D269FFE781}" sibTransId="{F5ECCAC2-9AC1-41A4-85DB-5BBE17DB8879}"/>
    <dgm:cxn modelId="{585677FC-FE5F-43A2-9C5C-9CD8A8EB3523}" srcId="{F5675E7A-A6A7-49A7-9495-61494D0F114B}" destId="{785DC19C-1049-43F6-9C63-5FFE9F99B99F}" srcOrd="1" destOrd="0" parTransId="{DE99ABBA-E65A-4E2F-9252-61A0B077690F}" sibTransId="{C7F31BA3-F2C9-476A-BC2C-9562BB951AFC}"/>
    <dgm:cxn modelId="{DFFA5B81-739E-4B42-AB64-63A06C50DC0E}" type="presParOf" srcId="{06103C89-EA81-47D2-B3F6-717F91A38B04}" destId="{29642147-4ADA-41ED-9938-E7EFD4644075}" srcOrd="0" destOrd="0" presId="urn:microsoft.com/office/officeart/2018/2/layout/IconVerticalSolidList"/>
    <dgm:cxn modelId="{E4D8515F-B0DD-4C19-962C-E8CEE5ED7D0D}" type="presParOf" srcId="{29642147-4ADA-41ED-9938-E7EFD4644075}" destId="{2DA94D25-F6C5-408D-AB15-E01D00626C81}" srcOrd="0" destOrd="0" presId="urn:microsoft.com/office/officeart/2018/2/layout/IconVerticalSolidList"/>
    <dgm:cxn modelId="{4CED643D-8D47-4A54-A212-08BCBBC711B4}" type="presParOf" srcId="{29642147-4ADA-41ED-9938-E7EFD4644075}" destId="{838EC9BC-6071-48FB-8AEE-78A806C70439}" srcOrd="1" destOrd="0" presId="urn:microsoft.com/office/officeart/2018/2/layout/IconVerticalSolidList"/>
    <dgm:cxn modelId="{9D714005-2675-4A43-BC5A-13C2901F4C68}" type="presParOf" srcId="{29642147-4ADA-41ED-9938-E7EFD4644075}" destId="{3FE267EC-6F22-4887-A8F1-C0CD682516D0}" srcOrd="2" destOrd="0" presId="urn:microsoft.com/office/officeart/2018/2/layout/IconVerticalSolidList"/>
    <dgm:cxn modelId="{934C161F-82CC-4237-8006-9888A06733D1}" type="presParOf" srcId="{29642147-4ADA-41ED-9938-E7EFD4644075}" destId="{961F1385-C387-4A35-8189-AE89D2BE0753}" srcOrd="3" destOrd="0" presId="urn:microsoft.com/office/officeart/2018/2/layout/IconVerticalSolidList"/>
    <dgm:cxn modelId="{1BBA19AA-20C8-4754-9623-69A86615FB16}" type="presParOf" srcId="{06103C89-EA81-47D2-B3F6-717F91A38B04}" destId="{1877AF1E-1F96-4680-9600-7C02718B2DFD}" srcOrd="1" destOrd="0" presId="urn:microsoft.com/office/officeart/2018/2/layout/IconVerticalSolidList"/>
    <dgm:cxn modelId="{D25A5E74-469A-41CB-B31B-3BFBEE43FB23}" type="presParOf" srcId="{06103C89-EA81-47D2-B3F6-717F91A38B04}" destId="{7B38B611-1B08-4D0D-9FA3-E233172BB74B}" srcOrd="2" destOrd="0" presId="urn:microsoft.com/office/officeart/2018/2/layout/IconVerticalSolidList"/>
    <dgm:cxn modelId="{67B7DE41-8B1A-4835-8506-F3C785725195}" type="presParOf" srcId="{7B38B611-1B08-4D0D-9FA3-E233172BB74B}" destId="{1311E756-E26F-4226-BAE9-4F79E5E7F5AD}" srcOrd="0" destOrd="0" presId="urn:microsoft.com/office/officeart/2018/2/layout/IconVerticalSolidList"/>
    <dgm:cxn modelId="{B769EB70-1DE0-47FF-873C-E06EDF3AC1DB}" type="presParOf" srcId="{7B38B611-1B08-4D0D-9FA3-E233172BB74B}" destId="{E65F22D5-CBE8-4396-AE46-687CD72B9924}" srcOrd="1" destOrd="0" presId="urn:microsoft.com/office/officeart/2018/2/layout/IconVerticalSolidList"/>
    <dgm:cxn modelId="{EFFF9B89-C386-452C-80FC-03E53498D6F0}" type="presParOf" srcId="{7B38B611-1B08-4D0D-9FA3-E233172BB74B}" destId="{9EEE3207-0480-4CA5-B630-8A418AAE5054}" srcOrd="2" destOrd="0" presId="urn:microsoft.com/office/officeart/2018/2/layout/IconVerticalSolidList"/>
    <dgm:cxn modelId="{5212C827-31E2-44D5-8A67-34FC4391C9B0}" type="presParOf" srcId="{7B38B611-1B08-4D0D-9FA3-E233172BB74B}" destId="{F091DA6D-4D89-401F-AC14-30FC6AC0FA6C}" srcOrd="3" destOrd="0" presId="urn:microsoft.com/office/officeart/2018/2/layout/IconVerticalSolidList"/>
    <dgm:cxn modelId="{6FA1B2E9-B1DC-4E80-A095-5D04B29DADF9}" type="presParOf" srcId="{06103C89-EA81-47D2-B3F6-717F91A38B04}" destId="{73892694-CEA8-4184-8CEF-042E697F4C67}" srcOrd="3" destOrd="0" presId="urn:microsoft.com/office/officeart/2018/2/layout/IconVerticalSolidList"/>
    <dgm:cxn modelId="{D7A1E056-182E-4E88-B848-437FD9A5411E}" type="presParOf" srcId="{06103C89-EA81-47D2-B3F6-717F91A38B04}" destId="{E9425889-0A1D-4F7C-8DFB-19F10D51754D}" srcOrd="4" destOrd="0" presId="urn:microsoft.com/office/officeart/2018/2/layout/IconVerticalSolidList"/>
    <dgm:cxn modelId="{8E19C032-AF17-4EBB-A41E-CA21F929EABC}" type="presParOf" srcId="{E9425889-0A1D-4F7C-8DFB-19F10D51754D}" destId="{97AA3514-C4C8-40BE-9414-BC62A6F408A4}" srcOrd="0" destOrd="0" presId="urn:microsoft.com/office/officeart/2018/2/layout/IconVerticalSolidList"/>
    <dgm:cxn modelId="{6DCC419A-5F33-4EA6-BFD6-A95C198710AC}" type="presParOf" srcId="{E9425889-0A1D-4F7C-8DFB-19F10D51754D}" destId="{FE939D5F-FC00-4F6A-8965-998E45C3EDBC}" srcOrd="1" destOrd="0" presId="urn:microsoft.com/office/officeart/2018/2/layout/IconVerticalSolidList"/>
    <dgm:cxn modelId="{51BA7199-0371-46B5-994D-C3ACBCC3564C}" type="presParOf" srcId="{E9425889-0A1D-4F7C-8DFB-19F10D51754D}" destId="{C69A17C1-4CDE-4869-A244-80A60C20727A}" srcOrd="2" destOrd="0" presId="urn:microsoft.com/office/officeart/2018/2/layout/IconVerticalSolidList"/>
    <dgm:cxn modelId="{ACFC0C33-62EA-41A2-8848-177011185E76}" type="presParOf" srcId="{E9425889-0A1D-4F7C-8DFB-19F10D51754D}" destId="{F201CA1D-5157-4FC5-A144-26D317EEDB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628FF8-2777-4B08-92D1-FDB65643BF7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7D0155A-1E99-49EB-A711-2F528ACF0AE2}">
      <dgm:prSet/>
      <dgm:spPr/>
      <dgm:t>
        <a:bodyPr/>
        <a:lstStyle/>
        <a:p>
          <a:r>
            <a:rPr lang="en-US"/>
            <a:t>Remember that AFINN lexicon measures sentiment with a numeric score between -5 and 5, while the other two lexicons categorize words in a binary fashion, either positive or negative</a:t>
          </a:r>
        </a:p>
      </dgm:t>
    </dgm:pt>
    <dgm:pt modelId="{F6652C7C-1F5E-472A-95BA-A0C080353C68}" type="parTrans" cxnId="{66D59300-048E-4CFD-B11A-BC993A46ECD8}">
      <dgm:prSet/>
      <dgm:spPr/>
      <dgm:t>
        <a:bodyPr/>
        <a:lstStyle/>
        <a:p>
          <a:endParaRPr lang="en-US"/>
        </a:p>
      </dgm:t>
    </dgm:pt>
    <dgm:pt modelId="{B50AB059-1793-422C-9740-219D9EFB993A}" type="sibTrans" cxnId="{66D59300-048E-4CFD-B11A-BC993A46ECD8}">
      <dgm:prSet/>
      <dgm:spPr/>
      <dgm:t>
        <a:bodyPr/>
        <a:lstStyle/>
        <a:p>
          <a:endParaRPr lang="en-US"/>
        </a:p>
      </dgm:t>
    </dgm:pt>
    <dgm:pt modelId="{131A4B82-3864-4508-B7B3-EAFC3759993C}">
      <dgm:prSet/>
      <dgm:spPr/>
      <dgm:t>
        <a:bodyPr/>
        <a:lstStyle/>
        <a:p>
          <a:r>
            <a:rPr lang="en-US"/>
            <a:t>To find a sentiment score in chunks of text throughout the novel, we will need to use a different pattern for the AFINN lexicon than for the other two.</a:t>
          </a:r>
        </a:p>
      </dgm:t>
    </dgm:pt>
    <dgm:pt modelId="{D2BE2642-56A5-4B47-B996-01A08744284D}" type="parTrans" cxnId="{72848C21-25C5-4D4F-BD2C-2B2C4FFA5302}">
      <dgm:prSet/>
      <dgm:spPr/>
      <dgm:t>
        <a:bodyPr/>
        <a:lstStyle/>
        <a:p>
          <a:endParaRPr lang="en-US"/>
        </a:p>
      </dgm:t>
    </dgm:pt>
    <dgm:pt modelId="{7B6AC3D5-1271-4B39-9F6D-4A1135905242}" type="sibTrans" cxnId="{72848C21-25C5-4D4F-BD2C-2B2C4FFA5302}">
      <dgm:prSet/>
      <dgm:spPr/>
      <dgm:t>
        <a:bodyPr/>
        <a:lstStyle/>
        <a:p>
          <a:endParaRPr lang="en-US"/>
        </a:p>
      </dgm:t>
    </dgm:pt>
    <dgm:pt modelId="{9B29BE88-45FB-47E8-AD40-39B793E2C1B8}" type="pres">
      <dgm:prSet presAssocID="{12628FF8-2777-4B08-92D1-FDB65643BF73}" presName="root" presStyleCnt="0">
        <dgm:presLayoutVars>
          <dgm:dir/>
          <dgm:resizeHandles val="exact"/>
        </dgm:presLayoutVars>
      </dgm:prSet>
      <dgm:spPr/>
    </dgm:pt>
    <dgm:pt modelId="{4E09B149-5D36-4C1C-85F3-26F99AEDBD6B}" type="pres">
      <dgm:prSet presAssocID="{77D0155A-1E99-49EB-A711-2F528ACF0AE2}" presName="compNode" presStyleCnt="0"/>
      <dgm:spPr/>
    </dgm:pt>
    <dgm:pt modelId="{C4EA3FF9-2D76-4891-B4AF-510A5FEB03A5}" type="pres">
      <dgm:prSet presAssocID="{77D0155A-1E99-49EB-A711-2F528ACF0AE2}" presName="bgRect" presStyleLbl="bgShp" presStyleIdx="0" presStyleCnt="2"/>
      <dgm:spPr/>
    </dgm:pt>
    <dgm:pt modelId="{78E9D8FA-16AB-4C4F-B01D-3CC24E0ACCD5}" type="pres">
      <dgm:prSet presAssocID="{77D0155A-1E99-49EB-A711-2F528ACF0AE2}"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ABF8DD91-6E15-4BC3-8DC4-906F9807B96A}" type="pres">
      <dgm:prSet presAssocID="{77D0155A-1E99-49EB-A711-2F528ACF0AE2}" presName="spaceRect" presStyleCnt="0"/>
      <dgm:spPr/>
    </dgm:pt>
    <dgm:pt modelId="{2A3CD531-1ECD-4DA3-A70A-2D98FD496415}" type="pres">
      <dgm:prSet presAssocID="{77D0155A-1E99-49EB-A711-2F528ACF0AE2}" presName="parTx" presStyleLbl="revTx" presStyleIdx="0" presStyleCnt="2">
        <dgm:presLayoutVars>
          <dgm:chMax val="0"/>
          <dgm:chPref val="0"/>
        </dgm:presLayoutVars>
      </dgm:prSet>
      <dgm:spPr/>
    </dgm:pt>
    <dgm:pt modelId="{95418D94-5BD3-42B3-8400-9F2F16B69388}" type="pres">
      <dgm:prSet presAssocID="{B50AB059-1793-422C-9740-219D9EFB993A}" presName="sibTrans" presStyleCnt="0"/>
      <dgm:spPr/>
    </dgm:pt>
    <dgm:pt modelId="{DB37CAE2-A4F0-43B0-824D-7470D169A516}" type="pres">
      <dgm:prSet presAssocID="{131A4B82-3864-4508-B7B3-EAFC3759993C}" presName="compNode" presStyleCnt="0"/>
      <dgm:spPr/>
    </dgm:pt>
    <dgm:pt modelId="{77FE78CD-4468-40E1-ACFC-6DC4C7C09318}" type="pres">
      <dgm:prSet presAssocID="{131A4B82-3864-4508-B7B3-EAFC3759993C}" presName="bgRect" presStyleLbl="bgShp" presStyleIdx="1" presStyleCnt="2"/>
      <dgm:spPr/>
    </dgm:pt>
    <dgm:pt modelId="{A83E3CC7-2D5B-4630-B5C0-272E116CF50E}" type="pres">
      <dgm:prSet presAssocID="{131A4B82-3864-4508-B7B3-EAFC3759993C}"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ternet Of Things"/>
        </a:ext>
      </dgm:extLst>
    </dgm:pt>
    <dgm:pt modelId="{DF4BF249-2E46-424A-9C15-9BE4DF85DBFC}" type="pres">
      <dgm:prSet presAssocID="{131A4B82-3864-4508-B7B3-EAFC3759993C}" presName="spaceRect" presStyleCnt="0"/>
      <dgm:spPr/>
    </dgm:pt>
    <dgm:pt modelId="{B0B81DDB-66F0-4084-9B69-DAA0EBEBD655}" type="pres">
      <dgm:prSet presAssocID="{131A4B82-3864-4508-B7B3-EAFC3759993C}" presName="parTx" presStyleLbl="revTx" presStyleIdx="1" presStyleCnt="2">
        <dgm:presLayoutVars>
          <dgm:chMax val="0"/>
          <dgm:chPref val="0"/>
        </dgm:presLayoutVars>
      </dgm:prSet>
      <dgm:spPr/>
    </dgm:pt>
  </dgm:ptLst>
  <dgm:cxnLst>
    <dgm:cxn modelId="{66D59300-048E-4CFD-B11A-BC993A46ECD8}" srcId="{12628FF8-2777-4B08-92D1-FDB65643BF73}" destId="{77D0155A-1E99-49EB-A711-2F528ACF0AE2}" srcOrd="0" destOrd="0" parTransId="{F6652C7C-1F5E-472A-95BA-A0C080353C68}" sibTransId="{B50AB059-1793-422C-9740-219D9EFB993A}"/>
    <dgm:cxn modelId="{63029C1B-20E2-441B-A3B3-527A838995E8}" type="presOf" srcId="{12628FF8-2777-4B08-92D1-FDB65643BF73}" destId="{9B29BE88-45FB-47E8-AD40-39B793E2C1B8}" srcOrd="0" destOrd="0" presId="urn:microsoft.com/office/officeart/2018/2/layout/IconVerticalSolidList"/>
    <dgm:cxn modelId="{72848C21-25C5-4D4F-BD2C-2B2C4FFA5302}" srcId="{12628FF8-2777-4B08-92D1-FDB65643BF73}" destId="{131A4B82-3864-4508-B7B3-EAFC3759993C}" srcOrd="1" destOrd="0" parTransId="{D2BE2642-56A5-4B47-B996-01A08744284D}" sibTransId="{7B6AC3D5-1271-4B39-9F6D-4A1135905242}"/>
    <dgm:cxn modelId="{843F415C-2CC1-41D3-944B-02B993868F86}" type="presOf" srcId="{131A4B82-3864-4508-B7B3-EAFC3759993C}" destId="{B0B81DDB-66F0-4084-9B69-DAA0EBEBD655}" srcOrd="0" destOrd="0" presId="urn:microsoft.com/office/officeart/2018/2/layout/IconVerticalSolidList"/>
    <dgm:cxn modelId="{1E8BB4D3-9A99-43E7-8083-1257F650812C}" type="presOf" srcId="{77D0155A-1E99-49EB-A711-2F528ACF0AE2}" destId="{2A3CD531-1ECD-4DA3-A70A-2D98FD496415}" srcOrd="0" destOrd="0" presId="urn:microsoft.com/office/officeart/2018/2/layout/IconVerticalSolidList"/>
    <dgm:cxn modelId="{11E87A0C-CF59-4881-8FCD-867E75D6E619}" type="presParOf" srcId="{9B29BE88-45FB-47E8-AD40-39B793E2C1B8}" destId="{4E09B149-5D36-4C1C-85F3-26F99AEDBD6B}" srcOrd="0" destOrd="0" presId="urn:microsoft.com/office/officeart/2018/2/layout/IconVerticalSolidList"/>
    <dgm:cxn modelId="{C2BF4AC8-E13C-4545-A5ED-D40422C7AC12}" type="presParOf" srcId="{4E09B149-5D36-4C1C-85F3-26F99AEDBD6B}" destId="{C4EA3FF9-2D76-4891-B4AF-510A5FEB03A5}" srcOrd="0" destOrd="0" presId="urn:microsoft.com/office/officeart/2018/2/layout/IconVerticalSolidList"/>
    <dgm:cxn modelId="{1A4D728A-311A-4322-93EA-EA6F248DD009}" type="presParOf" srcId="{4E09B149-5D36-4C1C-85F3-26F99AEDBD6B}" destId="{78E9D8FA-16AB-4C4F-B01D-3CC24E0ACCD5}" srcOrd="1" destOrd="0" presId="urn:microsoft.com/office/officeart/2018/2/layout/IconVerticalSolidList"/>
    <dgm:cxn modelId="{5846B17D-8007-4349-B447-F90A93F97CA7}" type="presParOf" srcId="{4E09B149-5D36-4C1C-85F3-26F99AEDBD6B}" destId="{ABF8DD91-6E15-4BC3-8DC4-906F9807B96A}" srcOrd="2" destOrd="0" presId="urn:microsoft.com/office/officeart/2018/2/layout/IconVerticalSolidList"/>
    <dgm:cxn modelId="{47F9250D-1292-4E96-9CEF-40BFBE4CCC08}" type="presParOf" srcId="{4E09B149-5D36-4C1C-85F3-26F99AEDBD6B}" destId="{2A3CD531-1ECD-4DA3-A70A-2D98FD496415}" srcOrd="3" destOrd="0" presId="urn:microsoft.com/office/officeart/2018/2/layout/IconVerticalSolidList"/>
    <dgm:cxn modelId="{6B1D354B-446E-4A57-8E58-F861C8CA2A1F}" type="presParOf" srcId="{9B29BE88-45FB-47E8-AD40-39B793E2C1B8}" destId="{95418D94-5BD3-42B3-8400-9F2F16B69388}" srcOrd="1" destOrd="0" presId="urn:microsoft.com/office/officeart/2018/2/layout/IconVerticalSolidList"/>
    <dgm:cxn modelId="{7E1DD2E9-6A56-413B-8CF4-032048FE9812}" type="presParOf" srcId="{9B29BE88-45FB-47E8-AD40-39B793E2C1B8}" destId="{DB37CAE2-A4F0-43B0-824D-7470D169A516}" srcOrd="2" destOrd="0" presId="urn:microsoft.com/office/officeart/2018/2/layout/IconVerticalSolidList"/>
    <dgm:cxn modelId="{ABF090F3-30CC-4F0A-B530-751D7C9B0C33}" type="presParOf" srcId="{DB37CAE2-A4F0-43B0-824D-7470D169A516}" destId="{77FE78CD-4468-40E1-ACFC-6DC4C7C09318}" srcOrd="0" destOrd="0" presId="urn:microsoft.com/office/officeart/2018/2/layout/IconVerticalSolidList"/>
    <dgm:cxn modelId="{89A06D0A-1C17-41F1-80D4-9E94E880B692}" type="presParOf" srcId="{DB37CAE2-A4F0-43B0-824D-7470D169A516}" destId="{A83E3CC7-2D5B-4630-B5C0-272E116CF50E}" srcOrd="1" destOrd="0" presId="urn:microsoft.com/office/officeart/2018/2/layout/IconVerticalSolidList"/>
    <dgm:cxn modelId="{F528635D-5839-4F5D-B620-80CA599D5D13}" type="presParOf" srcId="{DB37CAE2-A4F0-43B0-824D-7470D169A516}" destId="{DF4BF249-2E46-424A-9C15-9BE4DF85DBFC}" srcOrd="2" destOrd="0" presId="urn:microsoft.com/office/officeart/2018/2/layout/IconVerticalSolidList"/>
    <dgm:cxn modelId="{D7579454-5131-48F1-B67A-C3F97189B2A7}" type="presParOf" srcId="{DB37CAE2-A4F0-43B0-824D-7470D169A516}" destId="{B0B81DDB-66F0-4084-9B69-DAA0EBEBD65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A6F920-26F0-48F6-89BD-5191DA87A3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66B82CA-8834-4BED-B481-70E14287492F}">
      <dgm:prSet/>
      <dgm:spPr/>
      <dgm:t>
        <a:bodyPr/>
        <a:lstStyle/>
        <a:p>
          <a:r>
            <a:rPr lang="en-US"/>
            <a:t>The three different lexicons for calculating sentiment give results that are different in an absolute sense but have similar relative trajectories through the novel</a:t>
          </a:r>
          <a:r>
            <a:rPr lang="en-US" b="0" i="0" u="none" strike="noStrike" cap="none" baseline="0" noProof="0">
              <a:solidFill>
                <a:srgbClr val="010000"/>
              </a:solidFill>
              <a:latin typeface="Calibri Light"/>
              <a:cs typeface="Calibri Light"/>
            </a:rPr>
            <a:t>.</a:t>
          </a:r>
          <a:endParaRPr lang="en-US"/>
        </a:p>
      </dgm:t>
    </dgm:pt>
    <dgm:pt modelId="{B6B0E19A-4D43-4C89-999F-31309CCB23E1}" type="parTrans" cxnId="{223A3CC2-DB3C-4CF5-8A82-79139551E3D4}">
      <dgm:prSet/>
      <dgm:spPr/>
      <dgm:t>
        <a:bodyPr/>
        <a:lstStyle/>
        <a:p>
          <a:endParaRPr lang="en-US"/>
        </a:p>
      </dgm:t>
    </dgm:pt>
    <dgm:pt modelId="{6BEEFB73-3447-4614-9655-2B913299259C}" type="sibTrans" cxnId="{223A3CC2-DB3C-4CF5-8A82-79139551E3D4}">
      <dgm:prSet/>
      <dgm:spPr/>
      <dgm:t>
        <a:bodyPr/>
        <a:lstStyle/>
        <a:p>
          <a:endParaRPr lang="en-US"/>
        </a:p>
      </dgm:t>
    </dgm:pt>
    <dgm:pt modelId="{FD093C06-5D58-43AF-A64C-B1917E5D1597}">
      <dgm:prSet/>
      <dgm:spPr/>
      <dgm:t>
        <a:bodyPr/>
        <a:lstStyle/>
        <a:p>
          <a:r>
            <a:rPr lang="en-US"/>
            <a:t>We see similar dips and peaks in sentiment at about the same places in the novel, but the absolute values are significantly different</a:t>
          </a:r>
          <a:r>
            <a:rPr lang="en-US">
              <a:latin typeface="Calibri Light" panose="020F0302020204030204"/>
            </a:rPr>
            <a:t>.</a:t>
          </a:r>
          <a:endParaRPr lang="en-US"/>
        </a:p>
      </dgm:t>
    </dgm:pt>
    <dgm:pt modelId="{EE74FA5A-EAF7-4A28-B649-7DD764780D18}" type="parTrans" cxnId="{D5D070EE-B046-4904-8117-ABB4CC3B6612}">
      <dgm:prSet/>
      <dgm:spPr/>
      <dgm:t>
        <a:bodyPr/>
        <a:lstStyle/>
        <a:p>
          <a:endParaRPr lang="en-US"/>
        </a:p>
      </dgm:t>
    </dgm:pt>
    <dgm:pt modelId="{4538A944-3CF9-4075-9DAB-BA81C79C560B}" type="sibTrans" cxnId="{D5D070EE-B046-4904-8117-ABB4CC3B6612}">
      <dgm:prSet/>
      <dgm:spPr/>
      <dgm:t>
        <a:bodyPr/>
        <a:lstStyle/>
        <a:p>
          <a:endParaRPr lang="en-US"/>
        </a:p>
      </dgm:t>
    </dgm:pt>
    <dgm:pt modelId="{59DE74A2-0222-4C49-B58B-5D30394051A6}">
      <dgm:prSet/>
      <dgm:spPr/>
      <dgm:t>
        <a:bodyPr/>
        <a:lstStyle/>
        <a:p>
          <a:r>
            <a:rPr lang="en-US"/>
            <a:t>The AFINN lexicon gives the largest absolute values, with high positive values. The lexicon from Bing et al. has lower absolute values and seems to label larger blocks of contiguous positive or negative text. </a:t>
          </a:r>
        </a:p>
      </dgm:t>
    </dgm:pt>
    <dgm:pt modelId="{88C355A4-4BD7-491B-AE28-7573FAB3185C}" type="parTrans" cxnId="{9618626B-1205-490E-980E-033DEFAF4E15}">
      <dgm:prSet/>
      <dgm:spPr/>
      <dgm:t>
        <a:bodyPr/>
        <a:lstStyle/>
        <a:p>
          <a:endParaRPr lang="en-US"/>
        </a:p>
      </dgm:t>
    </dgm:pt>
    <dgm:pt modelId="{282241FD-04E4-4D5A-8D7C-D8AB74BFBF40}" type="sibTrans" cxnId="{9618626B-1205-490E-980E-033DEFAF4E15}">
      <dgm:prSet/>
      <dgm:spPr/>
      <dgm:t>
        <a:bodyPr/>
        <a:lstStyle/>
        <a:p>
          <a:endParaRPr lang="en-US"/>
        </a:p>
      </dgm:t>
    </dgm:pt>
    <dgm:pt modelId="{69227C3D-F002-4E82-9112-D5ECCF6B6FBA}">
      <dgm:prSet/>
      <dgm:spPr/>
      <dgm:t>
        <a:bodyPr/>
        <a:lstStyle/>
        <a:p>
          <a:r>
            <a:rPr lang="en-US"/>
            <a:t>The NRC results are shifted higher relative to the other two, labeling the text more positively, but detects similar relative changes in the text. </a:t>
          </a:r>
        </a:p>
      </dgm:t>
    </dgm:pt>
    <dgm:pt modelId="{A534BB5A-38E6-4634-B4AC-ADEF7EB5D627}" type="parTrans" cxnId="{827D235F-4C21-469C-83F0-0C88CBA74FBA}">
      <dgm:prSet/>
      <dgm:spPr/>
      <dgm:t>
        <a:bodyPr/>
        <a:lstStyle/>
        <a:p>
          <a:endParaRPr lang="en-US"/>
        </a:p>
      </dgm:t>
    </dgm:pt>
    <dgm:pt modelId="{2C8973F3-EFEB-45B1-9806-6C645A226AF0}" type="sibTrans" cxnId="{827D235F-4C21-469C-83F0-0C88CBA74FBA}">
      <dgm:prSet/>
      <dgm:spPr/>
      <dgm:t>
        <a:bodyPr/>
        <a:lstStyle/>
        <a:p>
          <a:endParaRPr lang="en-US"/>
        </a:p>
      </dgm:t>
    </dgm:pt>
    <dgm:pt modelId="{D14C0926-6EE4-417C-AC76-6E58E57BE9B8}">
      <dgm:prSet/>
      <dgm:spPr/>
      <dgm:t>
        <a:bodyPr/>
        <a:lstStyle/>
        <a:p>
          <a:r>
            <a:rPr lang="en-US"/>
            <a:t>We find similar differences between the methods when looking at other novels; the NRC sentiment is high, the AFINN sentiment has more variance, the Bing et al. sentiment appears to find longer stretches of similar text, but all three agree roughly on the overall trends in the sentiment through a narrative arc.</a:t>
          </a:r>
        </a:p>
      </dgm:t>
    </dgm:pt>
    <dgm:pt modelId="{454CB8C2-FB89-4097-B2FF-F0E47DDA4521}" type="parTrans" cxnId="{71C9F08C-F596-4A01-A9B7-F29FE525554F}">
      <dgm:prSet/>
      <dgm:spPr/>
      <dgm:t>
        <a:bodyPr/>
        <a:lstStyle/>
        <a:p>
          <a:endParaRPr lang="en-US"/>
        </a:p>
      </dgm:t>
    </dgm:pt>
    <dgm:pt modelId="{1177F550-F209-4A8A-8E07-8BDAC0699F70}" type="sibTrans" cxnId="{71C9F08C-F596-4A01-A9B7-F29FE525554F}">
      <dgm:prSet/>
      <dgm:spPr/>
      <dgm:t>
        <a:bodyPr/>
        <a:lstStyle/>
        <a:p>
          <a:endParaRPr lang="en-US"/>
        </a:p>
      </dgm:t>
    </dgm:pt>
    <dgm:pt modelId="{2CA8B18C-B4D1-468A-AA88-E8E5AAC17372}" type="pres">
      <dgm:prSet presAssocID="{26A6F920-26F0-48F6-89BD-5191DA87A3F0}" presName="root" presStyleCnt="0">
        <dgm:presLayoutVars>
          <dgm:dir/>
          <dgm:resizeHandles val="exact"/>
        </dgm:presLayoutVars>
      </dgm:prSet>
      <dgm:spPr/>
    </dgm:pt>
    <dgm:pt modelId="{22A41E4E-83A1-4E64-8F89-E38591B66511}" type="pres">
      <dgm:prSet presAssocID="{866B82CA-8834-4BED-B481-70E14287492F}" presName="compNode" presStyleCnt="0"/>
      <dgm:spPr/>
    </dgm:pt>
    <dgm:pt modelId="{5C898577-F1BB-43CB-8082-3291BFEF6204}" type="pres">
      <dgm:prSet presAssocID="{866B82CA-8834-4BED-B481-70E14287492F}" presName="bgRect" presStyleLbl="bgShp" presStyleIdx="0" presStyleCnt="5"/>
      <dgm:spPr/>
    </dgm:pt>
    <dgm:pt modelId="{F126AF80-9C5E-430F-8982-1404C3289ACE}" type="pres">
      <dgm:prSet presAssocID="{866B82CA-8834-4BED-B481-70E14287492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61EBF4FA-4674-4BE8-B39D-31474C01C431}" type="pres">
      <dgm:prSet presAssocID="{866B82CA-8834-4BED-B481-70E14287492F}" presName="spaceRect" presStyleCnt="0"/>
      <dgm:spPr/>
    </dgm:pt>
    <dgm:pt modelId="{060E6BD3-CF30-4F53-9E8F-D181EAF7D6F8}" type="pres">
      <dgm:prSet presAssocID="{866B82CA-8834-4BED-B481-70E14287492F}" presName="parTx" presStyleLbl="revTx" presStyleIdx="0" presStyleCnt="5">
        <dgm:presLayoutVars>
          <dgm:chMax val="0"/>
          <dgm:chPref val="0"/>
        </dgm:presLayoutVars>
      </dgm:prSet>
      <dgm:spPr/>
    </dgm:pt>
    <dgm:pt modelId="{47B3BCC4-3863-40B7-9345-0310A0CE640B}" type="pres">
      <dgm:prSet presAssocID="{6BEEFB73-3447-4614-9655-2B913299259C}" presName="sibTrans" presStyleCnt="0"/>
      <dgm:spPr/>
    </dgm:pt>
    <dgm:pt modelId="{DF441564-AFF6-4D53-BBA5-F6494C04B01F}" type="pres">
      <dgm:prSet presAssocID="{FD093C06-5D58-43AF-A64C-B1917E5D1597}" presName="compNode" presStyleCnt="0"/>
      <dgm:spPr/>
    </dgm:pt>
    <dgm:pt modelId="{1D388113-ABE1-4D2F-A110-6C6CF2B3668E}" type="pres">
      <dgm:prSet presAssocID="{FD093C06-5D58-43AF-A64C-B1917E5D1597}" presName="bgRect" presStyleLbl="bgShp" presStyleIdx="1" presStyleCnt="5"/>
      <dgm:spPr/>
    </dgm:pt>
    <dgm:pt modelId="{454C30F1-8ECA-43A9-91BC-3F8D39739EDA}" type="pres">
      <dgm:prSet presAssocID="{FD093C06-5D58-43AF-A64C-B1917E5D159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ximize"/>
        </a:ext>
      </dgm:extLst>
    </dgm:pt>
    <dgm:pt modelId="{2AC214D0-C0EC-4164-BEEA-CC18457F6BAD}" type="pres">
      <dgm:prSet presAssocID="{FD093C06-5D58-43AF-A64C-B1917E5D1597}" presName="spaceRect" presStyleCnt="0"/>
      <dgm:spPr/>
    </dgm:pt>
    <dgm:pt modelId="{9DC83CD6-0C10-4338-A54F-C9848FC3FC01}" type="pres">
      <dgm:prSet presAssocID="{FD093C06-5D58-43AF-A64C-B1917E5D1597}" presName="parTx" presStyleLbl="revTx" presStyleIdx="1" presStyleCnt="5">
        <dgm:presLayoutVars>
          <dgm:chMax val="0"/>
          <dgm:chPref val="0"/>
        </dgm:presLayoutVars>
      </dgm:prSet>
      <dgm:spPr/>
    </dgm:pt>
    <dgm:pt modelId="{390B210B-99B2-4DD4-BDE5-69B9DCCE9B52}" type="pres">
      <dgm:prSet presAssocID="{4538A944-3CF9-4075-9DAB-BA81C79C560B}" presName="sibTrans" presStyleCnt="0"/>
      <dgm:spPr/>
    </dgm:pt>
    <dgm:pt modelId="{F2E35FD5-FB1B-480E-B4E2-414A5EEDE147}" type="pres">
      <dgm:prSet presAssocID="{59DE74A2-0222-4C49-B58B-5D30394051A6}" presName="compNode" presStyleCnt="0"/>
      <dgm:spPr/>
    </dgm:pt>
    <dgm:pt modelId="{B6793C71-B8BF-4174-A65F-56B09DE89EA8}" type="pres">
      <dgm:prSet presAssocID="{59DE74A2-0222-4C49-B58B-5D30394051A6}" presName="bgRect" presStyleLbl="bgShp" presStyleIdx="2" presStyleCnt="5"/>
      <dgm:spPr/>
    </dgm:pt>
    <dgm:pt modelId="{14ED2C32-A53F-46C4-BD26-E42C1F24F01C}" type="pres">
      <dgm:prSet presAssocID="{59DE74A2-0222-4C49-B58B-5D30394051A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7676A2A2-F954-41D8-986D-EF83345ACAF0}" type="pres">
      <dgm:prSet presAssocID="{59DE74A2-0222-4C49-B58B-5D30394051A6}" presName="spaceRect" presStyleCnt="0"/>
      <dgm:spPr/>
    </dgm:pt>
    <dgm:pt modelId="{BA0BE5EC-B543-4366-9861-A55DD860F23B}" type="pres">
      <dgm:prSet presAssocID="{59DE74A2-0222-4C49-B58B-5D30394051A6}" presName="parTx" presStyleLbl="revTx" presStyleIdx="2" presStyleCnt="5">
        <dgm:presLayoutVars>
          <dgm:chMax val="0"/>
          <dgm:chPref val="0"/>
        </dgm:presLayoutVars>
      </dgm:prSet>
      <dgm:spPr/>
    </dgm:pt>
    <dgm:pt modelId="{5B8E10EF-EF23-41B0-B5EF-6834417EBCFC}" type="pres">
      <dgm:prSet presAssocID="{282241FD-04E4-4D5A-8D7C-D8AB74BFBF40}" presName="sibTrans" presStyleCnt="0"/>
      <dgm:spPr/>
    </dgm:pt>
    <dgm:pt modelId="{8F6E7C4E-4F5C-40A3-B240-46B4B7C76333}" type="pres">
      <dgm:prSet presAssocID="{69227C3D-F002-4E82-9112-D5ECCF6B6FBA}" presName="compNode" presStyleCnt="0"/>
      <dgm:spPr/>
    </dgm:pt>
    <dgm:pt modelId="{DD2985AB-7C62-4AC2-AAAF-CA5F62552D0A}" type="pres">
      <dgm:prSet presAssocID="{69227C3D-F002-4E82-9112-D5ECCF6B6FBA}" presName="bgRect" presStyleLbl="bgShp" presStyleIdx="3" presStyleCnt="5"/>
      <dgm:spPr/>
    </dgm:pt>
    <dgm:pt modelId="{475D51BB-4061-4653-9D20-0D092B050488}" type="pres">
      <dgm:prSet presAssocID="{69227C3D-F002-4E82-9112-D5ECCF6B6FB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croscope"/>
        </a:ext>
      </dgm:extLst>
    </dgm:pt>
    <dgm:pt modelId="{19171366-95EC-47CC-93A1-3E195A67CF2B}" type="pres">
      <dgm:prSet presAssocID="{69227C3D-F002-4E82-9112-D5ECCF6B6FBA}" presName="spaceRect" presStyleCnt="0"/>
      <dgm:spPr/>
    </dgm:pt>
    <dgm:pt modelId="{53D58555-ED03-4E33-A879-98AFCF92AA51}" type="pres">
      <dgm:prSet presAssocID="{69227C3D-F002-4E82-9112-D5ECCF6B6FBA}" presName="parTx" presStyleLbl="revTx" presStyleIdx="3" presStyleCnt="5">
        <dgm:presLayoutVars>
          <dgm:chMax val="0"/>
          <dgm:chPref val="0"/>
        </dgm:presLayoutVars>
      </dgm:prSet>
      <dgm:spPr/>
    </dgm:pt>
    <dgm:pt modelId="{ACBF5EC6-14CE-4F68-AFBB-F813852A5223}" type="pres">
      <dgm:prSet presAssocID="{2C8973F3-EFEB-45B1-9806-6C645A226AF0}" presName="sibTrans" presStyleCnt="0"/>
      <dgm:spPr/>
    </dgm:pt>
    <dgm:pt modelId="{7352E8B3-4A8F-450A-A37A-6F36E0347D50}" type="pres">
      <dgm:prSet presAssocID="{D14C0926-6EE4-417C-AC76-6E58E57BE9B8}" presName="compNode" presStyleCnt="0"/>
      <dgm:spPr/>
    </dgm:pt>
    <dgm:pt modelId="{976A9D40-2F9C-4678-A3B0-0F9CA5081A11}" type="pres">
      <dgm:prSet presAssocID="{D14C0926-6EE4-417C-AC76-6E58E57BE9B8}" presName="bgRect" presStyleLbl="bgShp" presStyleIdx="4" presStyleCnt="5"/>
      <dgm:spPr/>
    </dgm:pt>
    <dgm:pt modelId="{DBF5D8C8-6913-4873-8D1F-2DFC36E30CE3}" type="pres">
      <dgm:prSet presAssocID="{D14C0926-6EE4-417C-AC76-6E58E57BE9B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Zoom Out"/>
        </a:ext>
      </dgm:extLst>
    </dgm:pt>
    <dgm:pt modelId="{5DD331AE-61B7-48EF-B903-317D9F857C83}" type="pres">
      <dgm:prSet presAssocID="{D14C0926-6EE4-417C-AC76-6E58E57BE9B8}" presName="spaceRect" presStyleCnt="0"/>
      <dgm:spPr/>
    </dgm:pt>
    <dgm:pt modelId="{9509773B-3A02-4C70-B1B9-AF43F3DD8D0A}" type="pres">
      <dgm:prSet presAssocID="{D14C0926-6EE4-417C-AC76-6E58E57BE9B8}" presName="parTx" presStyleLbl="revTx" presStyleIdx="4" presStyleCnt="5">
        <dgm:presLayoutVars>
          <dgm:chMax val="0"/>
          <dgm:chPref val="0"/>
        </dgm:presLayoutVars>
      </dgm:prSet>
      <dgm:spPr/>
    </dgm:pt>
  </dgm:ptLst>
  <dgm:cxnLst>
    <dgm:cxn modelId="{E48CEB40-9DA5-472B-A663-3470D0C1D60C}" type="presOf" srcId="{26A6F920-26F0-48F6-89BD-5191DA87A3F0}" destId="{2CA8B18C-B4D1-468A-AA88-E8E5AAC17372}" srcOrd="0" destOrd="0" presId="urn:microsoft.com/office/officeart/2018/2/layout/IconVerticalSolidList"/>
    <dgm:cxn modelId="{F7869D5E-8465-4003-B673-CDE5859F4265}" type="presOf" srcId="{69227C3D-F002-4E82-9112-D5ECCF6B6FBA}" destId="{53D58555-ED03-4E33-A879-98AFCF92AA51}" srcOrd="0" destOrd="0" presId="urn:microsoft.com/office/officeart/2018/2/layout/IconVerticalSolidList"/>
    <dgm:cxn modelId="{827D235F-4C21-469C-83F0-0C88CBA74FBA}" srcId="{26A6F920-26F0-48F6-89BD-5191DA87A3F0}" destId="{69227C3D-F002-4E82-9112-D5ECCF6B6FBA}" srcOrd="3" destOrd="0" parTransId="{A534BB5A-38E6-4634-B4AC-ADEF7EB5D627}" sibTransId="{2C8973F3-EFEB-45B1-9806-6C645A226AF0}"/>
    <dgm:cxn modelId="{6696B369-2D5A-4FEF-A8FC-4907A7662A6B}" type="presOf" srcId="{866B82CA-8834-4BED-B481-70E14287492F}" destId="{060E6BD3-CF30-4F53-9E8F-D181EAF7D6F8}" srcOrd="0" destOrd="0" presId="urn:microsoft.com/office/officeart/2018/2/layout/IconVerticalSolidList"/>
    <dgm:cxn modelId="{9618626B-1205-490E-980E-033DEFAF4E15}" srcId="{26A6F920-26F0-48F6-89BD-5191DA87A3F0}" destId="{59DE74A2-0222-4C49-B58B-5D30394051A6}" srcOrd="2" destOrd="0" parTransId="{88C355A4-4BD7-491B-AE28-7573FAB3185C}" sibTransId="{282241FD-04E4-4D5A-8D7C-D8AB74BFBF40}"/>
    <dgm:cxn modelId="{71C9F08C-F596-4A01-A9B7-F29FE525554F}" srcId="{26A6F920-26F0-48F6-89BD-5191DA87A3F0}" destId="{D14C0926-6EE4-417C-AC76-6E58E57BE9B8}" srcOrd="4" destOrd="0" parTransId="{454CB8C2-FB89-4097-B2FF-F0E47DDA4521}" sibTransId="{1177F550-F209-4A8A-8E07-8BDAC0699F70}"/>
    <dgm:cxn modelId="{D193D692-83AA-4F3F-A6F7-DDA3BD7E3D1B}" type="presOf" srcId="{59DE74A2-0222-4C49-B58B-5D30394051A6}" destId="{BA0BE5EC-B543-4366-9861-A55DD860F23B}" srcOrd="0" destOrd="0" presId="urn:microsoft.com/office/officeart/2018/2/layout/IconVerticalSolidList"/>
    <dgm:cxn modelId="{3B805A9F-CE49-475E-91AB-1EE3A5766F9B}" type="presOf" srcId="{FD093C06-5D58-43AF-A64C-B1917E5D1597}" destId="{9DC83CD6-0C10-4338-A54F-C9848FC3FC01}" srcOrd="0" destOrd="0" presId="urn:microsoft.com/office/officeart/2018/2/layout/IconVerticalSolidList"/>
    <dgm:cxn modelId="{136C12A3-37F2-466E-A186-34A106B9E7AC}" type="presOf" srcId="{D14C0926-6EE4-417C-AC76-6E58E57BE9B8}" destId="{9509773B-3A02-4C70-B1B9-AF43F3DD8D0A}" srcOrd="0" destOrd="0" presId="urn:microsoft.com/office/officeart/2018/2/layout/IconVerticalSolidList"/>
    <dgm:cxn modelId="{223A3CC2-DB3C-4CF5-8A82-79139551E3D4}" srcId="{26A6F920-26F0-48F6-89BD-5191DA87A3F0}" destId="{866B82CA-8834-4BED-B481-70E14287492F}" srcOrd="0" destOrd="0" parTransId="{B6B0E19A-4D43-4C89-999F-31309CCB23E1}" sibTransId="{6BEEFB73-3447-4614-9655-2B913299259C}"/>
    <dgm:cxn modelId="{D5D070EE-B046-4904-8117-ABB4CC3B6612}" srcId="{26A6F920-26F0-48F6-89BD-5191DA87A3F0}" destId="{FD093C06-5D58-43AF-A64C-B1917E5D1597}" srcOrd="1" destOrd="0" parTransId="{EE74FA5A-EAF7-4A28-B649-7DD764780D18}" sibTransId="{4538A944-3CF9-4075-9DAB-BA81C79C560B}"/>
    <dgm:cxn modelId="{930C0043-C161-42BB-B21A-3E26F4D4FD0F}" type="presParOf" srcId="{2CA8B18C-B4D1-468A-AA88-E8E5AAC17372}" destId="{22A41E4E-83A1-4E64-8F89-E38591B66511}" srcOrd="0" destOrd="0" presId="urn:microsoft.com/office/officeart/2018/2/layout/IconVerticalSolidList"/>
    <dgm:cxn modelId="{A181A06D-CD45-481F-B398-25A55DA10D15}" type="presParOf" srcId="{22A41E4E-83A1-4E64-8F89-E38591B66511}" destId="{5C898577-F1BB-43CB-8082-3291BFEF6204}" srcOrd="0" destOrd="0" presId="urn:microsoft.com/office/officeart/2018/2/layout/IconVerticalSolidList"/>
    <dgm:cxn modelId="{80FAEE91-246E-4014-A23A-11E297F8AABC}" type="presParOf" srcId="{22A41E4E-83A1-4E64-8F89-E38591B66511}" destId="{F126AF80-9C5E-430F-8982-1404C3289ACE}" srcOrd="1" destOrd="0" presId="urn:microsoft.com/office/officeart/2018/2/layout/IconVerticalSolidList"/>
    <dgm:cxn modelId="{346074FB-A18A-4324-ABC8-3C44E592E594}" type="presParOf" srcId="{22A41E4E-83A1-4E64-8F89-E38591B66511}" destId="{61EBF4FA-4674-4BE8-B39D-31474C01C431}" srcOrd="2" destOrd="0" presId="urn:microsoft.com/office/officeart/2018/2/layout/IconVerticalSolidList"/>
    <dgm:cxn modelId="{3765BB18-C5A1-4B03-9288-AB17226459DB}" type="presParOf" srcId="{22A41E4E-83A1-4E64-8F89-E38591B66511}" destId="{060E6BD3-CF30-4F53-9E8F-D181EAF7D6F8}" srcOrd="3" destOrd="0" presId="urn:microsoft.com/office/officeart/2018/2/layout/IconVerticalSolidList"/>
    <dgm:cxn modelId="{213AE18F-50A0-4F3C-A355-BD1CED67C8B4}" type="presParOf" srcId="{2CA8B18C-B4D1-468A-AA88-E8E5AAC17372}" destId="{47B3BCC4-3863-40B7-9345-0310A0CE640B}" srcOrd="1" destOrd="0" presId="urn:microsoft.com/office/officeart/2018/2/layout/IconVerticalSolidList"/>
    <dgm:cxn modelId="{7F871883-D44F-45CB-9CB2-02BBE9E4B6D8}" type="presParOf" srcId="{2CA8B18C-B4D1-468A-AA88-E8E5AAC17372}" destId="{DF441564-AFF6-4D53-BBA5-F6494C04B01F}" srcOrd="2" destOrd="0" presId="urn:microsoft.com/office/officeart/2018/2/layout/IconVerticalSolidList"/>
    <dgm:cxn modelId="{4F372EAA-CDE7-4B7C-AE70-F23FCE67B3A3}" type="presParOf" srcId="{DF441564-AFF6-4D53-BBA5-F6494C04B01F}" destId="{1D388113-ABE1-4D2F-A110-6C6CF2B3668E}" srcOrd="0" destOrd="0" presId="urn:microsoft.com/office/officeart/2018/2/layout/IconVerticalSolidList"/>
    <dgm:cxn modelId="{B94B4B1C-A2E7-4800-B2C3-FAF7D3CC7CA0}" type="presParOf" srcId="{DF441564-AFF6-4D53-BBA5-F6494C04B01F}" destId="{454C30F1-8ECA-43A9-91BC-3F8D39739EDA}" srcOrd="1" destOrd="0" presId="urn:microsoft.com/office/officeart/2018/2/layout/IconVerticalSolidList"/>
    <dgm:cxn modelId="{DB3580AC-5251-40F2-ADA5-C12E9B7549BB}" type="presParOf" srcId="{DF441564-AFF6-4D53-BBA5-F6494C04B01F}" destId="{2AC214D0-C0EC-4164-BEEA-CC18457F6BAD}" srcOrd="2" destOrd="0" presId="urn:microsoft.com/office/officeart/2018/2/layout/IconVerticalSolidList"/>
    <dgm:cxn modelId="{35A70929-0EB1-45CC-986F-33929E1CC520}" type="presParOf" srcId="{DF441564-AFF6-4D53-BBA5-F6494C04B01F}" destId="{9DC83CD6-0C10-4338-A54F-C9848FC3FC01}" srcOrd="3" destOrd="0" presId="urn:microsoft.com/office/officeart/2018/2/layout/IconVerticalSolidList"/>
    <dgm:cxn modelId="{36A6ED20-C48B-40A5-B0D1-79EA5376DDFC}" type="presParOf" srcId="{2CA8B18C-B4D1-468A-AA88-E8E5AAC17372}" destId="{390B210B-99B2-4DD4-BDE5-69B9DCCE9B52}" srcOrd="3" destOrd="0" presId="urn:microsoft.com/office/officeart/2018/2/layout/IconVerticalSolidList"/>
    <dgm:cxn modelId="{896F2612-4773-4536-802B-582426F4CFEE}" type="presParOf" srcId="{2CA8B18C-B4D1-468A-AA88-E8E5AAC17372}" destId="{F2E35FD5-FB1B-480E-B4E2-414A5EEDE147}" srcOrd="4" destOrd="0" presId="urn:microsoft.com/office/officeart/2018/2/layout/IconVerticalSolidList"/>
    <dgm:cxn modelId="{B773539E-53C5-4CDB-B11E-EDCDD79566C6}" type="presParOf" srcId="{F2E35FD5-FB1B-480E-B4E2-414A5EEDE147}" destId="{B6793C71-B8BF-4174-A65F-56B09DE89EA8}" srcOrd="0" destOrd="0" presId="urn:microsoft.com/office/officeart/2018/2/layout/IconVerticalSolidList"/>
    <dgm:cxn modelId="{F886DC13-7EF2-451C-8ACC-D5ED1A2D0336}" type="presParOf" srcId="{F2E35FD5-FB1B-480E-B4E2-414A5EEDE147}" destId="{14ED2C32-A53F-46C4-BD26-E42C1F24F01C}" srcOrd="1" destOrd="0" presId="urn:microsoft.com/office/officeart/2018/2/layout/IconVerticalSolidList"/>
    <dgm:cxn modelId="{453349CA-4F77-4386-9995-5E12C17EA744}" type="presParOf" srcId="{F2E35FD5-FB1B-480E-B4E2-414A5EEDE147}" destId="{7676A2A2-F954-41D8-986D-EF83345ACAF0}" srcOrd="2" destOrd="0" presId="urn:microsoft.com/office/officeart/2018/2/layout/IconVerticalSolidList"/>
    <dgm:cxn modelId="{B5DB996C-C92C-4A18-AB91-D9FCE745DDF1}" type="presParOf" srcId="{F2E35FD5-FB1B-480E-B4E2-414A5EEDE147}" destId="{BA0BE5EC-B543-4366-9861-A55DD860F23B}" srcOrd="3" destOrd="0" presId="urn:microsoft.com/office/officeart/2018/2/layout/IconVerticalSolidList"/>
    <dgm:cxn modelId="{0C96D2EA-F0F2-4AE5-8764-16C3EB43A1FC}" type="presParOf" srcId="{2CA8B18C-B4D1-468A-AA88-E8E5AAC17372}" destId="{5B8E10EF-EF23-41B0-B5EF-6834417EBCFC}" srcOrd="5" destOrd="0" presId="urn:microsoft.com/office/officeart/2018/2/layout/IconVerticalSolidList"/>
    <dgm:cxn modelId="{47292AB7-ED58-4297-BCA2-91A136FBD099}" type="presParOf" srcId="{2CA8B18C-B4D1-468A-AA88-E8E5AAC17372}" destId="{8F6E7C4E-4F5C-40A3-B240-46B4B7C76333}" srcOrd="6" destOrd="0" presId="urn:microsoft.com/office/officeart/2018/2/layout/IconVerticalSolidList"/>
    <dgm:cxn modelId="{BEACC783-9BE7-449A-B840-21150A250572}" type="presParOf" srcId="{8F6E7C4E-4F5C-40A3-B240-46B4B7C76333}" destId="{DD2985AB-7C62-4AC2-AAAF-CA5F62552D0A}" srcOrd="0" destOrd="0" presId="urn:microsoft.com/office/officeart/2018/2/layout/IconVerticalSolidList"/>
    <dgm:cxn modelId="{9A4E4913-2F64-4941-AFC5-F31627574034}" type="presParOf" srcId="{8F6E7C4E-4F5C-40A3-B240-46B4B7C76333}" destId="{475D51BB-4061-4653-9D20-0D092B050488}" srcOrd="1" destOrd="0" presId="urn:microsoft.com/office/officeart/2018/2/layout/IconVerticalSolidList"/>
    <dgm:cxn modelId="{C704B18E-A880-4E9E-8118-6370F94CAA87}" type="presParOf" srcId="{8F6E7C4E-4F5C-40A3-B240-46B4B7C76333}" destId="{19171366-95EC-47CC-93A1-3E195A67CF2B}" srcOrd="2" destOrd="0" presId="urn:microsoft.com/office/officeart/2018/2/layout/IconVerticalSolidList"/>
    <dgm:cxn modelId="{B4B830B7-D577-4DB9-B5A9-D2E9D1E0612A}" type="presParOf" srcId="{8F6E7C4E-4F5C-40A3-B240-46B4B7C76333}" destId="{53D58555-ED03-4E33-A879-98AFCF92AA51}" srcOrd="3" destOrd="0" presId="urn:microsoft.com/office/officeart/2018/2/layout/IconVerticalSolidList"/>
    <dgm:cxn modelId="{603203D2-B362-4C4B-A871-B1ABADBCD5A5}" type="presParOf" srcId="{2CA8B18C-B4D1-468A-AA88-E8E5AAC17372}" destId="{ACBF5EC6-14CE-4F68-AFBB-F813852A5223}" srcOrd="7" destOrd="0" presId="urn:microsoft.com/office/officeart/2018/2/layout/IconVerticalSolidList"/>
    <dgm:cxn modelId="{CE825285-6754-4397-845E-90BD13D5D2CC}" type="presParOf" srcId="{2CA8B18C-B4D1-468A-AA88-E8E5AAC17372}" destId="{7352E8B3-4A8F-450A-A37A-6F36E0347D50}" srcOrd="8" destOrd="0" presId="urn:microsoft.com/office/officeart/2018/2/layout/IconVerticalSolidList"/>
    <dgm:cxn modelId="{718ED25E-609A-438E-B445-3F062AAF2304}" type="presParOf" srcId="{7352E8B3-4A8F-450A-A37A-6F36E0347D50}" destId="{976A9D40-2F9C-4678-A3B0-0F9CA5081A11}" srcOrd="0" destOrd="0" presId="urn:microsoft.com/office/officeart/2018/2/layout/IconVerticalSolidList"/>
    <dgm:cxn modelId="{B8D80A65-F600-4774-9868-DE6FD4B83A75}" type="presParOf" srcId="{7352E8B3-4A8F-450A-A37A-6F36E0347D50}" destId="{DBF5D8C8-6913-4873-8D1F-2DFC36E30CE3}" srcOrd="1" destOrd="0" presId="urn:microsoft.com/office/officeart/2018/2/layout/IconVerticalSolidList"/>
    <dgm:cxn modelId="{8AB32FB1-3A9B-40B9-A3D1-3BBC15441719}" type="presParOf" srcId="{7352E8B3-4A8F-450A-A37A-6F36E0347D50}" destId="{5DD331AE-61B7-48EF-B903-317D9F857C83}" srcOrd="2" destOrd="0" presId="urn:microsoft.com/office/officeart/2018/2/layout/IconVerticalSolidList"/>
    <dgm:cxn modelId="{8AB27FD1-D871-450B-93BD-F4891427F80F}" type="presParOf" srcId="{7352E8B3-4A8F-450A-A37A-6F36E0347D50}" destId="{9509773B-3A02-4C70-B1B9-AF43F3DD8D0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90FE63E-E066-40D9-91D2-677A34FEF232}"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E1338C19-E6CB-4A6E-B2F0-42B5FF90A3F0}">
      <dgm:prSet/>
      <dgm:spPr/>
      <dgm:t>
        <a:bodyPr/>
        <a:lstStyle/>
        <a:p>
          <a:r>
            <a:rPr lang="en-US"/>
            <a:t>Lots of useful work can be done by tokenizing at the word level, but sometimes it is useful or necessary to look at different units of text. </a:t>
          </a:r>
        </a:p>
      </dgm:t>
    </dgm:pt>
    <dgm:pt modelId="{B8D88B81-CBA2-40D6-86A8-23D514D024E3}" type="parTrans" cxnId="{FBC3F3DC-397F-4C55-AD44-2C8EEE80EB9D}">
      <dgm:prSet/>
      <dgm:spPr/>
      <dgm:t>
        <a:bodyPr/>
        <a:lstStyle/>
        <a:p>
          <a:endParaRPr lang="en-US"/>
        </a:p>
      </dgm:t>
    </dgm:pt>
    <dgm:pt modelId="{B790ACE9-AB85-4343-83A7-30414B701C1E}" type="sibTrans" cxnId="{FBC3F3DC-397F-4C55-AD44-2C8EEE80EB9D}">
      <dgm:prSet/>
      <dgm:spPr/>
      <dgm:t>
        <a:bodyPr/>
        <a:lstStyle/>
        <a:p>
          <a:endParaRPr lang="en-US"/>
        </a:p>
      </dgm:t>
    </dgm:pt>
    <dgm:pt modelId="{4ECD172E-A56E-4C4B-9B56-956D54D7BDB4}">
      <dgm:prSet/>
      <dgm:spPr/>
      <dgm:t>
        <a:bodyPr/>
        <a:lstStyle/>
        <a:p>
          <a:r>
            <a:rPr lang="en-US"/>
            <a:t>For example, some sentiment analysis algorithms look beyond only unigrams (i.e. single words) to try to understand the sentiment of a sentence as a whole</a:t>
          </a:r>
        </a:p>
      </dgm:t>
    </dgm:pt>
    <dgm:pt modelId="{58E8C96A-E3D5-4B6A-ACD9-0EC8A5CBCB0D}" type="parTrans" cxnId="{FF64BAF9-55CE-4B27-859A-B6CB25404CA4}">
      <dgm:prSet/>
      <dgm:spPr/>
      <dgm:t>
        <a:bodyPr/>
        <a:lstStyle/>
        <a:p>
          <a:endParaRPr lang="en-US"/>
        </a:p>
      </dgm:t>
    </dgm:pt>
    <dgm:pt modelId="{B51B68F5-C91D-41C1-B2F0-226A3CE1C205}" type="sibTrans" cxnId="{FF64BAF9-55CE-4B27-859A-B6CB25404CA4}">
      <dgm:prSet/>
      <dgm:spPr/>
      <dgm:t>
        <a:bodyPr/>
        <a:lstStyle/>
        <a:p>
          <a:endParaRPr lang="en-US"/>
        </a:p>
      </dgm:t>
    </dgm:pt>
    <dgm:pt modelId="{E9D8275F-F812-4BB1-BF0A-F34B93E4EB94}">
      <dgm:prSet/>
      <dgm:spPr/>
      <dgm:t>
        <a:bodyPr/>
        <a:lstStyle/>
        <a:p>
          <a:r>
            <a:rPr lang="en-US"/>
            <a:t>These algorithms try to understand that "I am not having a good day." is a sad sentence, not a happy one, because of negation</a:t>
          </a:r>
        </a:p>
      </dgm:t>
    </dgm:pt>
    <dgm:pt modelId="{92E1F163-E7CE-4174-879D-840527DB9D51}" type="parTrans" cxnId="{47B3EFFE-290E-4E51-A966-442DB2288293}">
      <dgm:prSet/>
      <dgm:spPr/>
      <dgm:t>
        <a:bodyPr/>
        <a:lstStyle/>
        <a:p>
          <a:endParaRPr lang="en-US"/>
        </a:p>
      </dgm:t>
    </dgm:pt>
    <dgm:pt modelId="{BD980950-B402-4799-8410-0DDD7EAF0BD1}" type="sibTrans" cxnId="{47B3EFFE-290E-4E51-A966-442DB2288293}">
      <dgm:prSet/>
      <dgm:spPr/>
      <dgm:t>
        <a:bodyPr/>
        <a:lstStyle/>
        <a:p>
          <a:endParaRPr lang="en-US"/>
        </a:p>
      </dgm:t>
    </dgm:pt>
    <dgm:pt modelId="{E461AA26-0DCF-4BF7-AD91-E3B070440D20}" type="pres">
      <dgm:prSet presAssocID="{290FE63E-E066-40D9-91D2-677A34FEF232}" presName="outerComposite" presStyleCnt="0">
        <dgm:presLayoutVars>
          <dgm:chMax val="5"/>
          <dgm:dir/>
          <dgm:resizeHandles val="exact"/>
        </dgm:presLayoutVars>
      </dgm:prSet>
      <dgm:spPr/>
    </dgm:pt>
    <dgm:pt modelId="{A405F131-468D-428F-B691-609B726E1616}" type="pres">
      <dgm:prSet presAssocID="{290FE63E-E066-40D9-91D2-677A34FEF232}" presName="dummyMaxCanvas" presStyleCnt="0">
        <dgm:presLayoutVars/>
      </dgm:prSet>
      <dgm:spPr/>
    </dgm:pt>
    <dgm:pt modelId="{A0A20D02-47AD-4420-B4FE-82E2CD88C1FD}" type="pres">
      <dgm:prSet presAssocID="{290FE63E-E066-40D9-91D2-677A34FEF232}" presName="ThreeNodes_1" presStyleLbl="node1" presStyleIdx="0" presStyleCnt="3">
        <dgm:presLayoutVars>
          <dgm:bulletEnabled val="1"/>
        </dgm:presLayoutVars>
      </dgm:prSet>
      <dgm:spPr/>
    </dgm:pt>
    <dgm:pt modelId="{9E292B94-F74C-44D5-A9F0-0B820407D8D4}" type="pres">
      <dgm:prSet presAssocID="{290FE63E-E066-40D9-91D2-677A34FEF232}" presName="ThreeNodes_2" presStyleLbl="node1" presStyleIdx="1" presStyleCnt="3">
        <dgm:presLayoutVars>
          <dgm:bulletEnabled val="1"/>
        </dgm:presLayoutVars>
      </dgm:prSet>
      <dgm:spPr/>
    </dgm:pt>
    <dgm:pt modelId="{58ED1B32-323C-4B09-8145-CC86FC802B42}" type="pres">
      <dgm:prSet presAssocID="{290FE63E-E066-40D9-91D2-677A34FEF232}" presName="ThreeNodes_3" presStyleLbl="node1" presStyleIdx="2" presStyleCnt="3">
        <dgm:presLayoutVars>
          <dgm:bulletEnabled val="1"/>
        </dgm:presLayoutVars>
      </dgm:prSet>
      <dgm:spPr/>
    </dgm:pt>
    <dgm:pt modelId="{7F05C2C4-AEB7-4AF7-8B4C-E5AAEF6B4EA4}" type="pres">
      <dgm:prSet presAssocID="{290FE63E-E066-40D9-91D2-677A34FEF232}" presName="ThreeConn_1-2" presStyleLbl="fgAccFollowNode1" presStyleIdx="0" presStyleCnt="2">
        <dgm:presLayoutVars>
          <dgm:bulletEnabled val="1"/>
        </dgm:presLayoutVars>
      </dgm:prSet>
      <dgm:spPr/>
    </dgm:pt>
    <dgm:pt modelId="{37D307D4-2244-4E2E-B93B-94DF83BB883E}" type="pres">
      <dgm:prSet presAssocID="{290FE63E-E066-40D9-91D2-677A34FEF232}" presName="ThreeConn_2-3" presStyleLbl="fgAccFollowNode1" presStyleIdx="1" presStyleCnt="2">
        <dgm:presLayoutVars>
          <dgm:bulletEnabled val="1"/>
        </dgm:presLayoutVars>
      </dgm:prSet>
      <dgm:spPr/>
    </dgm:pt>
    <dgm:pt modelId="{25D8ACD4-EDF6-4D08-9FF9-A7ECB2BAB27D}" type="pres">
      <dgm:prSet presAssocID="{290FE63E-E066-40D9-91D2-677A34FEF232}" presName="ThreeNodes_1_text" presStyleLbl="node1" presStyleIdx="2" presStyleCnt="3">
        <dgm:presLayoutVars>
          <dgm:bulletEnabled val="1"/>
        </dgm:presLayoutVars>
      </dgm:prSet>
      <dgm:spPr/>
    </dgm:pt>
    <dgm:pt modelId="{DFE3B682-9342-4167-9FBE-F3E6EF1825B7}" type="pres">
      <dgm:prSet presAssocID="{290FE63E-E066-40D9-91D2-677A34FEF232}" presName="ThreeNodes_2_text" presStyleLbl="node1" presStyleIdx="2" presStyleCnt="3">
        <dgm:presLayoutVars>
          <dgm:bulletEnabled val="1"/>
        </dgm:presLayoutVars>
      </dgm:prSet>
      <dgm:spPr/>
    </dgm:pt>
    <dgm:pt modelId="{5B4A8C44-607F-4BEE-B7E2-BD26828B12B1}" type="pres">
      <dgm:prSet presAssocID="{290FE63E-E066-40D9-91D2-677A34FEF232}" presName="ThreeNodes_3_text" presStyleLbl="node1" presStyleIdx="2" presStyleCnt="3">
        <dgm:presLayoutVars>
          <dgm:bulletEnabled val="1"/>
        </dgm:presLayoutVars>
      </dgm:prSet>
      <dgm:spPr/>
    </dgm:pt>
  </dgm:ptLst>
  <dgm:cxnLst>
    <dgm:cxn modelId="{512E7A24-AFAC-40F4-9FA5-597D65CB1F0C}" type="presOf" srcId="{E1338C19-E6CB-4A6E-B2F0-42B5FF90A3F0}" destId="{A0A20D02-47AD-4420-B4FE-82E2CD88C1FD}" srcOrd="0" destOrd="0" presId="urn:microsoft.com/office/officeart/2005/8/layout/vProcess5"/>
    <dgm:cxn modelId="{9C663928-4864-45A5-BF70-BD17993A68C7}" type="presOf" srcId="{E9D8275F-F812-4BB1-BF0A-F34B93E4EB94}" destId="{5B4A8C44-607F-4BEE-B7E2-BD26828B12B1}" srcOrd="1" destOrd="0" presId="urn:microsoft.com/office/officeart/2005/8/layout/vProcess5"/>
    <dgm:cxn modelId="{86719037-92FF-4FE4-A32B-E0BC42E0207E}" type="presOf" srcId="{B51B68F5-C91D-41C1-B2F0-226A3CE1C205}" destId="{37D307D4-2244-4E2E-B93B-94DF83BB883E}" srcOrd="0" destOrd="0" presId="urn:microsoft.com/office/officeart/2005/8/layout/vProcess5"/>
    <dgm:cxn modelId="{6DDF3D4C-8283-4497-97ED-1DC7A2FE67E2}" type="presOf" srcId="{E9D8275F-F812-4BB1-BF0A-F34B93E4EB94}" destId="{58ED1B32-323C-4B09-8145-CC86FC802B42}" srcOrd="0" destOrd="0" presId="urn:microsoft.com/office/officeart/2005/8/layout/vProcess5"/>
    <dgm:cxn modelId="{11292B51-BF73-4064-AE4A-4759567A5241}" type="presOf" srcId="{E1338C19-E6CB-4A6E-B2F0-42B5FF90A3F0}" destId="{25D8ACD4-EDF6-4D08-9FF9-A7ECB2BAB27D}" srcOrd="1" destOrd="0" presId="urn:microsoft.com/office/officeart/2005/8/layout/vProcess5"/>
    <dgm:cxn modelId="{97B74256-2220-4D19-8A86-F611D058B7A1}" type="presOf" srcId="{4ECD172E-A56E-4C4B-9B56-956D54D7BDB4}" destId="{DFE3B682-9342-4167-9FBE-F3E6EF1825B7}" srcOrd="1" destOrd="0" presId="urn:microsoft.com/office/officeart/2005/8/layout/vProcess5"/>
    <dgm:cxn modelId="{4180E379-A2EF-4940-9F7A-BF57D650D77E}" type="presOf" srcId="{B790ACE9-AB85-4343-83A7-30414B701C1E}" destId="{7F05C2C4-AEB7-4AF7-8B4C-E5AAEF6B4EA4}" srcOrd="0" destOrd="0" presId="urn:microsoft.com/office/officeart/2005/8/layout/vProcess5"/>
    <dgm:cxn modelId="{D0EFD7C2-9728-4BC3-B272-58A8505EE805}" type="presOf" srcId="{290FE63E-E066-40D9-91D2-677A34FEF232}" destId="{E461AA26-0DCF-4BF7-AD91-E3B070440D20}" srcOrd="0" destOrd="0" presId="urn:microsoft.com/office/officeart/2005/8/layout/vProcess5"/>
    <dgm:cxn modelId="{FBC3F3DC-397F-4C55-AD44-2C8EEE80EB9D}" srcId="{290FE63E-E066-40D9-91D2-677A34FEF232}" destId="{E1338C19-E6CB-4A6E-B2F0-42B5FF90A3F0}" srcOrd="0" destOrd="0" parTransId="{B8D88B81-CBA2-40D6-86A8-23D514D024E3}" sibTransId="{B790ACE9-AB85-4343-83A7-30414B701C1E}"/>
    <dgm:cxn modelId="{FF64BAF9-55CE-4B27-859A-B6CB25404CA4}" srcId="{290FE63E-E066-40D9-91D2-677A34FEF232}" destId="{4ECD172E-A56E-4C4B-9B56-956D54D7BDB4}" srcOrd="1" destOrd="0" parTransId="{58E8C96A-E3D5-4B6A-ACD9-0EC8A5CBCB0D}" sibTransId="{B51B68F5-C91D-41C1-B2F0-226A3CE1C205}"/>
    <dgm:cxn modelId="{644CE6FA-8D56-4B90-A769-E54F04513018}" type="presOf" srcId="{4ECD172E-A56E-4C4B-9B56-956D54D7BDB4}" destId="{9E292B94-F74C-44D5-A9F0-0B820407D8D4}" srcOrd="0" destOrd="0" presId="urn:microsoft.com/office/officeart/2005/8/layout/vProcess5"/>
    <dgm:cxn modelId="{47B3EFFE-290E-4E51-A966-442DB2288293}" srcId="{290FE63E-E066-40D9-91D2-677A34FEF232}" destId="{E9D8275F-F812-4BB1-BF0A-F34B93E4EB94}" srcOrd="2" destOrd="0" parTransId="{92E1F163-E7CE-4174-879D-840527DB9D51}" sibTransId="{BD980950-B402-4799-8410-0DDD7EAF0BD1}"/>
    <dgm:cxn modelId="{95357C6C-AAF6-4C84-9177-16CB1A15F931}" type="presParOf" srcId="{E461AA26-0DCF-4BF7-AD91-E3B070440D20}" destId="{A405F131-468D-428F-B691-609B726E1616}" srcOrd="0" destOrd="0" presId="urn:microsoft.com/office/officeart/2005/8/layout/vProcess5"/>
    <dgm:cxn modelId="{D8FCE003-DACB-4C8C-9847-459F366ABEE9}" type="presParOf" srcId="{E461AA26-0DCF-4BF7-AD91-E3B070440D20}" destId="{A0A20D02-47AD-4420-B4FE-82E2CD88C1FD}" srcOrd="1" destOrd="0" presId="urn:microsoft.com/office/officeart/2005/8/layout/vProcess5"/>
    <dgm:cxn modelId="{B3012756-078C-4A3C-A793-B26982489A0C}" type="presParOf" srcId="{E461AA26-0DCF-4BF7-AD91-E3B070440D20}" destId="{9E292B94-F74C-44D5-A9F0-0B820407D8D4}" srcOrd="2" destOrd="0" presId="urn:microsoft.com/office/officeart/2005/8/layout/vProcess5"/>
    <dgm:cxn modelId="{F06AE448-B922-4BE0-A8A1-25C7FC08A4F9}" type="presParOf" srcId="{E461AA26-0DCF-4BF7-AD91-E3B070440D20}" destId="{58ED1B32-323C-4B09-8145-CC86FC802B42}" srcOrd="3" destOrd="0" presId="urn:microsoft.com/office/officeart/2005/8/layout/vProcess5"/>
    <dgm:cxn modelId="{1F7FD220-B869-43DF-B881-EA05EE946D5C}" type="presParOf" srcId="{E461AA26-0DCF-4BF7-AD91-E3B070440D20}" destId="{7F05C2C4-AEB7-4AF7-8B4C-E5AAEF6B4EA4}" srcOrd="4" destOrd="0" presId="urn:microsoft.com/office/officeart/2005/8/layout/vProcess5"/>
    <dgm:cxn modelId="{E14AA25B-130E-46BF-8BE6-53B5F5F86C4F}" type="presParOf" srcId="{E461AA26-0DCF-4BF7-AD91-E3B070440D20}" destId="{37D307D4-2244-4E2E-B93B-94DF83BB883E}" srcOrd="5" destOrd="0" presId="urn:microsoft.com/office/officeart/2005/8/layout/vProcess5"/>
    <dgm:cxn modelId="{0195A32D-059A-4A3B-A83F-DF19A4D8FCAD}" type="presParOf" srcId="{E461AA26-0DCF-4BF7-AD91-E3B070440D20}" destId="{25D8ACD4-EDF6-4D08-9FF9-A7ECB2BAB27D}" srcOrd="6" destOrd="0" presId="urn:microsoft.com/office/officeart/2005/8/layout/vProcess5"/>
    <dgm:cxn modelId="{3FFAE3AD-FAA0-470A-B0B0-6FA80672DE1B}" type="presParOf" srcId="{E461AA26-0DCF-4BF7-AD91-E3B070440D20}" destId="{DFE3B682-9342-4167-9FBE-F3E6EF1825B7}" srcOrd="7" destOrd="0" presId="urn:microsoft.com/office/officeart/2005/8/layout/vProcess5"/>
    <dgm:cxn modelId="{4663EE65-2475-4993-8AFE-804C98601491}" type="presParOf" srcId="{E461AA26-0DCF-4BF7-AD91-E3B070440D20}" destId="{5B4A8C44-607F-4BEE-B7E2-BD26828B12B1}"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12FD8-3E41-4B62-AE9F-E34B4928F707}">
      <dsp:nvSpPr>
        <dsp:cNvPr id="0" name=""/>
        <dsp:cNvSpPr/>
      </dsp:nvSpPr>
      <dsp:spPr>
        <a:xfrm>
          <a:off x="0" y="1903"/>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693D0E-3940-4811-987F-3148F222C1BE}">
      <dsp:nvSpPr>
        <dsp:cNvPr id="0" name=""/>
        <dsp:cNvSpPr/>
      </dsp:nvSpPr>
      <dsp:spPr>
        <a:xfrm>
          <a:off x="245405" y="184436"/>
          <a:ext cx="446191" cy="4461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20D5F2-6ABF-479B-BBE7-08B4196D61C6}">
      <dsp:nvSpPr>
        <dsp:cNvPr id="0" name=""/>
        <dsp:cNvSpPr/>
      </dsp:nvSpPr>
      <dsp:spPr>
        <a:xfrm>
          <a:off x="937002" y="1903"/>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Different sentiment scales </a:t>
          </a:r>
        </a:p>
      </dsp:txBody>
      <dsp:txXfrm>
        <a:off x="937002" y="1903"/>
        <a:ext cx="5576601" cy="811257"/>
      </dsp:txXfrm>
    </dsp:sp>
    <dsp:sp modelId="{7B123A89-AD88-49E6-A410-A50C53DC15BB}">
      <dsp:nvSpPr>
        <dsp:cNvPr id="0" name=""/>
        <dsp:cNvSpPr/>
      </dsp:nvSpPr>
      <dsp:spPr>
        <a:xfrm>
          <a:off x="0" y="1015975"/>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A1392-9280-4E0E-9199-E16F0231BFCD}">
      <dsp:nvSpPr>
        <dsp:cNvPr id="0" name=""/>
        <dsp:cNvSpPr/>
      </dsp:nvSpPr>
      <dsp:spPr>
        <a:xfrm>
          <a:off x="245405" y="1198508"/>
          <a:ext cx="446191" cy="4461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A52E39-3551-4322-88FC-E4BEDC1E196F}">
      <dsp:nvSpPr>
        <dsp:cNvPr id="0" name=""/>
        <dsp:cNvSpPr/>
      </dsp:nvSpPr>
      <dsp:spPr>
        <a:xfrm>
          <a:off x="937002" y="1015975"/>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How to find and plot sentiments with different books</a:t>
          </a:r>
        </a:p>
      </dsp:txBody>
      <dsp:txXfrm>
        <a:off x="937002" y="1015975"/>
        <a:ext cx="5576601" cy="811257"/>
      </dsp:txXfrm>
    </dsp:sp>
    <dsp:sp modelId="{9F329448-C376-4D45-B3AB-84FC905140B1}">
      <dsp:nvSpPr>
        <dsp:cNvPr id="0" name=""/>
        <dsp:cNvSpPr/>
      </dsp:nvSpPr>
      <dsp:spPr>
        <a:xfrm>
          <a:off x="0" y="2030048"/>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AB125F-46D6-4743-96E3-98B4CAEB91D8}">
      <dsp:nvSpPr>
        <dsp:cNvPr id="0" name=""/>
        <dsp:cNvSpPr/>
      </dsp:nvSpPr>
      <dsp:spPr>
        <a:xfrm>
          <a:off x="245405" y="2212581"/>
          <a:ext cx="446191" cy="4461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63833C-BE69-49F1-8111-72D30F977B1C}">
      <dsp:nvSpPr>
        <dsp:cNvPr id="0" name=""/>
        <dsp:cNvSpPr/>
      </dsp:nvSpPr>
      <dsp:spPr>
        <a:xfrm>
          <a:off x="937002" y="2030048"/>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Comparing the sentiment dictionaries</a:t>
          </a:r>
        </a:p>
      </dsp:txBody>
      <dsp:txXfrm>
        <a:off x="937002" y="2030048"/>
        <a:ext cx="5576601" cy="811257"/>
      </dsp:txXfrm>
    </dsp:sp>
    <dsp:sp modelId="{270E3323-1C64-4DBB-9B7B-E242D6155B76}">
      <dsp:nvSpPr>
        <dsp:cNvPr id="0" name=""/>
        <dsp:cNvSpPr/>
      </dsp:nvSpPr>
      <dsp:spPr>
        <a:xfrm>
          <a:off x="0" y="3044120"/>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B539CC-8D95-4065-8FAE-36388706CD4C}">
      <dsp:nvSpPr>
        <dsp:cNvPr id="0" name=""/>
        <dsp:cNvSpPr/>
      </dsp:nvSpPr>
      <dsp:spPr>
        <a:xfrm>
          <a:off x="245405" y="3226653"/>
          <a:ext cx="446191" cy="4461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1AC0A0-07B3-475E-8315-FF9A2EF91467}">
      <dsp:nvSpPr>
        <dsp:cNvPr id="0" name=""/>
        <dsp:cNvSpPr/>
      </dsp:nvSpPr>
      <dsp:spPr>
        <a:xfrm>
          <a:off x="937002" y="3044120"/>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Word Clouds</a:t>
          </a:r>
        </a:p>
      </dsp:txBody>
      <dsp:txXfrm>
        <a:off x="937002" y="3044120"/>
        <a:ext cx="5576601" cy="811257"/>
      </dsp:txXfrm>
    </dsp:sp>
    <dsp:sp modelId="{8C1CC747-2533-4DD4-80E6-148860ED3DBF}">
      <dsp:nvSpPr>
        <dsp:cNvPr id="0" name=""/>
        <dsp:cNvSpPr/>
      </dsp:nvSpPr>
      <dsp:spPr>
        <a:xfrm>
          <a:off x="0" y="4058192"/>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CB98C8-FF72-4703-8079-8504DB184E6F}">
      <dsp:nvSpPr>
        <dsp:cNvPr id="0" name=""/>
        <dsp:cNvSpPr/>
      </dsp:nvSpPr>
      <dsp:spPr>
        <a:xfrm>
          <a:off x="245405" y="4240725"/>
          <a:ext cx="446191" cy="44619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F1B357-0407-47A8-B42C-00060C28A58F}">
      <dsp:nvSpPr>
        <dsp:cNvPr id="0" name=""/>
        <dsp:cNvSpPr/>
      </dsp:nvSpPr>
      <dsp:spPr>
        <a:xfrm>
          <a:off x="937002" y="4058192"/>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Chapter comparsions not just words</a:t>
          </a:r>
        </a:p>
      </dsp:txBody>
      <dsp:txXfrm>
        <a:off x="937002" y="4058192"/>
        <a:ext cx="5576601" cy="811257"/>
      </dsp:txXfrm>
    </dsp:sp>
    <dsp:sp modelId="{E5515DFF-3D52-4933-AA8A-F9C39338EA54}">
      <dsp:nvSpPr>
        <dsp:cNvPr id="0" name=""/>
        <dsp:cNvSpPr/>
      </dsp:nvSpPr>
      <dsp:spPr>
        <a:xfrm>
          <a:off x="0" y="5072264"/>
          <a:ext cx="6513603" cy="8112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16BF48-E991-47C4-8582-9F1BCD5AFBA2}">
      <dsp:nvSpPr>
        <dsp:cNvPr id="0" name=""/>
        <dsp:cNvSpPr/>
      </dsp:nvSpPr>
      <dsp:spPr>
        <a:xfrm>
          <a:off x="245405" y="5254797"/>
          <a:ext cx="446191" cy="44619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3FFAEA-879C-4985-B4D4-E617EFD0DB10}">
      <dsp:nvSpPr>
        <dsp:cNvPr id="0" name=""/>
        <dsp:cNvSpPr/>
      </dsp:nvSpPr>
      <dsp:spPr>
        <a:xfrm>
          <a:off x="937002" y="5072264"/>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Drawbacks</a:t>
          </a:r>
        </a:p>
      </dsp:txBody>
      <dsp:txXfrm>
        <a:off x="937002" y="5072264"/>
        <a:ext cx="5576601" cy="811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B88AA-3B74-4A7E-B504-31876A695EF4}">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630850-E690-4B5B-8508-AB5570E5565A}">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get_sentiments()</a:t>
          </a:r>
        </a:p>
      </dsp:txBody>
      <dsp:txXfrm>
        <a:off x="417971" y="2644140"/>
        <a:ext cx="2889450" cy="720000"/>
      </dsp:txXfrm>
    </dsp:sp>
    <dsp:sp modelId="{E5B42E13-C9EF-4686-BE8A-DEE95240BCC3}">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C201B9-81E7-4BBD-BD5E-999DD420B143}">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3 types to choose from</a:t>
          </a:r>
        </a:p>
      </dsp:txBody>
      <dsp:txXfrm>
        <a:off x="3813075" y="2644140"/>
        <a:ext cx="2889450" cy="720000"/>
      </dsp:txXfrm>
    </dsp:sp>
    <dsp:sp modelId="{24AA3382-6C1F-4CC2-A1DE-9B818DB50381}">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7CD353-991C-4D86-ADA4-15DB4889373E}">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afinn,bing,nrc</a:t>
          </a:r>
        </a:p>
      </dsp:txBody>
      <dsp:txXfrm>
        <a:off x="7208178" y="2644140"/>
        <a:ext cx="28894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A94D25-F6C5-408D-AB15-E01D00626C81}">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8EC9BC-6071-48FB-8AEE-78A806C7043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1F1385-C387-4A35-8189-AE89D2BE0753}">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dirty="0"/>
            <a:t>We can also examine how sentiment changes throughout each novel.  First, we find a sentiment score for each word using the Bing lexicon and </a:t>
          </a:r>
          <a:r>
            <a:rPr lang="en-US" sz="2300" kern="1200" dirty="0" err="1"/>
            <a:t>inner_join</a:t>
          </a:r>
          <a:r>
            <a:rPr lang="en-US" sz="2300" kern="1200" dirty="0"/>
            <a:t>().</a:t>
          </a:r>
        </a:p>
      </dsp:txBody>
      <dsp:txXfrm>
        <a:off x="1435590" y="531"/>
        <a:ext cx="9080009" cy="1242935"/>
      </dsp:txXfrm>
    </dsp:sp>
    <dsp:sp modelId="{1311E756-E26F-4226-BAE9-4F79E5E7F5AD}">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F22D5-CBE8-4396-AE46-687CD72B992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91DA6D-4D89-401F-AC14-30FC6AC0FA6C}">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dirty="0"/>
            <a:t>Next, we count up how many positive and negative words there are in defined sections of each book. </a:t>
          </a:r>
        </a:p>
      </dsp:txBody>
      <dsp:txXfrm>
        <a:off x="1435590" y="1554201"/>
        <a:ext cx="9080009" cy="1242935"/>
      </dsp:txXfrm>
    </dsp:sp>
    <dsp:sp modelId="{97AA3514-C4C8-40BE-9414-BC62A6F408A4}">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939D5F-FC00-4F6A-8965-998E45C3EDBC}">
      <dsp:nvSpPr>
        <dsp:cNvPr id="0" name=""/>
        <dsp:cNvSpPr/>
      </dsp:nvSpPr>
      <dsp:spPr>
        <a:xfrm>
          <a:off x="375988" y="3387531"/>
          <a:ext cx="683614" cy="6836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01CA1D-5157-4FC5-A144-26D317EEDBF9}">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en-US" sz="2300" kern="1200"/>
            <a:t>We define an index here to keep track of where we are in the narrative; this index (using integer division) counts up sections of 80 lines of text</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A3FF9-2D76-4891-B4AF-510A5FEB03A5}">
      <dsp:nvSpPr>
        <dsp:cNvPr id="0" name=""/>
        <dsp:cNvSpPr/>
      </dsp:nvSpPr>
      <dsp:spPr>
        <a:xfrm>
          <a:off x="0" y="707092"/>
          <a:ext cx="105156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E9D8FA-16AB-4C4F-B01D-3CC24E0ACCD5}">
      <dsp:nvSpPr>
        <dsp:cNvPr id="0" name=""/>
        <dsp:cNvSpPr/>
      </dsp:nvSpPr>
      <dsp:spPr>
        <a:xfrm>
          <a:off x="394883" y="1000807"/>
          <a:ext cx="717970" cy="71797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3CD531-1ECD-4DA3-A70A-2D98FD496415}">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kern="1200"/>
            <a:t>Remember that AFINN lexicon measures sentiment with a numeric score between -5 and 5, while the other two lexicons categorize words in a binary fashion, either positive or negative</a:t>
          </a:r>
        </a:p>
      </dsp:txBody>
      <dsp:txXfrm>
        <a:off x="1507738" y="707092"/>
        <a:ext cx="9007861" cy="1305401"/>
      </dsp:txXfrm>
    </dsp:sp>
    <dsp:sp modelId="{77FE78CD-4468-40E1-ACFC-6DC4C7C09318}">
      <dsp:nvSpPr>
        <dsp:cNvPr id="0" name=""/>
        <dsp:cNvSpPr/>
      </dsp:nvSpPr>
      <dsp:spPr>
        <a:xfrm>
          <a:off x="0" y="2338844"/>
          <a:ext cx="105156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3E3CC7-2D5B-4630-B5C0-272E116CF50E}">
      <dsp:nvSpPr>
        <dsp:cNvPr id="0" name=""/>
        <dsp:cNvSpPr/>
      </dsp:nvSpPr>
      <dsp:spPr>
        <a:xfrm>
          <a:off x="394883" y="2632559"/>
          <a:ext cx="717970" cy="71797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B81DDB-66F0-4084-9B69-DAA0EBEBD655}">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90000"/>
            </a:lnSpc>
            <a:spcBef>
              <a:spcPct val="0"/>
            </a:spcBef>
            <a:spcAft>
              <a:spcPct val="35000"/>
            </a:spcAft>
            <a:buNone/>
          </a:pPr>
          <a:r>
            <a:rPr lang="en-US" sz="2400" kern="1200"/>
            <a:t>To find a sentiment score in chunks of text throughout the novel, we will need to use a different pattern for the AFINN lexicon than for the other two.</a:t>
          </a:r>
        </a:p>
      </dsp:txBody>
      <dsp:txXfrm>
        <a:off x="1507738" y="2338844"/>
        <a:ext cx="9007861" cy="13054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98577-F1BB-43CB-8082-3291BFEF6204}">
      <dsp:nvSpPr>
        <dsp:cNvPr id="0" name=""/>
        <dsp:cNvSpPr/>
      </dsp:nvSpPr>
      <dsp:spPr>
        <a:xfrm>
          <a:off x="0" y="3831"/>
          <a:ext cx="10891380" cy="81615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26AF80-9C5E-430F-8982-1404C3289ACE}">
      <dsp:nvSpPr>
        <dsp:cNvPr id="0" name=""/>
        <dsp:cNvSpPr/>
      </dsp:nvSpPr>
      <dsp:spPr>
        <a:xfrm>
          <a:off x="246885" y="187465"/>
          <a:ext cx="448883" cy="4488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0E6BD3-CF30-4F53-9E8F-D181EAF7D6F8}">
      <dsp:nvSpPr>
        <dsp:cNvPr id="0" name=""/>
        <dsp:cNvSpPr/>
      </dsp:nvSpPr>
      <dsp:spPr>
        <a:xfrm>
          <a:off x="942654" y="3831"/>
          <a:ext cx="9948725" cy="816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76" tIns="86376" rIns="86376" bIns="86376" numCol="1" spcCol="1270" anchor="ctr" anchorCtr="0">
          <a:noAutofit/>
        </a:bodyPr>
        <a:lstStyle/>
        <a:p>
          <a:pPr marL="0" lvl="0" indent="0" algn="l" defTabSz="666750">
            <a:lnSpc>
              <a:spcPct val="90000"/>
            </a:lnSpc>
            <a:spcBef>
              <a:spcPct val="0"/>
            </a:spcBef>
            <a:spcAft>
              <a:spcPct val="35000"/>
            </a:spcAft>
            <a:buNone/>
          </a:pPr>
          <a:r>
            <a:rPr lang="en-US" sz="1500" kern="1200"/>
            <a:t>The three different lexicons for calculating sentiment give results that are different in an absolute sense but have similar relative trajectories through the novel</a:t>
          </a:r>
          <a:r>
            <a:rPr lang="en-US" sz="1500" b="0" i="0" u="none" strike="noStrike" kern="1200" cap="none" baseline="0" noProof="0">
              <a:solidFill>
                <a:srgbClr val="010000"/>
              </a:solidFill>
              <a:latin typeface="Calibri Light"/>
              <a:cs typeface="Calibri Light"/>
            </a:rPr>
            <a:t>.</a:t>
          </a:r>
          <a:endParaRPr lang="en-US" sz="1500" kern="1200"/>
        </a:p>
      </dsp:txBody>
      <dsp:txXfrm>
        <a:off x="942654" y="3831"/>
        <a:ext cx="9948725" cy="816151"/>
      </dsp:txXfrm>
    </dsp:sp>
    <dsp:sp modelId="{1D388113-ABE1-4D2F-A110-6C6CF2B3668E}">
      <dsp:nvSpPr>
        <dsp:cNvPr id="0" name=""/>
        <dsp:cNvSpPr/>
      </dsp:nvSpPr>
      <dsp:spPr>
        <a:xfrm>
          <a:off x="0" y="1024020"/>
          <a:ext cx="10891380" cy="81615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4C30F1-8ECA-43A9-91BC-3F8D39739EDA}">
      <dsp:nvSpPr>
        <dsp:cNvPr id="0" name=""/>
        <dsp:cNvSpPr/>
      </dsp:nvSpPr>
      <dsp:spPr>
        <a:xfrm>
          <a:off x="246885" y="1207654"/>
          <a:ext cx="448883" cy="4488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C83CD6-0C10-4338-A54F-C9848FC3FC01}">
      <dsp:nvSpPr>
        <dsp:cNvPr id="0" name=""/>
        <dsp:cNvSpPr/>
      </dsp:nvSpPr>
      <dsp:spPr>
        <a:xfrm>
          <a:off x="942654" y="1024020"/>
          <a:ext cx="9948725" cy="816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76" tIns="86376" rIns="86376" bIns="86376" numCol="1" spcCol="1270" anchor="ctr" anchorCtr="0">
          <a:noAutofit/>
        </a:bodyPr>
        <a:lstStyle/>
        <a:p>
          <a:pPr marL="0" lvl="0" indent="0" algn="l" defTabSz="666750">
            <a:lnSpc>
              <a:spcPct val="90000"/>
            </a:lnSpc>
            <a:spcBef>
              <a:spcPct val="0"/>
            </a:spcBef>
            <a:spcAft>
              <a:spcPct val="35000"/>
            </a:spcAft>
            <a:buNone/>
          </a:pPr>
          <a:r>
            <a:rPr lang="en-US" sz="1500" kern="1200"/>
            <a:t>We see similar dips and peaks in sentiment at about the same places in the novel, but the absolute values are significantly different</a:t>
          </a:r>
          <a:r>
            <a:rPr lang="en-US" sz="1500" kern="1200">
              <a:latin typeface="Calibri Light" panose="020F0302020204030204"/>
            </a:rPr>
            <a:t>.</a:t>
          </a:r>
          <a:endParaRPr lang="en-US" sz="1500" kern="1200"/>
        </a:p>
      </dsp:txBody>
      <dsp:txXfrm>
        <a:off x="942654" y="1024020"/>
        <a:ext cx="9948725" cy="816151"/>
      </dsp:txXfrm>
    </dsp:sp>
    <dsp:sp modelId="{B6793C71-B8BF-4174-A65F-56B09DE89EA8}">
      <dsp:nvSpPr>
        <dsp:cNvPr id="0" name=""/>
        <dsp:cNvSpPr/>
      </dsp:nvSpPr>
      <dsp:spPr>
        <a:xfrm>
          <a:off x="0" y="2044209"/>
          <a:ext cx="10891380" cy="81615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ED2C32-A53F-46C4-BD26-E42C1F24F01C}">
      <dsp:nvSpPr>
        <dsp:cNvPr id="0" name=""/>
        <dsp:cNvSpPr/>
      </dsp:nvSpPr>
      <dsp:spPr>
        <a:xfrm>
          <a:off x="246885" y="2227843"/>
          <a:ext cx="448883" cy="4488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0BE5EC-B543-4366-9861-A55DD860F23B}">
      <dsp:nvSpPr>
        <dsp:cNvPr id="0" name=""/>
        <dsp:cNvSpPr/>
      </dsp:nvSpPr>
      <dsp:spPr>
        <a:xfrm>
          <a:off x="942654" y="2044209"/>
          <a:ext cx="9948725" cy="816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76" tIns="86376" rIns="86376" bIns="86376" numCol="1" spcCol="1270" anchor="ctr" anchorCtr="0">
          <a:noAutofit/>
        </a:bodyPr>
        <a:lstStyle/>
        <a:p>
          <a:pPr marL="0" lvl="0" indent="0" algn="l" defTabSz="666750">
            <a:lnSpc>
              <a:spcPct val="90000"/>
            </a:lnSpc>
            <a:spcBef>
              <a:spcPct val="0"/>
            </a:spcBef>
            <a:spcAft>
              <a:spcPct val="35000"/>
            </a:spcAft>
            <a:buNone/>
          </a:pPr>
          <a:r>
            <a:rPr lang="en-US" sz="1500" kern="1200"/>
            <a:t>The AFINN lexicon gives the largest absolute values, with high positive values. The lexicon from Bing et al. has lower absolute values and seems to label larger blocks of contiguous positive or negative text. </a:t>
          </a:r>
        </a:p>
      </dsp:txBody>
      <dsp:txXfrm>
        <a:off x="942654" y="2044209"/>
        <a:ext cx="9948725" cy="816151"/>
      </dsp:txXfrm>
    </dsp:sp>
    <dsp:sp modelId="{DD2985AB-7C62-4AC2-AAAF-CA5F62552D0A}">
      <dsp:nvSpPr>
        <dsp:cNvPr id="0" name=""/>
        <dsp:cNvSpPr/>
      </dsp:nvSpPr>
      <dsp:spPr>
        <a:xfrm>
          <a:off x="0" y="3064398"/>
          <a:ext cx="10891380" cy="81615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5D51BB-4061-4653-9D20-0D092B050488}">
      <dsp:nvSpPr>
        <dsp:cNvPr id="0" name=""/>
        <dsp:cNvSpPr/>
      </dsp:nvSpPr>
      <dsp:spPr>
        <a:xfrm>
          <a:off x="246885" y="3248032"/>
          <a:ext cx="448883" cy="4488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D58555-ED03-4E33-A879-98AFCF92AA51}">
      <dsp:nvSpPr>
        <dsp:cNvPr id="0" name=""/>
        <dsp:cNvSpPr/>
      </dsp:nvSpPr>
      <dsp:spPr>
        <a:xfrm>
          <a:off x="942654" y="3064398"/>
          <a:ext cx="9948725" cy="816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76" tIns="86376" rIns="86376" bIns="86376" numCol="1" spcCol="1270" anchor="ctr" anchorCtr="0">
          <a:noAutofit/>
        </a:bodyPr>
        <a:lstStyle/>
        <a:p>
          <a:pPr marL="0" lvl="0" indent="0" algn="l" defTabSz="666750">
            <a:lnSpc>
              <a:spcPct val="90000"/>
            </a:lnSpc>
            <a:spcBef>
              <a:spcPct val="0"/>
            </a:spcBef>
            <a:spcAft>
              <a:spcPct val="35000"/>
            </a:spcAft>
            <a:buNone/>
          </a:pPr>
          <a:r>
            <a:rPr lang="en-US" sz="1500" kern="1200"/>
            <a:t>The NRC results are shifted higher relative to the other two, labeling the text more positively, but detects similar relative changes in the text. </a:t>
          </a:r>
        </a:p>
      </dsp:txBody>
      <dsp:txXfrm>
        <a:off x="942654" y="3064398"/>
        <a:ext cx="9948725" cy="816151"/>
      </dsp:txXfrm>
    </dsp:sp>
    <dsp:sp modelId="{976A9D40-2F9C-4678-A3B0-0F9CA5081A11}">
      <dsp:nvSpPr>
        <dsp:cNvPr id="0" name=""/>
        <dsp:cNvSpPr/>
      </dsp:nvSpPr>
      <dsp:spPr>
        <a:xfrm>
          <a:off x="0" y="4084587"/>
          <a:ext cx="10891380" cy="81615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F5D8C8-6913-4873-8D1F-2DFC36E30CE3}">
      <dsp:nvSpPr>
        <dsp:cNvPr id="0" name=""/>
        <dsp:cNvSpPr/>
      </dsp:nvSpPr>
      <dsp:spPr>
        <a:xfrm>
          <a:off x="246885" y="4268221"/>
          <a:ext cx="448883" cy="44888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09773B-3A02-4C70-B1B9-AF43F3DD8D0A}">
      <dsp:nvSpPr>
        <dsp:cNvPr id="0" name=""/>
        <dsp:cNvSpPr/>
      </dsp:nvSpPr>
      <dsp:spPr>
        <a:xfrm>
          <a:off x="942654" y="4084587"/>
          <a:ext cx="9948725" cy="816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76" tIns="86376" rIns="86376" bIns="86376" numCol="1" spcCol="1270" anchor="ctr" anchorCtr="0">
          <a:noAutofit/>
        </a:bodyPr>
        <a:lstStyle/>
        <a:p>
          <a:pPr marL="0" lvl="0" indent="0" algn="l" defTabSz="666750">
            <a:lnSpc>
              <a:spcPct val="90000"/>
            </a:lnSpc>
            <a:spcBef>
              <a:spcPct val="0"/>
            </a:spcBef>
            <a:spcAft>
              <a:spcPct val="35000"/>
            </a:spcAft>
            <a:buNone/>
          </a:pPr>
          <a:r>
            <a:rPr lang="en-US" sz="1500" kern="1200"/>
            <a:t>We find similar differences between the methods when looking at other novels; the NRC sentiment is high, the AFINN sentiment has more variance, the Bing et al. sentiment appears to find longer stretches of similar text, but all three agree roughly on the overall trends in the sentiment through a narrative arc.</a:t>
          </a:r>
        </a:p>
      </dsp:txBody>
      <dsp:txXfrm>
        <a:off x="942654" y="4084587"/>
        <a:ext cx="9948725" cy="81615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20D02-47AD-4420-B4FE-82E2CD88C1FD}">
      <dsp:nvSpPr>
        <dsp:cNvPr id="0" name=""/>
        <dsp:cNvSpPr/>
      </dsp:nvSpPr>
      <dsp:spPr>
        <a:xfrm>
          <a:off x="0" y="0"/>
          <a:ext cx="5600387" cy="176902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Lots of useful work can be done by tokenizing at the word level, but sometimes it is useful or necessary to look at different units of text. </a:t>
          </a:r>
        </a:p>
      </dsp:txBody>
      <dsp:txXfrm>
        <a:off x="51813" y="51813"/>
        <a:ext cx="3691473" cy="1665396"/>
      </dsp:txXfrm>
    </dsp:sp>
    <dsp:sp modelId="{9E292B94-F74C-44D5-A9F0-0B820407D8D4}">
      <dsp:nvSpPr>
        <dsp:cNvPr id="0" name=""/>
        <dsp:cNvSpPr/>
      </dsp:nvSpPr>
      <dsp:spPr>
        <a:xfrm>
          <a:off x="494151" y="2063860"/>
          <a:ext cx="5600387" cy="1769022"/>
        </a:xfrm>
        <a:prstGeom prst="roundRect">
          <a:avLst>
            <a:gd name="adj" fmla="val 100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For example, some sentiment analysis algorithms look beyond only unigrams (i.e. single words) to try to understand the sentiment of a sentence as a whole</a:t>
          </a:r>
        </a:p>
      </dsp:txBody>
      <dsp:txXfrm>
        <a:off x="545964" y="2115673"/>
        <a:ext cx="3852744" cy="1665396"/>
      </dsp:txXfrm>
    </dsp:sp>
    <dsp:sp modelId="{58ED1B32-323C-4B09-8145-CC86FC802B42}">
      <dsp:nvSpPr>
        <dsp:cNvPr id="0" name=""/>
        <dsp:cNvSpPr/>
      </dsp:nvSpPr>
      <dsp:spPr>
        <a:xfrm>
          <a:off x="988303" y="4127720"/>
          <a:ext cx="5600387" cy="1769022"/>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These algorithms try to understand that "I am not having a good day." is a sad sentence, not a happy one, because of negation</a:t>
          </a:r>
        </a:p>
      </dsp:txBody>
      <dsp:txXfrm>
        <a:off x="1040116" y="4179533"/>
        <a:ext cx="3852744" cy="1665396"/>
      </dsp:txXfrm>
    </dsp:sp>
    <dsp:sp modelId="{7F05C2C4-AEB7-4AF7-8B4C-E5AAEF6B4EA4}">
      <dsp:nvSpPr>
        <dsp:cNvPr id="0" name=""/>
        <dsp:cNvSpPr/>
      </dsp:nvSpPr>
      <dsp:spPr>
        <a:xfrm>
          <a:off x="4450522" y="1341509"/>
          <a:ext cx="1149864" cy="1149864"/>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709241" y="1341509"/>
        <a:ext cx="632426" cy="865273"/>
      </dsp:txXfrm>
    </dsp:sp>
    <dsp:sp modelId="{37D307D4-2244-4E2E-B93B-94DF83BB883E}">
      <dsp:nvSpPr>
        <dsp:cNvPr id="0" name=""/>
        <dsp:cNvSpPr/>
      </dsp:nvSpPr>
      <dsp:spPr>
        <a:xfrm>
          <a:off x="4944674" y="3393575"/>
          <a:ext cx="1149864" cy="1149864"/>
        </a:xfrm>
        <a:prstGeom prst="downArrow">
          <a:avLst>
            <a:gd name="adj1" fmla="val 55000"/>
            <a:gd name="adj2" fmla="val 45000"/>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203393" y="3393575"/>
        <a:ext cx="632426" cy="8652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5/4/2020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2"/>
            <a:ext cx="9144000" cy="2840037"/>
          </a:xfrm>
        </p:spPr>
        <p:txBody>
          <a:bodyPr>
            <a:normAutofit/>
          </a:bodyPr>
          <a:lstStyle/>
          <a:p>
            <a:r>
              <a:rPr lang="en-US" sz="5800">
                <a:cs typeface="Calibri Light"/>
              </a:rPr>
              <a:t>Sentiment Analysis In R </a:t>
            </a:r>
            <a:endParaRPr lang="en-US" sz="5800"/>
          </a:p>
        </p:txBody>
      </p:sp>
      <p:sp>
        <p:nvSpPr>
          <p:cNvPr id="3" name="Subtitle 2"/>
          <p:cNvSpPr>
            <a:spLocks noGrp="1"/>
          </p:cNvSpPr>
          <p:nvPr>
            <p:ph type="subTitle" idx="1"/>
          </p:nvPr>
        </p:nvSpPr>
        <p:spPr>
          <a:xfrm>
            <a:off x="1524000" y="4256436"/>
            <a:ext cx="9144000" cy="1600818"/>
          </a:xfrm>
        </p:spPr>
        <p:txBody>
          <a:bodyPr vert="horz" lIns="91440" tIns="45720" rIns="91440" bIns="45720" rtlCol="0">
            <a:normAutofit/>
          </a:bodyPr>
          <a:lstStyle/>
          <a:p>
            <a:r>
              <a:rPr lang="en-US">
                <a:solidFill>
                  <a:schemeClr val="accent1">
                    <a:lumMod val="60000"/>
                    <a:lumOff val="40000"/>
                  </a:schemeClr>
                </a:solidFill>
                <a:cs typeface="Calibri"/>
              </a:rPr>
              <a:t>By: Brad Rechtzigel</a:t>
            </a:r>
            <a:endParaRPr lang="en-US">
              <a:solidFill>
                <a:schemeClr val="accent1">
                  <a:lumMod val="60000"/>
                  <a:lumOff val="40000"/>
                </a:schemeClr>
              </a:solidFill>
            </a:endParaRPr>
          </a:p>
        </p:txBody>
      </p:sp>
      <p:cxnSp>
        <p:nvCxnSpPr>
          <p:cNvPr id="12" name="Straight Connector 11">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531C94-978F-45BF-B0B6-4DF970AFFD80}"/>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Overview</a:t>
            </a:r>
            <a:endParaRPr lang="en-US">
              <a:solidFill>
                <a:srgbClr val="FFFFFF"/>
              </a:solidFill>
            </a:endParaRPr>
          </a:p>
        </p:txBody>
      </p:sp>
      <p:graphicFrame>
        <p:nvGraphicFramePr>
          <p:cNvPr id="6" name="Content Placeholder 2">
            <a:extLst>
              <a:ext uri="{FF2B5EF4-FFF2-40B4-BE49-F238E27FC236}">
                <a16:creationId xmlns:a16="http://schemas.microsoft.com/office/drawing/2014/main" id="{6289DC78-18F2-42B5-A1A1-3B71E366F24F}"/>
              </a:ext>
            </a:extLst>
          </p:cNvPr>
          <p:cNvGraphicFramePr>
            <a:graphicFrameLocks noGrp="1"/>
          </p:cNvGraphicFramePr>
          <p:nvPr>
            <p:ph idx="1"/>
            <p:extLst>
              <p:ext uri="{D42A27DB-BD31-4B8C-83A1-F6EECF244321}">
                <p14:modId xmlns:p14="http://schemas.microsoft.com/office/powerpoint/2010/main" val="1282417764"/>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3597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D477E-4222-4B22-9C2A-F2BFA6C270BE}"/>
              </a:ext>
            </a:extLst>
          </p:cNvPr>
          <p:cNvSpPr>
            <a:spLocks noGrp="1"/>
          </p:cNvSpPr>
          <p:nvPr>
            <p:ph type="title"/>
          </p:nvPr>
        </p:nvSpPr>
        <p:spPr>
          <a:xfrm>
            <a:off x="838200" y="365125"/>
            <a:ext cx="10515600" cy="1325563"/>
          </a:xfrm>
        </p:spPr>
        <p:txBody>
          <a:bodyPr>
            <a:normAutofit/>
          </a:bodyPr>
          <a:lstStyle/>
          <a:p>
            <a:r>
              <a:rPr lang="en-US" dirty="0">
                <a:cs typeface="Calibri Light"/>
              </a:rPr>
              <a:t>Sentiments in </a:t>
            </a:r>
            <a:r>
              <a:rPr lang="en-US" dirty="0" err="1">
                <a:cs typeface="Calibri Light"/>
              </a:rPr>
              <a:t>TidyText</a:t>
            </a:r>
            <a:endParaRPr lang="en-US" dirty="0" err="1"/>
          </a:p>
        </p:txBody>
      </p:sp>
      <p:graphicFrame>
        <p:nvGraphicFramePr>
          <p:cNvPr id="5" name="Content Placeholder 2">
            <a:extLst>
              <a:ext uri="{FF2B5EF4-FFF2-40B4-BE49-F238E27FC236}">
                <a16:creationId xmlns:a16="http://schemas.microsoft.com/office/drawing/2014/main" id="{75CB240A-6C3B-46EC-92E4-A414C267C4E1}"/>
              </a:ext>
            </a:extLst>
          </p:cNvPr>
          <p:cNvGraphicFramePr>
            <a:graphicFrameLocks noGrp="1"/>
          </p:cNvGraphicFramePr>
          <p:nvPr>
            <p:ph idx="1"/>
            <p:extLst>
              <p:ext uri="{D42A27DB-BD31-4B8C-83A1-F6EECF244321}">
                <p14:modId xmlns:p14="http://schemas.microsoft.com/office/powerpoint/2010/main" val="20531034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0678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FFCB0D-EFBE-4659-A3E2-8DAB7580E719}"/>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cs typeface="Calibri Light"/>
              </a:rPr>
              <a:t>Afinn</a:t>
            </a:r>
            <a:endParaRPr lang="en-US" sz="2600">
              <a:solidFill>
                <a:srgbClr val="FFFFFF"/>
              </a:solidFill>
            </a:endParaRPr>
          </a:p>
        </p:txBody>
      </p:sp>
      <p:pic>
        <p:nvPicPr>
          <p:cNvPr id="4" name="Picture 4" descr="A close up of a logo&#10;&#10;Description generated with very high confidence">
            <a:extLst>
              <a:ext uri="{FF2B5EF4-FFF2-40B4-BE49-F238E27FC236}">
                <a16:creationId xmlns:a16="http://schemas.microsoft.com/office/drawing/2014/main" id="{0CBF88D3-3E8B-49D6-8670-38EC233D4B62}"/>
              </a:ext>
            </a:extLst>
          </p:cNvPr>
          <p:cNvPicPr>
            <a:picLocks noChangeAspect="1"/>
          </p:cNvPicPr>
          <p:nvPr/>
        </p:nvPicPr>
        <p:blipFill>
          <a:blip r:embed="rId2"/>
          <a:stretch>
            <a:fillRect/>
          </a:stretch>
        </p:blipFill>
        <p:spPr>
          <a:xfrm>
            <a:off x="4038600" y="1730744"/>
            <a:ext cx="7188199" cy="2256255"/>
          </a:xfrm>
          <a:prstGeom prst="rect">
            <a:avLst/>
          </a:prstGeom>
        </p:spPr>
      </p:pic>
      <p:sp>
        <p:nvSpPr>
          <p:cNvPr id="3" name="Content Placeholder 2">
            <a:extLst>
              <a:ext uri="{FF2B5EF4-FFF2-40B4-BE49-F238E27FC236}">
                <a16:creationId xmlns:a16="http://schemas.microsoft.com/office/drawing/2014/main" id="{03137A20-DC08-47BC-BA38-EDFBFF5E53A1}"/>
              </a:ext>
            </a:extLst>
          </p:cNvPr>
          <p:cNvSpPr>
            <a:spLocks noGrp="1"/>
          </p:cNvSpPr>
          <p:nvPr>
            <p:ph idx="1"/>
          </p:nvPr>
        </p:nvSpPr>
        <p:spPr>
          <a:xfrm>
            <a:off x="4038600" y="4884873"/>
            <a:ext cx="7188199" cy="1292090"/>
          </a:xfrm>
        </p:spPr>
        <p:txBody>
          <a:bodyPr vert="horz" lIns="91440" tIns="45720" rIns="91440" bIns="45720" rtlCol="0" anchor="t">
            <a:noAutofit/>
          </a:bodyPr>
          <a:lstStyle/>
          <a:p>
            <a:r>
              <a:rPr lang="en-US" sz="2400" dirty="0">
                <a:cs typeface="Calibri"/>
              </a:rPr>
              <a:t>From Finn Arup Nielson </a:t>
            </a:r>
          </a:p>
          <a:p>
            <a:r>
              <a:rPr lang="en-US" sz="2400" dirty="0">
                <a:cs typeface="Calibri"/>
              </a:rPr>
              <a:t>Scale –5 to 5</a:t>
            </a:r>
          </a:p>
          <a:p>
            <a:r>
              <a:rPr lang="en-US" sz="2400" dirty="0">
                <a:cs typeface="Calibri"/>
              </a:rPr>
              <a:t>2477 words </a:t>
            </a:r>
          </a:p>
          <a:p>
            <a:endParaRPr lang="en-US" sz="1800">
              <a:cs typeface="Calibri"/>
            </a:endParaRPr>
          </a:p>
        </p:txBody>
      </p:sp>
    </p:spTree>
    <p:extLst>
      <p:ext uri="{BB962C8B-B14F-4D97-AF65-F5344CB8AC3E}">
        <p14:creationId xmlns:p14="http://schemas.microsoft.com/office/powerpoint/2010/main" val="4221974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80F3AD2-EDE1-4241-B7D2-A5616B82AC95}"/>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cs typeface="Calibri Light"/>
              </a:rPr>
              <a:t>Bing</a:t>
            </a:r>
            <a:endParaRPr lang="en-US" sz="2600">
              <a:solidFill>
                <a:srgbClr val="FFFFFF"/>
              </a:solidFill>
            </a:endParaRPr>
          </a:p>
        </p:txBody>
      </p:sp>
      <p:pic>
        <p:nvPicPr>
          <p:cNvPr id="4" name="Picture 4" descr="A screenshot of a cell phone&#10;&#10;Description generated with very high confidence">
            <a:extLst>
              <a:ext uri="{FF2B5EF4-FFF2-40B4-BE49-F238E27FC236}">
                <a16:creationId xmlns:a16="http://schemas.microsoft.com/office/drawing/2014/main" id="{1488D9DF-073A-4363-A43F-E9ECA623CBE3}"/>
              </a:ext>
            </a:extLst>
          </p:cNvPr>
          <p:cNvPicPr>
            <a:picLocks noChangeAspect="1"/>
          </p:cNvPicPr>
          <p:nvPr/>
        </p:nvPicPr>
        <p:blipFill>
          <a:blip r:embed="rId2"/>
          <a:stretch>
            <a:fillRect/>
          </a:stretch>
        </p:blipFill>
        <p:spPr>
          <a:xfrm>
            <a:off x="4038600" y="1313299"/>
            <a:ext cx="6955078" cy="3091146"/>
          </a:xfrm>
          <a:prstGeom prst="rect">
            <a:avLst/>
          </a:prstGeom>
        </p:spPr>
      </p:pic>
      <p:sp>
        <p:nvSpPr>
          <p:cNvPr id="3" name="Content Placeholder 2">
            <a:extLst>
              <a:ext uri="{FF2B5EF4-FFF2-40B4-BE49-F238E27FC236}">
                <a16:creationId xmlns:a16="http://schemas.microsoft.com/office/drawing/2014/main" id="{3A4FC310-0FA0-48C2-B8E2-2BF9B7F51F30}"/>
              </a:ext>
            </a:extLst>
          </p:cNvPr>
          <p:cNvSpPr>
            <a:spLocks noGrp="1"/>
          </p:cNvSpPr>
          <p:nvPr>
            <p:ph idx="1"/>
          </p:nvPr>
        </p:nvSpPr>
        <p:spPr>
          <a:xfrm>
            <a:off x="4038600" y="4884873"/>
            <a:ext cx="7188199" cy="1292090"/>
          </a:xfrm>
        </p:spPr>
        <p:txBody>
          <a:bodyPr vert="horz" lIns="91440" tIns="45720" rIns="91440" bIns="45720" rtlCol="0" anchor="t">
            <a:noAutofit/>
          </a:bodyPr>
          <a:lstStyle/>
          <a:p>
            <a:r>
              <a:rPr lang="en-US" sz="2400" dirty="0">
                <a:cs typeface="Calibri"/>
              </a:rPr>
              <a:t>Bing Liu and collaborators</a:t>
            </a:r>
          </a:p>
          <a:p>
            <a:r>
              <a:rPr lang="en-US" sz="2400" dirty="0">
                <a:cs typeface="Calibri"/>
              </a:rPr>
              <a:t>Scale: </a:t>
            </a:r>
            <a:r>
              <a:rPr lang="en-US" sz="2400">
                <a:cs typeface="Calibri"/>
              </a:rPr>
              <a:t>Positive</a:t>
            </a:r>
            <a:r>
              <a:rPr lang="en-US" sz="2400" dirty="0">
                <a:cs typeface="Calibri"/>
              </a:rPr>
              <a:t> Negative and Neutral</a:t>
            </a:r>
          </a:p>
          <a:p>
            <a:r>
              <a:rPr lang="en-US" sz="2400" dirty="0">
                <a:cs typeface="Calibri"/>
              </a:rPr>
              <a:t>6786 words</a:t>
            </a:r>
          </a:p>
          <a:p>
            <a:endParaRPr lang="en-US" sz="1800">
              <a:cs typeface="Calibri"/>
            </a:endParaRPr>
          </a:p>
        </p:txBody>
      </p:sp>
    </p:spTree>
    <p:extLst>
      <p:ext uri="{BB962C8B-B14F-4D97-AF65-F5344CB8AC3E}">
        <p14:creationId xmlns:p14="http://schemas.microsoft.com/office/powerpoint/2010/main" val="2882372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776923-74B3-46A1-8557-DDDA5FBE51EE}"/>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cs typeface="Calibri Light"/>
              </a:rPr>
              <a:t>Nrc</a:t>
            </a:r>
            <a:endParaRPr lang="en-US" sz="2600">
              <a:solidFill>
                <a:srgbClr val="FFFFFF"/>
              </a:solidFill>
            </a:endParaRPr>
          </a:p>
        </p:txBody>
      </p:sp>
      <p:pic>
        <p:nvPicPr>
          <p:cNvPr id="4" name="Picture 4" descr="A screenshot of a cell phone&#10;&#10;Description generated with very high confidence">
            <a:extLst>
              <a:ext uri="{FF2B5EF4-FFF2-40B4-BE49-F238E27FC236}">
                <a16:creationId xmlns:a16="http://schemas.microsoft.com/office/drawing/2014/main" id="{4F2017EE-7D6F-4B2C-9585-26326C495BA6}"/>
              </a:ext>
            </a:extLst>
          </p:cNvPr>
          <p:cNvPicPr>
            <a:picLocks noChangeAspect="1"/>
          </p:cNvPicPr>
          <p:nvPr/>
        </p:nvPicPr>
        <p:blipFill>
          <a:blip r:embed="rId2"/>
          <a:stretch>
            <a:fillRect/>
          </a:stretch>
        </p:blipFill>
        <p:spPr>
          <a:xfrm>
            <a:off x="4038600" y="1313299"/>
            <a:ext cx="6892420" cy="3091146"/>
          </a:xfrm>
          <a:prstGeom prst="rect">
            <a:avLst/>
          </a:prstGeom>
        </p:spPr>
      </p:pic>
      <p:sp>
        <p:nvSpPr>
          <p:cNvPr id="3" name="Content Placeholder 2">
            <a:extLst>
              <a:ext uri="{FF2B5EF4-FFF2-40B4-BE49-F238E27FC236}">
                <a16:creationId xmlns:a16="http://schemas.microsoft.com/office/drawing/2014/main" id="{14471A91-C819-48AC-8360-54FE241E3804}"/>
              </a:ext>
            </a:extLst>
          </p:cNvPr>
          <p:cNvSpPr>
            <a:spLocks noGrp="1"/>
          </p:cNvSpPr>
          <p:nvPr>
            <p:ph idx="1"/>
          </p:nvPr>
        </p:nvSpPr>
        <p:spPr>
          <a:xfrm>
            <a:off x="3882025" y="4644791"/>
            <a:ext cx="7188199" cy="2033213"/>
          </a:xfrm>
        </p:spPr>
        <p:txBody>
          <a:bodyPr vert="horz" lIns="91440" tIns="45720" rIns="91440" bIns="45720" rtlCol="0" anchor="t">
            <a:noAutofit/>
          </a:bodyPr>
          <a:lstStyle/>
          <a:p>
            <a:r>
              <a:rPr lang="en-US" sz="2400">
                <a:cs typeface="Calibri"/>
              </a:rPr>
              <a:t>Saif Mohammad and Peter Turney</a:t>
            </a:r>
          </a:p>
          <a:p>
            <a:r>
              <a:rPr lang="en-US" sz="2400">
                <a:ea typeface="+mn-lt"/>
                <a:cs typeface="+mn-lt"/>
              </a:rPr>
              <a:t>Anger Anticipation Disgust Fear Joy Negative Positive Sadness Surprise Trust</a:t>
            </a:r>
          </a:p>
          <a:p>
            <a:r>
              <a:rPr lang="en-US" sz="2400">
                <a:ea typeface="+mn-lt"/>
                <a:cs typeface="+mn-lt"/>
              </a:rPr>
              <a:t>Binary (Yes/No)</a:t>
            </a:r>
          </a:p>
          <a:p>
            <a:r>
              <a:rPr lang="en-US" sz="2400">
                <a:ea typeface="+mn-lt"/>
                <a:cs typeface="+mn-lt"/>
              </a:rPr>
              <a:t>13901 words</a:t>
            </a:r>
          </a:p>
          <a:p>
            <a:endParaRPr lang="en-US" sz="1700">
              <a:ea typeface="+mn-lt"/>
              <a:cs typeface="+mn-lt"/>
            </a:endParaRPr>
          </a:p>
        </p:txBody>
      </p:sp>
    </p:spTree>
    <p:extLst>
      <p:ext uri="{BB962C8B-B14F-4D97-AF65-F5344CB8AC3E}">
        <p14:creationId xmlns:p14="http://schemas.microsoft.com/office/powerpoint/2010/main" val="1235286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169A67-C88B-4B32-A161-FFCFFE0A4D52}"/>
              </a:ext>
            </a:extLst>
          </p:cNvPr>
          <p:cNvSpPr>
            <a:spLocks noGrp="1"/>
          </p:cNvSpPr>
          <p:nvPr>
            <p:ph type="title"/>
          </p:nvPr>
        </p:nvSpPr>
        <p:spPr>
          <a:xfrm>
            <a:off x="643468" y="623392"/>
            <a:ext cx="3363974" cy="1607060"/>
          </a:xfrm>
          <a:noFill/>
          <a:ln w="19050">
            <a:solidFill>
              <a:schemeClr val="tx1"/>
            </a:solidFill>
          </a:ln>
        </p:spPr>
        <p:txBody>
          <a:bodyPr wrap="square" anchor="ctr">
            <a:normAutofit/>
          </a:bodyPr>
          <a:lstStyle/>
          <a:p>
            <a:pPr algn="ctr"/>
            <a:r>
              <a:rPr lang="en-US" sz="2800">
                <a:cs typeface="Calibri Light"/>
              </a:rPr>
              <a:t>Jane Austin Books</a:t>
            </a:r>
            <a:endParaRPr lang="en-US" sz="2800"/>
          </a:p>
        </p:txBody>
      </p:sp>
      <p:sp>
        <p:nvSpPr>
          <p:cNvPr id="3" name="Content Placeholder 2">
            <a:extLst>
              <a:ext uri="{FF2B5EF4-FFF2-40B4-BE49-F238E27FC236}">
                <a16:creationId xmlns:a16="http://schemas.microsoft.com/office/drawing/2014/main" id="{DC2B87D3-CDAA-4DFE-9219-FDD658E1C9E0}"/>
              </a:ext>
            </a:extLst>
          </p:cNvPr>
          <p:cNvSpPr>
            <a:spLocks noGrp="1"/>
          </p:cNvSpPr>
          <p:nvPr>
            <p:ph idx="1"/>
          </p:nvPr>
        </p:nvSpPr>
        <p:spPr>
          <a:xfrm>
            <a:off x="643468" y="2638043"/>
            <a:ext cx="3363974" cy="3415623"/>
          </a:xfrm>
        </p:spPr>
        <p:txBody>
          <a:bodyPr vert="horz" lIns="91440" tIns="45720" rIns="91440" bIns="45720" rtlCol="0" anchor="t">
            <a:normAutofit/>
          </a:bodyPr>
          <a:lstStyle/>
          <a:p>
            <a:r>
              <a:rPr lang="en-US" sz="2400" dirty="0">
                <a:cs typeface="Calibri"/>
              </a:rPr>
              <a:t>My examples are using pre loaded books in R </a:t>
            </a:r>
          </a:p>
          <a:p>
            <a:r>
              <a:rPr lang="en-US" sz="2400" dirty="0" err="1">
                <a:cs typeface="Calibri"/>
              </a:rPr>
              <a:t>austen_books</a:t>
            </a:r>
            <a:r>
              <a:rPr lang="en-US" sz="2400" dirty="0">
                <a:cs typeface="Calibri"/>
              </a:rPr>
              <a:t>() in </a:t>
            </a:r>
            <a:r>
              <a:rPr lang="en-US" sz="2400" dirty="0" err="1">
                <a:cs typeface="Calibri"/>
              </a:rPr>
              <a:t>janeaustenr</a:t>
            </a:r>
            <a:r>
              <a:rPr lang="en-US" sz="2400" dirty="0">
                <a:cs typeface="Calibri"/>
              </a:rPr>
              <a:t> package</a:t>
            </a:r>
          </a:p>
          <a:p>
            <a:r>
              <a:rPr lang="en-US" sz="2400" dirty="0">
                <a:cs typeface="Calibri"/>
              </a:rPr>
              <a:t>Roughly each line is a sentence</a:t>
            </a:r>
          </a:p>
        </p:txBody>
      </p:sp>
      <p:graphicFrame>
        <p:nvGraphicFramePr>
          <p:cNvPr id="6" name="Table 6">
            <a:extLst>
              <a:ext uri="{FF2B5EF4-FFF2-40B4-BE49-F238E27FC236}">
                <a16:creationId xmlns:a16="http://schemas.microsoft.com/office/drawing/2014/main" id="{C636141F-E897-4C56-962C-2BC217828DFD}"/>
              </a:ext>
            </a:extLst>
          </p:cNvPr>
          <p:cNvGraphicFramePr>
            <a:graphicFrameLocks noGrp="1"/>
          </p:cNvGraphicFramePr>
          <p:nvPr>
            <p:extLst>
              <p:ext uri="{D42A27DB-BD31-4B8C-83A1-F6EECF244321}">
                <p14:modId xmlns:p14="http://schemas.microsoft.com/office/powerpoint/2010/main" val="2439192460"/>
              </p:ext>
            </p:extLst>
          </p:nvPr>
        </p:nvGraphicFramePr>
        <p:xfrm>
          <a:off x="5297763" y="878555"/>
          <a:ext cx="6250770" cy="4940026"/>
        </p:xfrm>
        <a:graphic>
          <a:graphicData uri="http://schemas.openxmlformats.org/drawingml/2006/table">
            <a:tbl>
              <a:tblPr firstRow="1" bandRow="1">
                <a:tableStyleId>{5C22544A-7EE6-4342-B048-85BDC9FD1C3A}</a:tableStyleId>
              </a:tblPr>
              <a:tblGrid>
                <a:gridCol w="4094410">
                  <a:extLst>
                    <a:ext uri="{9D8B030D-6E8A-4147-A177-3AD203B41FA5}">
                      <a16:colId xmlns:a16="http://schemas.microsoft.com/office/drawing/2014/main" val="1522016893"/>
                    </a:ext>
                  </a:extLst>
                </a:gridCol>
                <a:gridCol w="2156360">
                  <a:extLst>
                    <a:ext uri="{9D8B030D-6E8A-4147-A177-3AD203B41FA5}">
                      <a16:colId xmlns:a16="http://schemas.microsoft.com/office/drawing/2014/main" val="14430240"/>
                    </a:ext>
                  </a:extLst>
                </a:gridCol>
              </a:tblGrid>
              <a:tr h="705718">
                <a:tc>
                  <a:txBody>
                    <a:bodyPr/>
                    <a:lstStyle/>
                    <a:p>
                      <a:r>
                        <a:rPr lang="en-US" sz="3200"/>
                        <a:t>Book</a:t>
                      </a:r>
                    </a:p>
                  </a:txBody>
                  <a:tcPr marL="160390" marR="160390" marT="80195" marB="80195"/>
                </a:tc>
                <a:tc>
                  <a:txBody>
                    <a:bodyPr/>
                    <a:lstStyle/>
                    <a:p>
                      <a:r>
                        <a:rPr lang="en-US" sz="3200"/>
                        <a:t># of lines</a:t>
                      </a:r>
                    </a:p>
                  </a:txBody>
                  <a:tcPr marL="160390" marR="160390" marT="80195" marB="80195"/>
                </a:tc>
                <a:extLst>
                  <a:ext uri="{0D108BD9-81ED-4DB2-BD59-A6C34878D82A}">
                    <a16:rowId xmlns:a16="http://schemas.microsoft.com/office/drawing/2014/main" val="4054410681"/>
                  </a:ext>
                </a:extLst>
              </a:tr>
              <a:tr h="705718">
                <a:tc>
                  <a:txBody>
                    <a:bodyPr/>
                    <a:lstStyle/>
                    <a:p>
                      <a:r>
                        <a:rPr lang="en-US" sz="3200"/>
                        <a:t>Sense &amp; Sensibility </a:t>
                      </a:r>
                    </a:p>
                  </a:txBody>
                  <a:tcPr marL="160390" marR="160390" marT="80195" marB="80195"/>
                </a:tc>
                <a:tc>
                  <a:txBody>
                    <a:bodyPr/>
                    <a:lstStyle/>
                    <a:p>
                      <a:r>
                        <a:rPr lang="en-US" sz="3200"/>
                        <a:t>12624</a:t>
                      </a:r>
                    </a:p>
                  </a:txBody>
                  <a:tcPr marL="160390" marR="160390" marT="80195" marB="80195"/>
                </a:tc>
                <a:extLst>
                  <a:ext uri="{0D108BD9-81ED-4DB2-BD59-A6C34878D82A}">
                    <a16:rowId xmlns:a16="http://schemas.microsoft.com/office/drawing/2014/main" val="1005905332"/>
                  </a:ext>
                </a:extLst>
              </a:tr>
              <a:tr h="705718">
                <a:tc>
                  <a:txBody>
                    <a:bodyPr/>
                    <a:lstStyle/>
                    <a:p>
                      <a:r>
                        <a:rPr lang="en-US" sz="3200"/>
                        <a:t>Pride &amp; Prejudice</a:t>
                      </a:r>
                    </a:p>
                  </a:txBody>
                  <a:tcPr marL="160390" marR="160390" marT="80195" marB="80195"/>
                </a:tc>
                <a:tc>
                  <a:txBody>
                    <a:bodyPr/>
                    <a:lstStyle/>
                    <a:p>
                      <a:r>
                        <a:rPr lang="en-US" sz="3200"/>
                        <a:t>13030</a:t>
                      </a:r>
                    </a:p>
                  </a:txBody>
                  <a:tcPr marL="160390" marR="160390" marT="80195" marB="80195"/>
                </a:tc>
                <a:extLst>
                  <a:ext uri="{0D108BD9-81ED-4DB2-BD59-A6C34878D82A}">
                    <a16:rowId xmlns:a16="http://schemas.microsoft.com/office/drawing/2014/main" val="1032794591"/>
                  </a:ext>
                </a:extLst>
              </a:tr>
              <a:tr h="705718">
                <a:tc>
                  <a:txBody>
                    <a:bodyPr/>
                    <a:lstStyle/>
                    <a:p>
                      <a:r>
                        <a:rPr lang="en-US" sz="3200"/>
                        <a:t>Mansfield Park</a:t>
                      </a:r>
                    </a:p>
                  </a:txBody>
                  <a:tcPr marL="160390" marR="160390" marT="80195" marB="80195"/>
                </a:tc>
                <a:tc>
                  <a:txBody>
                    <a:bodyPr/>
                    <a:lstStyle/>
                    <a:p>
                      <a:r>
                        <a:rPr lang="en-US" sz="3200"/>
                        <a:t>15349</a:t>
                      </a:r>
                    </a:p>
                  </a:txBody>
                  <a:tcPr marL="160390" marR="160390" marT="80195" marB="80195"/>
                </a:tc>
                <a:extLst>
                  <a:ext uri="{0D108BD9-81ED-4DB2-BD59-A6C34878D82A}">
                    <a16:rowId xmlns:a16="http://schemas.microsoft.com/office/drawing/2014/main" val="2250896043"/>
                  </a:ext>
                </a:extLst>
              </a:tr>
              <a:tr h="705718">
                <a:tc>
                  <a:txBody>
                    <a:bodyPr/>
                    <a:lstStyle/>
                    <a:p>
                      <a:r>
                        <a:rPr lang="en-US" sz="3200"/>
                        <a:t>Emma</a:t>
                      </a:r>
                    </a:p>
                  </a:txBody>
                  <a:tcPr marL="160390" marR="160390" marT="80195" marB="80195"/>
                </a:tc>
                <a:tc>
                  <a:txBody>
                    <a:bodyPr/>
                    <a:lstStyle/>
                    <a:p>
                      <a:r>
                        <a:rPr lang="en-US" sz="3200"/>
                        <a:t>16235</a:t>
                      </a:r>
                    </a:p>
                  </a:txBody>
                  <a:tcPr marL="160390" marR="160390" marT="80195" marB="80195"/>
                </a:tc>
                <a:extLst>
                  <a:ext uri="{0D108BD9-81ED-4DB2-BD59-A6C34878D82A}">
                    <a16:rowId xmlns:a16="http://schemas.microsoft.com/office/drawing/2014/main" val="477691337"/>
                  </a:ext>
                </a:extLst>
              </a:tr>
              <a:tr h="705718">
                <a:tc>
                  <a:txBody>
                    <a:bodyPr/>
                    <a:lstStyle/>
                    <a:p>
                      <a:r>
                        <a:rPr lang="en-US" sz="3200"/>
                        <a:t>Northanger Abbey</a:t>
                      </a:r>
                    </a:p>
                  </a:txBody>
                  <a:tcPr marL="160390" marR="160390" marT="80195" marB="80195"/>
                </a:tc>
                <a:tc>
                  <a:txBody>
                    <a:bodyPr/>
                    <a:lstStyle/>
                    <a:p>
                      <a:r>
                        <a:rPr lang="en-US" sz="3200"/>
                        <a:t>7856</a:t>
                      </a:r>
                    </a:p>
                  </a:txBody>
                  <a:tcPr marL="160390" marR="160390" marT="80195" marB="80195"/>
                </a:tc>
                <a:extLst>
                  <a:ext uri="{0D108BD9-81ED-4DB2-BD59-A6C34878D82A}">
                    <a16:rowId xmlns:a16="http://schemas.microsoft.com/office/drawing/2014/main" val="1535662662"/>
                  </a:ext>
                </a:extLst>
              </a:tr>
              <a:tr h="705718">
                <a:tc>
                  <a:txBody>
                    <a:bodyPr/>
                    <a:lstStyle/>
                    <a:p>
                      <a:r>
                        <a:rPr lang="en-US" sz="3200"/>
                        <a:t>Persuasion</a:t>
                      </a:r>
                    </a:p>
                  </a:txBody>
                  <a:tcPr marL="160390" marR="160390" marT="80195" marB="80195"/>
                </a:tc>
                <a:tc>
                  <a:txBody>
                    <a:bodyPr/>
                    <a:lstStyle/>
                    <a:p>
                      <a:r>
                        <a:rPr lang="en-US" sz="3200"/>
                        <a:t>8328</a:t>
                      </a:r>
                    </a:p>
                  </a:txBody>
                  <a:tcPr marL="160390" marR="160390" marT="80195" marB="80195"/>
                </a:tc>
                <a:extLst>
                  <a:ext uri="{0D108BD9-81ED-4DB2-BD59-A6C34878D82A}">
                    <a16:rowId xmlns:a16="http://schemas.microsoft.com/office/drawing/2014/main" val="2844435996"/>
                  </a:ext>
                </a:extLst>
              </a:tr>
            </a:tbl>
          </a:graphicData>
        </a:graphic>
      </p:graphicFrame>
    </p:spTree>
    <p:extLst>
      <p:ext uri="{BB962C8B-B14F-4D97-AF65-F5344CB8AC3E}">
        <p14:creationId xmlns:p14="http://schemas.microsoft.com/office/powerpoint/2010/main" val="374544891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50C6A-A99E-4B11-8840-BC2D94075742}"/>
              </a:ext>
            </a:extLst>
          </p:cNvPr>
          <p:cNvSpPr>
            <a:spLocks noGrp="1"/>
          </p:cNvSpPr>
          <p:nvPr>
            <p:ph type="title"/>
          </p:nvPr>
        </p:nvSpPr>
        <p:spPr>
          <a:xfrm>
            <a:off x="2209800" y="914737"/>
            <a:ext cx="7772400" cy="1012806"/>
          </a:xfrm>
          <a:solidFill>
            <a:srgbClr val="FFFFFF">
              <a:alpha val="10000"/>
            </a:srgbClr>
          </a:solidFill>
          <a:ln w="25400" cap="sq">
            <a:solidFill>
              <a:schemeClr val="tx1"/>
            </a:solidFill>
            <a:miter lim="800000"/>
          </a:ln>
        </p:spPr>
        <p:txBody>
          <a:bodyPr>
            <a:normAutofit/>
          </a:bodyPr>
          <a:lstStyle/>
          <a:p>
            <a:pPr algn="ctr"/>
            <a:r>
              <a:rPr lang="en-US" sz="2800">
                <a:cs typeface="Calibri Light"/>
              </a:rPr>
              <a:t>Comparing Sentiments Over Time</a:t>
            </a:r>
            <a:br>
              <a:rPr lang="en-US" sz="2800" dirty="0">
                <a:cs typeface="Calibri Light"/>
              </a:rPr>
            </a:br>
            <a:r>
              <a:rPr lang="en-US" sz="2800">
                <a:cs typeface="Calibri Light"/>
              </a:rPr>
              <a:t>Step one</a:t>
            </a:r>
            <a:endParaRPr lang="en-US" sz="2800"/>
          </a:p>
        </p:txBody>
      </p:sp>
      <p:sp>
        <p:nvSpPr>
          <p:cNvPr id="3" name="Content Placeholder 2">
            <a:extLst>
              <a:ext uri="{FF2B5EF4-FFF2-40B4-BE49-F238E27FC236}">
                <a16:creationId xmlns:a16="http://schemas.microsoft.com/office/drawing/2014/main" id="{13EEF054-E910-42B6-ACE4-923CBBF4FE26}"/>
              </a:ext>
            </a:extLst>
          </p:cNvPr>
          <p:cNvSpPr>
            <a:spLocks noGrp="1"/>
          </p:cNvSpPr>
          <p:nvPr>
            <p:ph idx="1"/>
          </p:nvPr>
        </p:nvSpPr>
        <p:spPr>
          <a:xfrm>
            <a:off x="1492209" y="2016502"/>
            <a:ext cx="9197144" cy="1721954"/>
          </a:xfrm>
        </p:spPr>
        <p:txBody>
          <a:bodyPr vert="horz" lIns="91440" tIns="45720" rIns="91440" bIns="45720" rtlCol="0" anchor="ctr">
            <a:normAutofit fontScale="85000" lnSpcReduction="10000"/>
          </a:bodyPr>
          <a:lstStyle/>
          <a:p>
            <a:pPr algn="ctr"/>
            <a:r>
              <a:rPr lang="en-US" sz="2400" dirty="0">
                <a:cs typeface="Calibri"/>
              </a:rPr>
              <a:t>Separate each word out</a:t>
            </a:r>
          </a:p>
          <a:p>
            <a:pPr algn="ctr"/>
            <a:r>
              <a:rPr lang="en-US" sz="2400" dirty="0" err="1">
                <a:cs typeface="Calibri"/>
              </a:rPr>
              <a:t>unnest_tokens</a:t>
            </a:r>
            <a:r>
              <a:rPr lang="en-US" sz="2400" dirty="0">
                <a:cs typeface="Calibri"/>
              </a:rPr>
              <a:t>() - splits a column based on a word in this case</a:t>
            </a:r>
          </a:p>
          <a:p>
            <a:pPr algn="ctr"/>
            <a:r>
              <a:rPr lang="en-US" sz="2400" dirty="0">
                <a:ea typeface="+mn-lt"/>
                <a:cs typeface="+mn-lt"/>
              </a:rPr>
              <a:t>Notice that I chose the name word for the output column from </a:t>
            </a:r>
            <a:r>
              <a:rPr lang="en-US" sz="2400" dirty="0" err="1">
                <a:ea typeface="+mn-lt"/>
                <a:cs typeface="+mn-lt"/>
              </a:rPr>
              <a:t>unnest_tokens</a:t>
            </a:r>
            <a:r>
              <a:rPr lang="en-US" sz="2400" dirty="0">
                <a:ea typeface="+mn-lt"/>
                <a:cs typeface="+mn-lt"/>
              </a:rPr>
              <a:t>(). This is a convenient choice because the sentiment lexicons and stop word datasets have columns named word; performing inner joins and anti-joins is thus easier.</a:t>
            </a:r>
            <a:endParaRPr lang="en-US" sz="2400" dirty="0">
              <a:cs typeface="Calibri"/>
            </a:endParaRPr>
          </a:p>
          <a:p>
            <a:pPr algn="ctr"/>
            <a:endParaRPr lang="en-US" sz="1600">
              <a:cs typeface="Calibri"/>
            </a:endParaRPr>
          </a:p>
        </p:txBody>
      </p:sp>
      <p:pic>
        <p:nvPicPr>
          <p:cNvPr id="6" name="Picture 6" descr="A picture containing bird&#10;&#10;Description generated with very high confidence">
            <a:extLst>
              <a:ext uri="{FF2B5EF4-FFF2-40B4-BE49-F238E27FC236}">
                <a16:creationId xmlns:a16="http://schemas.microsoft.com/office/drawing/2014/main" id="{81F18BF3-7EA9-4D58-9572-77E9B82A80D2}"/>
              </a:ext>
            </a:extLst>
          </p:cNvPr>
          <p:cNvPicPr>
            <a:picLocks noChangeAspect="1"/>
          </p:cNvPicPr>
          <p:nvPr/>
        </p:nvPicPr>
        <p:blipFill>
          <a:blip r:embed="rId2"/>
          <a:stretch>
            <a:fillRect/>
          </a:stretch>
        </p:blipFill>
        <p:spPr>
          <a:xfrm>
            <a:off x="1341938" y="3702158"/>
            <a:ext cx="9508124" cy="1883251"/>
          </a:xfrm>
          <a:prstGeom prst="rect">
            <a:avLst/>
          </a:prstGeom>
        </p:spPr>
      </p:pic>
    </p:spTree>
    <p:extLst>
      <p:ext uri="{BB962C8B-B14F-4D97-AF65-F5344CB8AC3E}">
        <p14:creationId xmlns:p14="http://schemas.microsoft.com/office/powerpoint/2010/main" val="138725392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5D61A1-8484-4749-8AD0-A3455E075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55436E-F0D7-4C27-988F-32C7F837202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Step two</a:t>
            </a:r>
          </a:p>
        </p:txBody>
      </p:sp>
      <p:sp>
        <p:nvSpPr>
          <p:cNvPr id="18" name="Rounded Rectangle 5">
            <a:extLst>
              <a:ext uri="{FF2B5EF4-FFF2-40B4-BE49-F238E27FC236}">
                <a16:creationId xmlns:a16="http://schemas.microsoft.com/office/drawing/2014/main" id="{1447903E-2B66-479D-959B-F2EBB2CC9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BA27DCB9-15D8-406B-9B9A-C81237FDDF7C}"/>
              </a:ext>
            </a:extLst>
          </p:cNvPr>
          <p:cNvPicPr>
            <a:picLocks noGrp="1" noChangeAspect="1"/>
          </p:cNvPicPr>
          <p:nvPr>
            <p:ph idx="1"/>
          </p:nvPr>
        </p:nvPicPr>
        <p:blipFill rotWithShape="1">
          <a:blip r:embed="rId2"/>
          <a:srcRect r="8694"/>
          <a:stretch/>
        </p:blipFill>
        <p:spPr>
          <a:xfrm>
            <a:off x="1158240" y="2149222"/>
            <a:ext cx="9875520" cy="3721608"/>
          </a:xfrm>
          <a:prstGeom prst="rect">
            <a:avLst/>
          </a:prstGeom>
          <a:effectLst/>
        </p:spPr>
      </p:pic>
    </p:spTree>
    <p:extLst>
      <p:ext uri="{BB962C8B-B14F-4D97-AF65-F5344CB8AC3E}">
        <p14:creationId xmlns:p14="http://schemas.microsoft.com/office/powerpoint/2010/main" val="1935293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A screenshot of a cell phone&#10;&#10;Description generated with high confidence">
            <a:extLst>
              <a:ext uri="{FF2B5EF4-FFF2-40B4-BE49-F238E27FC236}">
                <a16:creationId xmlns:a16="http://schemas.microsoft.com/office/drawing/2014/main" id="{5E6DAB00-470A-42D4-AF85-015656136BBB}"/>
              </a:ext>
            </a:extLst>
          </p:cNvPr>
          <p:cNvPicPr>
            <a:picLocks noChangeAspect="1"/>
          </p:cNvPicPr>
          <p:nvPr/>
        </p:nvPicPr>
        <p:blipFill>
          <a:blip r:embed="rId2"/>
          <a:stretch>
            <a:fillRect/>
          </a:stretch>
        </p:blipFill>
        <p:spPr>
          <a:xfrm>
            <a:off x="643467" y="1386743"/>
            <a:ext cx="10905066" cy="4084513"/>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98CF42-B7B6-46CB-9B05-C43DDF7D880E}"/>
              </a:ext>
            </a:extLst>
          </p:cNvPr>
          <p:cNvSpPr txBox="1"/>
          <p:nvPr/>
        </p:nvSpPr>
        <p:spPr>
          <a:xfrm rot="-10800000" flipV="1">
            <a:off x="2495550" y="5508724"/>
            <a:ext cx="49720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33333"/>
                </a:solidFill>
                <a:latin typeface="Helvetica Neue"/>
              </a:rPr>
              <a:t>We see mostly positive, happy words about hope, friendship, and love here. We also see some words that may not be used joyfully by </a:t>
            </a:r>
            <a:r>
              <a:rPr lang="en-US">
                <a:solidFill>
                  <a:srgbClr val="333333"/>
                </a:solidFill>
                <a:latin typeface="Helvetica Neue"/>
              </a:rPr>
              <a:t>Austen (“daughter”, "mother")</a:t>
            </a:r>
            <a:endParaRPr lang="en-US"/>
          </a:p>
        </p:txBody>
      </p:sp>
    </p:spTree>
    <p:extLst>
      <p:ext uri="{BB962C8B-B14F-4D97-AF65-F5344CB8AC3E}">
        <p14:creationId xmlns:p14="http://schemas.microsoft.com/office/powerpoint/2010/main" val="283670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BB984-0ED3-48A9-9749-5F2F16AAB224}"/>
              </a:ext>
            </a:extLst>
          </p:cNvPr>
          <p:cNvSpPr>
            <a:spLocks noGrp="1"/>
          </p:cNvSpPr>
          <p:nvPr>
            <p:ph type="title"/>
          </p:nvPr>
        </p:nvSpPr>
        <p:spPr>
          <a:xfrm>
            <a:off x="838200" y="365125"/>
            <a:ext cx="10515600" cy="1325563"/>
          </a:xfrm>
        </p:spPr>
        <p:txBody>
          <a:bodyPr>
            <a:normAutofit/>
          </a:bodyPr>
          <a:lstStyle/>
          <a:p>
            <a:r>
              <a:rPr lang="en-US">
                <a:cs typeface="Calibri Light"/>
              </a:rPr>
              <a:t>Step 3 </a:t>
            </a:r>
            <a:endParaRPr lang="en-US"/>
          </a:p>
        </p:txBody>
      </p:sp>
      <p:graphicFrame>
        <p:nvGraphicFramePr>
          <p:cNvPr id="5" name="Content Placeholder 2">
            <a:extLst>
              <a:ext uri="{FF2B5EF4-FFF2-40B4-BE49-F238E27FC236}">
                <a16:creationId xmlns:a16="http://schemas.microsoft.com/office/drawing/2014/main" id="{95365F03-15EA-41FA-A03A-ABCF2CF4ED2B}"/>
              </a:ext>
            </a:extLst>
          </p:cNvPr>
          <p:cNvGraphicFramePr>
            <a:graphicFrameLocks noGrp="1"/>
          </p:cNvGraphicFramePr>
          <p:nvPr>
            <p:ph idx="1"/>
            <p:extLst>
              <p:ext uri="{D42A27DB-BD31-4B8C-83A1-F6EECF244321}">
                <p14:modId xmlns:p14="http://schemas.microsoft.com/office/powerpoint/2010/main" val="173524638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790936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94BCE-02FC-4879-BBC6-40A79499EAAA}"/>
              </a:ext>
            </a:extLst>
          </p:cNvPr>
          <p:cNvSpPr>
            <a:spLocks noGrp="1"/>
          </p:cNvSpPr>
          <p:nvPr>
            <p:ph type="title"/>
          </p:nvPr>
        </p:nvSpPr>
        <p:spPr>
          <a:xfrm>
            <a:off x="2209800" y="507641"/>
            <a:ext cx="7772400" cy="1012806"/>
          </a:xfrm>
          <a:solidFill>
            <a:srgbClr val="FFFFFF">
              <a:alpha val="10000"/>
            </a:srgbClr>
          </a:solidFill>
          <a:ln w="25400" cap="sq">
            <a:solidFill>
              <a:schemeClr val="tx1"/>
            </a:solidFill>
            <a:miter lim="800000"/>
          </a:ln>
        </p:spPr>
        <p:txBody>
          <a:bodyPr vert="horz" lIns="91440" tIns="45720" rIns="91440" bIns="45720" rtlCol="0" anchor="ctr">
            <a:normAutofit/>
          </a:bodyPr>
          <a:lstStyle/>
          <a:p>
            <a:pPr algn="ctr"/>
            <a:r>
              <a:rPr lang="en-US" sz="2800" kern="1200">
                <a:solidFill>
                  <a:schemeClr val="tx1"/>
                </a:solidFill>
                <a:latin typeface="+mj-lt"/>
                <a:ea typeface="+mj-ea"/>
                <a:cs typeface="+mj-cs"/>
              </a:rPr>
              <a:t>Step 3</a:t>
            </a:r>
          </a:p>
        </p:txBody>
      </p:sp>
      <p:sp>
        <p:nvSpPr>
          <p:cNvPr id="6" name="TextBox 5">
            <a:extLst>
              <a:ext uri="{FF2B5EF4-FFF2-40B4-BE49-F238E27FC236}">
                <a16:creationId xmlns:a16="http://schemas.microsoft.com/office/drawing/2014/main" id="{0F2EDF09-F32B-4994-9CDD-5F94009C804F}"/>
              </a:ext>
            </a:extLst>
          </p:cNvPr>
          <p:cNvSpPr txBox="1"/>
          <p:nvPr/>
        </p:nvSpPr>
        <p:spPr>
          <a:xfrm>
            <a:off x="1419141" y="1651160"/>
            <a:ext cx="9044222" cy="208038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indent="-228600" algn="ctr">
              <a:lnSpc>
                <a:spcPct val="90000"/>
              </a:lnSpc>
              <a:spcAft>
                <a:spcPts val="600"/>
              </a:spcAft>
              <a:buFont typeface="Arial" panose="020B0604020202020204" pitchFamily="34" charset="0"/>
              <a:buChar char="•"/>
            </a:pPr>
            <a:r>
              <a:rPr lang="en-US" sz="2000" dirty="0"/>
              <a:t>Small sections of text may not have enough words in them to get a good estimate of sentiment while really large sections can wash out narrative structure</a:t>
            </a:r>
            <a:endParaRPr lang="en-US" sz="2000" dirty="0">
              <a:cs typeface="Calibri"/>
            </a:endParaRPr>
          </a:p>
          <a:p>
            <a:pPr indent="-228600" algn="ctr">
              <a:lnSpc>
                <a:spcPct val="90000"/>
              </a:lnSpc>
              <a:spcAft>
                <a:spcPts val="600"/>
              </a:spcAft>
              <a:buFont typeface="Arial" panose="020B0604020202020204" pitchFamily="34" charset="0"/>
              <a:buChar char="•"/>
            </a:pPr>
            <a:r>
              <a:rPr lang="en-US" sz="2000" dirty="0"/>
              <a:t>For these books, using 80 lines works well, but this can vary depending on individual texts, how long the lines were to start with, etc. </a:t>
            </a:r>
            <a:endParaRPr lang="en-US" sz="2000" dirty="0">
              <a:cs typeface="Calibri"/>
            </a:endParaRPr>
          </a:p>
          <a:p>
            <a:pPr indent="-228600" algn="ctr">
              <a:lnSpc>
                <a:spcPct val="90000"/>
              </a:lnSpc>
              <a:spcAft>
                <a:spcPts val="600"/>
              </a:spcAft>
              <a:buFont typeface="Arial" panose="020B0604020202020204" pitchFamily="34" charset="0"/>
              <a:buChar char="•"/>
            </a:pPr>
            <a:r>
              <a:rPr lang="en-US" sz="2000" dirty="0"/>
              <a:t>We then use spread() so that we have negative and positive sentiment in separate columns, and lastly calculate a net sentiment (positive - negative).</a:t>
            </a:r>
            <a:endParaRPr lang="en-US" sz="2000" dirty="0">
              <a:cs typeface="Calibri"/>
            </a:endParaRPr>
          </a:p>
        </p:txBody>
      </p:sp>
      <p:pic>
        <p:nvPicPr>
          <p:cNvPr id="4" name="Picture 4" descr="A screenshot of a cell phone&#10;&#10;Description generated with high confidence">
            <a:extLst>
              <a:ext uri="{FF2B5EF4-FFF2-40B4-BE49-F238E27FC236}">
                <a16:creationId xmlns:a16="http://schemas.microsoft.com/office/drawing/2014/main" id="{C2E86D91-F219-43E9-94B0-1E4036E60DAB}"/>
              </a:ext>
            </a:extLst>
          </p:cNvPr>
          <p:cNvPicPr>
            <a:picLocks noGrp="1" noChangeAspect="1"/>
          </p:cNvPicPr>
          <p:nvPr>
            <p:ph idx="1"/>
          </p:nvPr>
        </p:nvPicPr>
        <p:blipFill>
          <a:blip r:embed="rId2"/>
          <a:stretch>
            <a:fillRect/>
          </a:stretch>
        </p:blipFill>
        <p:spPr>
          <a:xfrm>
            <a:off x="1801225" y="3873874"/>
            <a:ext cx="8318152" cy="2364449"/>
          </a:xfrm>
          <a:prstGeom prst="rect">
            <a:avLst/>
          </a:prstGeom>
        </p:spPr>
      </p:pic>
    </p:spTree>
    <p:extLst>
      <p:ext uri="{BB962C8B-B14F-4D97-AF65-F5344CB8AC3E}">
        <p14:creationId xmlns:p14="http://schemas.microsoft.com/office/powerpoint/2010/main" val="17655452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3B8D-D022-44F0-950A-C09546B19F8B}"/>
              </a:ext>
            </a:extLst>
          </p:cNvPr>
          <p:cNvSpPr>
            <a:spLocks noGrp="1"/>
          </p:cNvSpPr>
          <p:nvPr>
            <p:ph type="title"/>
          </p:nvPr>
        </p:nvSpPr>
        <p:spPr/>
        <p:txBody>
          <a:bodyPr/>
          <a:lstStyle/>
          <a:p>
            <a:r>
              <a:rPr lang="en-US">
                <a:solidFill>
                  <a:schemeClr val="bg1"/>
                </a:solidFill>
                <a:cs typeface="Calibri Light"/>
              </a:rPr>
              <a:t>Plotting</a:t>
            </a:r>
            <a:endParaRPr lang="en-US" dirty="0">
              <a:solidFill>
                <a:schemeClr val="bg1"/>
              </a:solidFill>
              <a:cs typeface="Calibri Light"/>
            </a:endParaRPr>
          </a:p>
        </p:txBody>
      </p:sp>
      <p:pic>
        <p:nvPicPr>
          <p:cNvPr id="4" name="Picture 4" descr="A picture containing bird&#10;&#10;Description generated with very high confidence">
            <a:extLst>
              <a:ext uri="{FF2B5EF4-FFF2-40B4-BE49-F238E27FC236}">
                <a16:creationId xmlns:a16="http://schemas.microsoft.com/office/drawing/2014/main" id="{F6B632B3-1E11-4A58-8622-74C2E5D75CDE}"/>
              </a:ext>
            </a:extLst>
          </p:cNvPr>
          <p:cNvPicPr>
            <a:picLocks noGrp="1" noChangeAspect="1"/>
          </p:cNvPicPr>
          <p:nvPr>
            <p:ph idx="1"/>
          </p:nvPr>
        </p:nvPicPr>
        <p:blipFill>
          <a:blip r:embed="rId2"/>
          <a:stretch>
            <a:fillRect/>
          </a:stretch>
        </p:blipFill>
        <p:spPr>
          <a:xfrm>
            <a:off x="778569" y="3042334"/>
            <a:ext cx="9747599" cy="1448193"/>
          </a:xfrm>
        </p:spPr>
      </p:pic>
    </p:spTree>
    <p:extLst>
      <p:ext uri="{BB962C8B-B14F-4D97-AF65-F5344CB8AC3E}">
        <p14:creationId xmlns:p14="http://schemas.microsoft.com/office/powerpoint/2010/main" val="1582911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5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24E1D87F-C953-4CC2-81E9-C249A6DD412C}"/>
              </a:ext>
            </a:extLst>
          </p:cNvPr>
          <p:cNvPicPr>
            <a:picLocks noChangeAspect="1"/>
          </p:cNvPicPr>
          <p:nvPr/>
        </p:nvPicPr>
        <p:blipFill>
          <a:blip r:embed="rId2"/>
          <a:stretch>
            <a:fillRect/>
          </a:stretch>
        </p:blipFill>
        <p:spPr>
          <a:xfrm>
            <a:off x="1802149" y="643467"/>
            <a:ext cx="7235152" cy="5571066"/>
          </a:xfrm>
          <a:prstGeom prst="rect">
            <a:avLst/>
          </a:prstGeom>
        </p:spPr>
      </p:pic>
      <p:sp>
        <p:nvSpPr>
          <p:cNvPr id="6" name="TextBox 5">
            <a:extLst>
              <a:ext uri="{FF2B5EF4-FFF2-40B4-BE49-F238E27FC236}">
                <a16:creationId xmlns:a16="http://schemas.microsoft.com/office/drawing/2014/main" id="{FE654AC3-C0C7-4441-9226-72BBC4E156CC}"/>
              </a:ext>
            </a:extLst>
          </p:cNvPr>
          <p:cNvSpPr txBox="1"/>
          <p:nvPr/>
        </p:nvSpPr>
        <p:spPr>
          <a:xfrm>
            <a:off x="9153264" y="3611148"/>
            <a:ext cx="223172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333333"/>
                </a:solidFill>
                <a:latin typeface="Helvetica Neue"/>
              </a:rPr>
              <a:t>We can see in how the plot of each novel changes toward more positive or negative sentiment over the trajectory of the story.</a:t>
            </a:r>
            <a:endParaRPr lang="en-US"/>
          </a:p>
        </p:txBody>
      </p:sp>
    </p:spTree>
    <p:extLst>
      <p:ext uri="{BB962C8B-B14F-4D97-AF65-F5344CB8AC3E}">
        <p14:creationId xmlns:p14="http://schemas.microsoft.com/office/powerpoint/2010/main" val="560555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F258AE-B269-42F1-A6BC-DE87AD7DF1A8}"/>
              </a:ext>
            </a:extLst>
          </p:cNvPr>
          <p:cNvSpPr>
            <a:spLocks noGrp="1"/>
          </p:cNvSpPr>
          <p:nvPr>
            <p:ph type="title"/>
          </p:nvPr>
        </p:nvSpPr>
        <p:spPr>
          <a:xfrm>
            <a:off x="838200" y="585216"/>
            <a:ext cx="10515600" cy="1325563"/>
          </a:xfrm>
        </p:spPr>
        <p:txBody>
          <a:bodyPr>
            <a:normAutofit/>
          </a:bodyPr>
          <a:lstStyle/>
          <a:p>
            <a:r>
              <a:rPr lang="en-US">
                <a:solidFill>
                  <a:schemeClr val="bg1"/>
                </a:solidFill>
              </a:rPr>
              <a:t> Comparing the three sentiment dictionaries</a:t>
            </a:r>
          </a:p>
        </p:txBody>
      </p:sp>
      <p:sp>
        <p:nvSpPr>
          <p:cNvPr id="3" name="Content Placeholder 2">
            <a:extLst>
              <a:ext uri="{FF2B5EF4-FFF2-40B4-BE49-F238E27FC236}">
                <a16:creationId xmlns:a16="http://schemas.microsoft.com/office/drawing/2014/main" id="{6E87EEB8-D076-4231-A438-D795661D85A1}"/>
              </a:ext>
            </a:extLst>
          </p:cNvPr>
          <p:cNvSpPr>
            <a:spLocks noGrp="1"/>
          </p:cNvSpPr>
          <p:nvPr>
            <p:ph idx="1"/>
          </p:nvPr>
        </p:nvSpPr>
        <p:spPr>
          <a:xfrm>
            <a:off x="7546848" y="2516777"/>
            <a:ext cx="3803904" cy="3660185"/>
          </a:xfrm>
        </p:spPr>
        <p:txBody>
          <a:bodyPr vert="horz" lIns="91440" tIns="45720" rIns="91440" bIns="45720" rtlCol="0" anchor="ctr">
            <a:normAutofit/>
          </a:bodyPr>
          <a:lstStyle/>
          <a:p>
            <a:r>
              <a:rPr lang="en-US" sz="2200">
                <a:ea typeface="+mn-lt"/>
                <a:cs typeface="+mn-lt"/>
              </a:rPr>
              <a:t>With several options for sentiment lexicons, you might want some more information on which one is appropriate for your purposes</a:t>
            </a:r>
          </a:p>
          <a:p>
            <a:r>
              <a:rPr lang="en-US" sz="2200">
                <a:ea typeface="+mn-lt"/>
                <a:cs typeface="+mn-lt"/>
              </a:rPr>
              <a:t> My example will show sentiment changes across the narrative arc of </a:t>
            </a:r>
            <a:r>
              <a:rPr lang="en-US" sz="2200" i="1">
                <a:ea typeface="+mn-lt"/>
                <a:cs typeface="+mn-lt"/>
              </a:rPr>
              <a:t>Pride and Prejudice with all 3 </a:t>
            </a:r>
            <a:endParaRPr lang="en-US" sz="2200">
              <a:ea typeface="+mn-lt"/>
              <a:cs typeface="+mn-lt"/>
            </a:endParaRPr>
          </a:p>
          <a:p>
            <a:pPr marL="0" indent="0">
              <a:buNone/>
            </a:pPr>
            <a:endParaRPr lang="en-US" sz="2200">
              <a:cs typeface="Calibri"/>
            </a:endParaRPr>
          </a:p>
        </p:txBody>
      </p:sp>
      <p:pic>
        <p:nvPicPr>
          <p:cNvPr id="6" name="Picture 6" descr="A screenshot of a cell phone&#10;&#10;Description generated with very high confidence">
            <a:extLst>
              <a:ext uri="{FF2B5EF4-FFF2-40B4-BE49-F238E27FC236}">
                <a16:creationId xmlns:a16="http://schemas.microsoft.com/office/drawing/2014/main" id="{B4395AA1-CDAA-4149-A4D6-2C6A3B08F5F5}"/>
              </a:ext>
            </a:extLst>
          </p:cNvPr>
          <p:cNvPicPr>
            <a:picLocks noChangeAspect="1"/>
          </p:cNvPicPr>
          <p:nvPr/>
        </p:nvPicPr>
        <p:blipFill>
          <a:blip r:embed="rId2"/>
          <a:stretch>
            <a:fillRect/>
          </a:stretch>
        </p:blipFill>
        <p:spPr>
          <a:xfrm>
            <a:off x="945716" y="2688281"/>
            <a:ext cx="6031281" cy="3235084"/>
          </a:xfrm>
          <a:prstGeom prst="rect">
            <a:avLst/>
          </a:prstGeom>
        </p:spPr>
      </p:pic>
    </p:spTree>
    <p:extLst>
      <p:ext uri="{BB962C8B-B14F-4D97-AF65-F5344CB8AC3E}">
        <p14:creationId xmlns:p14="http://schemas.microsoft.com/office/powerpoint/2010/main" val="3435065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B3FA-39AE-493F-80C5-E8873C618BF8}"/>
              </a:ext>
            </a:extLst>
          </p:cNvPr>
          <p:cNvSpPr>
            <a:spLocks noGrp="1"/>
          </p:cNvSpPr>
          <p:nvPr>
            <p:ph type="title"/>
          </p:nvPr>
        </p:nvSpPr>
        <p:spPr>
          <a:xfrm>
            <a:off x="838200" y="365125"/>
            <a:ext cx="10515600" cy="1325563"/>
          </a:xfrm>
        </p:spPr>
        <p:txBody>
          <a:bodyPr>
            <a:normAutofit/>
          </a:bodyPr>
          <a:lstStyle/>
          <a:p>
            <a:r>
              <a:rPr lang="en-US" dirty="0">
                <a:cs typeface="Calibri Light"/>
              </a:rPr>
              <a:t>Helpful Note</a:t>
            </a:r>
          </a:p>
        </p:txBody>
      </p:sp>
      <p:graphicFrame>
        <p:nvGraphicFramePr>
          <p:cNvPr id="5" name="Content Placeholder 2">
            <a:extLst>
              <a:ext uri="{FF2B5EF4-FFF2-40B4-BE49-F238E27FC236}">
                <a16:creationId xmlns:a16="http://schemas.microsoft.com/office/drawing/2014/main" id="{124A2C46-26F3-4F41-9B0F-99810E59B349}"/>
              </a:ext>
            </a:extLst>
          </p:cNvPr>
          <p:cNvGraphicFramePr>
            <a:graphicFrameLocks noGrp="1"/>
          </p:cNvGraphicFramePr>
          <p:nvPr>
            <p:ph idx="1"/>
            <p:extLst>
              <p:ext uri="{D42A27DB-BD31-4B8C-83A1-F6EECF244321}">
                <p14:modId xmlns:p14="http://schemas.microsoft.com/office/powerpoint/2010/main" val="7805676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985002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8FD88A-90A1-4012-A211-6709F52A9A25}"/>
              </a:ext>
            </a:extLst>
          </p:cNvPr>
          <p:cNvSpPr>
            <a:spLocks noGrp="1"/>
          </p:cNvSpPr>
          <p:nvPr>
            <p:ph type="title"/>
          </p:nvPr>
        </p:nvSpPr>
        <p:spPr>
          <a:xfrm>
            <a:off x="594360" y="640263"/>
            <a:ext cx="3822192" cy="1344975"/>
          </a:xfrm>
          <a:prstGeom prst="ellipse">
            <a:avLst/>
          </a:prstGeom>
        </p:spPr>
        <p:txBody>
          <a:bodyPr vert="horz" lIns="91440" tIns="45720" rIns="91440" bIns="45720" rtlCol="0" anchor="ctr">
            <a:normAutofit/>
          </a:bodyPr>
          <a:lstStyle/>
          <a:p>
            <a:r>
              <a:rPr lang="en-US" sz="3100" kern="1200">
                <a:solidFill>
                  <a:schemeClr val="bg1"/>
                </a:solidFill>
                <a:latin typeface="+mj-lt"/>
                <a:ea typeface="+mj-ea"/>
                <a:cs typeface="+mj-cs"/>
              </a:rPr>
              <a:t>Getting the scores </a:t>
            </a:r>
          </a:p>
        </p:txBody>
      </p:sp>
      <p:cxnSp>
        <p:nvCxnSpPr>
          <p:cNvPr id="25" name="Straight Connector 24">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E93AEC3-ED0B-4E30-839A-19665C088FF1}"/>
              </a:ext>
            </a:extLst>
          </p:cNvPr>
          <p:cNvSpPr txBox="1"/>
          <p:nvPr/>
        </p:nvSpPr>
        <p:spPr>
          <a:xfrm>
            <a:off x="593610" y="2121763"/>
            <a:ext cx="3822192" cy="37730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a:solidFill>
                  <a:schemeClr val="bg1"/>
                </a:solidFill>
              </a:rPr>
              <a:t>We now have an estimate of the net sentiment (positive - negative) in each chunk of the novel text for each sentiment lexicon</a:t>
            </a:r>
            <a:endParaRPr lang="en-US">
              <a:solidFill>
                <a:schemeClr val="bg1"/>
              </a:solidFill>
            </a:endParaRPr>
          </a:p>
          <a:p>
            <a:pPr indent="-228600">
              <a:lnSpc>
                <a:spcPct val="90000"/>
              </a:lnSpc>
              <a:spcAft>
                <a:spcPts val="600"/>
              </a:spcAft>
              <a:buFont typeface="Arial" panose="020B0604020202020204" pitchFamily="34" charset="0"/>
              <a:buChar char="•"/>
            </a:pPr>
            <a:r>
              <a:rPr lang="en-US" sz="2000">
                <a:solidFill>
                  <a:schemeClr val="bg1"/>
                </a:solidFill>
              </a:rPr>
              <a:t>Let’s bind them together and visualize them</a:t>
            </a:r>
            <a:endParaRPr lang="en-US">
              <a:solidFill>
                <a:schemeClr val="bg1"/>
              </a:solidFill>
            </a:endParaRPr>
          </a:p>
        </p:txBody>
      </p:sp>
      <p:pic>
        <p:nvPicPr>
          <p:cNvPr id="4" name="Picture 4" descr="A screenshot of a cell phone&#10;&#10;Description generated with high confidence">
            <a:extLst>
              <a:ext uri="{FF2B5EF4-FFF2-40B4-BE49-F238E27FC236}">
                <a16:creationId xmlns:a16="http://schemas.microsoft.com/office/drawing/2014/main" id="{18F2A212-E782-4AC8-A24B-D97C671DCDE5}"/>
              </a:ext>
            </a:extLst>
          </p:cNvPr>
          <p:cNvPicPr>
            <a:picLocks noGrp="1" noChangeAspect="1"/>
          </p:cNvPicPr>
          <p:nvPr>
            <p:ph idx="1"/>
          </p:nvPr>
        </p:nvPicPr>
        <p:blipFill>
          <a:blip r:embed="rId2"/>
          <a:stretch>
            <a:fillRect/>
          </a:stretch>
        </p:blipFill>
        <p:spPr>
          <a:xfrm>
            <a:off x="5110716" y="1839327"/>
            <a:ext cx="6596652" cy="3023896"/>
          </a:xfrm>
          <a:prstGeom prst="rect">
            <a:avLst/>
          </a:prstGeom>
        </p:spPr>
      </p:pic>
    </p:spTree>
    <p:extLst>
      <p:ext uri="{BB962C8B-B14F-4D97-AF65-F5344CB8AC3E}">
        <p14:creationId xmlns:p14="http://schemas.microsoft.com/office/powerpoint/2010/main" val="1188162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B3FA-39AE-493F-80C5-E8873C618BF8}"/>
              </a:ext>
            </a:extLst>
          </p:cNvPr>
          <p:cNvSpPr>
            <a:spLocks noGrp="1"/>
          </p:cNvSpPr>
          <p:nvPr>
            <p:ph type="title"/>
          </p:nvPr>
        </p:nvSpPr>
        <p:spPr>
          <a:xfrm>
            <a:off x="838200" y="365125"/>
            <a:ext cx="10515600" cy="1325563"/>
          </a:xfrm>
        </p:spPr>
        <p:txBody>
          <a:bodyPr>
            <a:normAutofit/>
          </a:bodyPr>
          <a:lstStyle/>
          <a:p>
            <a:r>
              <a:rPr lang="en-US">
                <a:cs typeface="Calibri Light"/>
              </a:rPr>
              <a:t>Simple Bind and Plot</a:t>
            </a:r>
            <a:endParaRPr lang="en-US" dirty="0">
              <a:cs typeface="Calibri Light"/>
            </a:endParaRPr>
          </a:p>
        </p:txBody>
      </p:sp>
      <p:pic>
        <p:nvPicPr>
          <p:cNvPr id="12" name="Picture 4" descr="A picture containing laptop, bird, room&#10;&#10;Description generated with very high confidence">
            <a:extLst>
              <a:ext uri="{FF2B5EF4-FFF2-40B4-BE49-F238E27FC236}">
                <a16:creationId xmlns:a16="http://schemas.microsoft.com/office/drawing/2014/main" id="{2561ECA4-A130-41FD-AB46-5E0C87F48ABB}"/>
              </a:ext>
            </a:extLst>
          </p:cNvPr>
          <p:cNvPicPr>
            <a:picLocks noChangeAspect="1"/>
          </p:cNvPicPr>
          <p:nvPr/>
        </p:nvPicPr>
        <p:blipFill>
          <a:blip r:embed="rId2"/>
          <a:stretch>
            <a:fillRect/>
          </a:stretch>
        </p:blipFill>
        <p:spPr>
          <a:xfrm>
            <a:off x="1393323" y="3166486"/>
            <a:ext cx="8612035" cy="1920136"/>
          </a:xfrm>
          <a:prstGeom prst="rect">
            <a:avLst/>
          </a:prstGeom>
        </p:spPr>
      </p:pic>
    </p:spTree>
    <p:extLst>
      <p:ext uri="{BB962C8B-B14F-4D97-AF65-F5344CB8AC3E}">
        <p14:creationId xmlns:p14="http://schemas.microsoft.com/office/powerpoint/2010/main" val="3266149854"/>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4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A picture containing pencil&#10;&#10;Description generated with very high confidence">
            <a:extLst>
              <a:ext uri="{FF2B5EF4-FFF2-40B4-BE49-F238E27FC236}">
                <a16:creationId xmlns:a16="http://schemas.microsoft.com/office/drawing/2014/main" id="{8FA611E5-4D56-432A-BAED-012CEFF34CAF}"/>
              </a:ext>
            </a:extLst>
          </p:cNvPr>
          <p:cNvPicPr>
            <a:picLocks noChangeAspect="1"/>
          </p:cNvPicPr>
          <p:nvPr/>
        </p:nvPicPr>
        <p:blipFill>
          <a:blip r:embed="rId2"/>
          <a:stretch>
            <a:fillRect/>
          </a:stretch>
        </p:blipFill>
        <p:spPr>
          <a:xfrm>
            <a:off x="1639146" y="643467"/>
            <a:ext cx="8913707" cy="5571066"/>
          </a:xfrm>
          <a:prstGeom prst="rect">
            <a:avLst/>
          </a:prstGeom>
        </p:spPr>
      </p:pic>
    </p:spTree>
    <p:extLst>
      <p:ext uri="{BB962C8B-B14F-4D97-AF65-F5344CB8AC3E}">
        <p14:creationId xmlns:p14="http://schemas.microsoft.com/office/powerpoint/2010/main" val="1945176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7926-9BC3-4CF7-8891-7F4240F16666}"/>
              </a:ext>
            </a:extLst>
          </p:cNvPr>
          <p:cNvSpPr>
            <a:spLocks noGrp="1"/>
          </p:cNvSpPr>
          <p:nvPr>
            <p:ph type="title"/>
          </p:nvPr>
        </p:nvSpPr>
        <p:spPr>
          <a:xfrm>
            <a:off x="838200" y="365125"/>
            <a:ext cx="10515600" cy="1325563"/>
          </a:xfrm>
        </p:spPr>
        <p:txBody>
          <a:bodyPr>
            <a:normAutofit/>
          </a:bodyPr>
          <a:lstStyle/>
          <a:p>
            <a:r>
              <a:rPr lang="en-US" dirty="0">
                <a:cs typeface="Calibri Light"/>
              </a:rPr>
              <a:t>What We See</a:t>
            </a:r>
            <a:endParaRPr lang="en-US" dirty="0"/>
          </a:p>
        </p:txBody>
      </p:sp>
      <p:graphicFrame>
        <p:nvGraphicFramePr>
          <p:cNvPr id="5" name="Content Placeholder 2">
            <a:extLst>
              <a:ext uri="{FF2B5EF4-FFF2-40B4-BE49-F238E27FC236}">
                <a16:creationId xmlns:a16="http://schemas.microsoft.com/office/drawing/2014/main" id="{B7DAFE98-2761-4638-A2F5-A0C288D7E5FD}"/>
              </a:ext>
            </a:extLst>
          </p:cNvPr>
          <p:cNvGraphicFramePr>
            <a:graphicFrameLocks noGrp="1"/>
          </p:cNvGraphicFramePr>
          <p:nvPr>
            <p:ph idx="1"/>
            <p:extLst>
              <p:ext uri="{D42A27DB-BD31-4B8C-83A1-F6EECF244321}">
                <p14:modId xmlns:p14="http://schemas.microsoft.com/office/powerpoint/2010/main" val="2277597369"/>
              </p:ext>
            </p:extLst>
          </p:nvPr>
        </p:nvGraphicFramePr>
        <p:xfrm>
          <a:off x="838200" y="1825625"/>
          <a:ext cx="10891380" cy="4904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2150222"/>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73170-F162-4C11-9291-985975AD2DAA}"/>
              </a:ext>
            </a:extLst>
          </p:cNvPr>
          <p:cNvSpPr>
            <a:spLocks noGrp="1"/>
          </p:cNvSpPr>
          <p:nvPr>
            <p:ph type="title"/>
          </p:nvPr>
        </p:nvSpPr>
        <p:spPr>
          <a:xfrm>
            <a:off x="2209800" y="914737"/>
            <a:ext cx="7772400" cy="1012806"/>
          </a:xfrm>
          <a:solidFill>
            <a:srgbClr val="FFFFFF">
              <a:alpha val="10000"/>
            </a:srgbClr>
          </a:solidFill>
          <a:ln w="25400" cap="sq">
            <a:solidFill>
              <a:schemeClr val="tx1"/>
            </a:solidFill>
            <a:miter lim="800000"/>
          </a:ln>
        </p:spPr>
        <p:txBody>
          <a:bodyPr>
            <a:normAutofit/>
          </a:bodyPr>
          <a:lstStyle/>
          <a:p>
            <a:pPr algn="ctr"/>
            <a:r>
              <a:rPr lang="en-US" sz="2800">
                <a:cs typeface="Calibri Light"/>
              </a:rPr>
              <a:t>Simple Question</a:t>
            </a:r>
          </a:p>
        </p:txBody>
      </p:sp>
      <p:sp>
        <p:nvSpPr>
          <p:cNvPr id="3" name="Content Placeholder 2">
            <a:extLst>
              <a:ext uri="{FF2B5EF4-FFF2-40B4-BE49-F238E27FC236}">
                <a16:creationId xmlns:a16="http://schemas.microsoft.com/office/drawing/2014/main" id="{6301219E-F9F4-4D11-BE8F-E88A04AFDB6C}"/>
              </a:ext>
            </a:extLst>
          </p:cNvPr>
          <p:cNvSpPr>
            <a:spLocks noGrp="1"/>
          </p:cNvSpPr>
          <p:nvPr>
            <p:ph idx="1"/>
          </p:nvPr>
        </p:nvSpPr>
        <p:spPr>
          <a:xfrm>
            <a:off x="1513085" y="1995626"/>
            <a:ext cx="8894432" cy="1429682"/>
          </a:xfrm>
        </p:spPr>
        <p:txBody>
          <a:bodyPr vert="horz" lIns="91440" tIns="45720" rIns="91440" bIns="45720" rtlCol="0" anchor="ctr">
            <a:noAutofit/>
          </a:bodyPr>
          <a:lstStyle/>
          <a:p>
            <a:pPr algn="ctr"/>
            <a:r>
              <a:rPr lang="en-US" sz="2000">
                <a:ea typeface="+mn-lt"/>
                <a:cs typeface="+mn-lt"/>
              </a:rPr>
              <a:t>Why is, for example, the result for the NRC lexicon biased so high in sentiment compared to the Bing et al. result? Let’s look briefly at how many positive and negative words are in these lexicons</a:t>
            </a:r>
          </a:p>
          <a:p>
            <a:pPr algn="ctr"/>
            <a:endParaRPr lang="en-US" sz="2000" dirty="0">
              <a:cs typeface="Calibri" panose="020F0502020204030204"/>
            </a:endParaRPr>
          </a:p>
        </p:txBody>
      </p:sp>
      <p:pic>
        <p:nvPicPr>
          <p:cNvPr id="4" name="Picture 4" descr="A screenshot of a cell phone&#10;&#10;Description generated with high confidence">
            <a:extLst>
              <a:ext uri="{FF2B5EF4-FFF2-40B4-BE49-F238E27FC236}">
                <a16:creationId xmlns:a16="http://schemas.microsoft.com/office/drawing/2014/main" id="{BC143F72-4461-46AA-B313-ED3120B61C2D}"/>
              </a:ext>
            </a:extLst>
          </p:cNvPr>
          <p:cNvPicPr>
            <a:picLocks noChangeAspect="1"/>
          </p:cNvPicPr>
          <p:nvPr/>
        </p:nvPicPr>
        <p:blipFill>
          <a:blip r:embed="rId2"/>
          <a:stretch>
            <a:fillRect/>
          </a:stretch>
        </p:blipFill>
        <p:spPr>
          <a:xfrm>
            <a:off x="1341938" y="3287326"/>
            <a:ext cx="9508124" cy="2712915"/>
          </a:xfrm>
          <a:prstGeom prst="rect">
            <a:avLst/>
          </a:prstGeom>
        </p:spPr>
      </p:pic>
    </p:spTree>
    <p:extLst>
      <p:ext uri="{BB962C8B-B14F-4D97-AF65-F5344CB8AC3E}">
        <p14:creationId xmlns:p14="http://schemas.microsoft.com/office/powerpoint/2010/main" val="824521682"/>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493CFF-E43B-4B10-ACE1-C8A124662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3" y="0"/>
            <a:ext cx="4062127"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57B3FA-39AE-493F-80C5-E8873C618BF8}"/>
              </a:ext>
            </a:extLst>
          </p:cNvPr>
          <p:cNvSpPr>
            <a:spLocks noGrp="1"/>
          </p:cNvSpPr>
          <p:nvPr>
            <p:ph type="title"/>
          </p:nvPr>
        </p:nvSpPr>
        <p:spPr>
          <a:xfrm>
            <a:off x="8502650" y="716535"/>
            <a:ext cx="3524946" cy="1084578"/>
          </a:xfrm>
        </p:spPr>
        <p:txBody>
          <a:bodyPr vert="horz" lIns="91440" tIns="45720" rIns="91440" bIns="45720" rtlCol="0" anchor="b">
            <a:normAutofit/>
          </a:bodyPr>
          <a:lstStyle/>
          <a:p>
            <a:r>
              <a:rPr lang="en-US" sz="4800">
                <a:solidFill>
                  <a:schemeClr val="bg1"/>
                </a:solidFill>
              </a:rPr>
              <a:t>Word Count</a:t>
            </a:r>
            <a:endParaRPr lang="en-US" sz="4800" kern="1200">
              <a:solidFill>
                <a:schemeClr val="bg1"/>
              </a:solidFill>
              <a:latin typeface="+mj-lt"/>
              <a:cs typeface="Calibri Light"/>
            </a:endParaRPr>
          </a:p>
        </p:txBody>
      </p:sp>
      <p:sp>
        <p:nvSpPr>
          <p:cNvPr id="5" name="TextBox 4">
            <a:extLst>
              <a:ext uri="{FF2B5EF4-FFF2-40B4-BE49-F238E27FC236}">
                <a16:creationId xmlns:a16="http://schemas.microsoft.com/office/drawing/2014/main" id="{B5508BB7-6F3D-4D50-97AB-287BB6A65F5C}"/>
              </a:ext>
            </a:extLst>
          </p:cNvPr>
          <p:cNvSpPr txBox="1"/>
          <p:nvPr/>
        </p:nvSpPr>
        <p:spPr>
          <a:xfrm>
            <a:off x="8502649" y="2106005"/>
            <a:ext cx="3045883" cy="385423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1600">
                <a:solidFill>
                  <a:schemeClr val="bg1"/>
                </a:solidFill>
              </a:rPr>
              <a:t>Both lexicons have more negative than positive words, but the ratio of negative to positive words is higher in the Bing lexicon </a:t>
            </a:r>
            <a:endParaRPr lang="en-US" sz="1600">
              <a:solidFill>
                <a:schemeClr val="bg1"/>
              </a:solidFill>
              <a:cs typeface="Calibri"/>
            </a:endParaRPr>
          </a:p>
          <a:p>
            <a:pPr indent="-228600">
              <a:lnSpc>
                <a:spcPct val="90000"/>
              </a:lnSpc>
              <a:spcAft>
                <a:spcPts val="600"/>
              </a:spcAft>
              <a:buFont typeface="Arial" panose="020B0604020202020204" pitchFamily="34" charset="0"/>
              <a:buChar char="•"/>
            </a:pPr>
            <a:r>
              <a:rPr lang="en-US" sz="1600">
                <a:solidFill>
                  <a:schemeClr val="bg1"/>
                </a:solidFill>
              </a:rPr>
              <a:t>This will contribute to the effect we see in the plot above </a:t>
            </a:r>
            <a:endParaRPr lang="en-US" sz="1600">
              <a:solidFill>
                <a:schemeClr val="bg1"/>
              </a:solidFill>
              <a:cs typeface="Calibri"/>
            </a:endParaRPr>
          </a:p>
          <a:p>
            <a:pPr indent="-228600">
              <a:lnSpc>
                <a:spcPct val="90000"/>
              </a:lnSpc>
              <a:spcAft>
                <a:spcPts val="600"/>
              </a:spcAft>
              <a:buFont typeface="Arial" panose="020B0604020202020204" pitchFamily="34" charset="0"/>
              <a:buChar char="•"/>
            </a:pPr>
            <a:r>
              <a:rPr lang="en-US" sz="1600">
                <a:solidFill>
                  <a:schemeClr val="bg1"/>
                </a:solidFill>
              </a:rPr>
              <a:t>Whatever the source of these differences, we see similar relative trajectories across the narrative arc, with similar changes in slope, but marked differences in absolute sentiment from lexicon to lexicon</a:t>
            </a:r>
          </a:p>
          <a:p>
            <a:pPr indent="-228600">
              <a:lnSpc>
                <a:spcPct val="90000"/>
              </a:lnSpc>
              <a:spcAft>
                <a:spcPts val="600"/>
              </a:spcAft>
              <a:buFont typeface="Arial" panose="020B0604020202020204" pitchFamily="34" charset="0"/>
              <a:buChar char="•"/>
            </a:pPr>
            <a:r>
              <a:rPr lang="en-US" sz="1600">
                <a:solidFill>
                  <a:schemeClr val="bg1"/>
                </a:solidFill>
              </a:rPr>
              <a:t>This is all important context to keep in mind when choosing a sentiment lexicon for analysis.</a:t>
            </a:r>
            <a:endParaRPr lang="en-US" sz="1600">
              <a:solidFill>
                <a:schemeClr val="bg1"/>
              </a:solidFill>
              <a:cs typeface="Calibri"/>
            </a:endParaRPr>
          </a:p>
        </p:txBody>
      </p:sp>
      <p:graphicFrame>
        <p:nvGraphicFramePr>
          <p:cNvPr id="3" name="Table 6">
            <a:extLst>
              <a:ext uri="{FF2B5EF4-FFF2-40B4-BE49-F238E27FC236}">
                <a16:creationId xmlns:a16="http://schemas.microsoft.com/office/drawing/2014/main" id="{E375590B-5550-4FA5-9F73-6394897011E5}"/>
              </a:ext>
            </a:extLst>
          </p:cNvPr>
          <p:cNvGraphicFramePr>
            <a:graphicFrameLocks noGrp="1"/>
          </p:cNvGraphicFramePr>
          <p:nvPr>
            <p:extLst>
              <p:ext uri="{D42A27DB-BD31-4B8C-83A1-F6EECF244321}">
                <p14:modId xmlns:p14="http://schemas.microsoft.com/office/powerpoint/2010/main" val="409849000"/>
              </p:ext>
            </p:extLst>
          </p:nvPr>
        </p:nvGraphicFramePr>
        <p:xfrm>
          <a:off x="643467" y="1555378"/>
          <a:ext cx="6891188" cy="3722594"/>
        </p:xfrm>
        <a:graphic>
          <a:graphicData uri="http://schemas.openxmlformats.org/drawingml/2006/table">
            <a:tbl>
              <a:tblPr firstRow="1" bandRow="1">
                <a:noFill/>
                <a:tableStyleId>{5C22544A-7EE6-4342-B048-85BDC9FD1C3A}</a:tableStyleId>
              </a:tblPr>
              <a:tblGrid>
                <a:gridCol w="3445594">
                  <a:extLst>
                    <a:ext uri="{9D8B030D-6E8A-4147-A177-3AD203B41FA5}">
                      <a16:colId xmlns:a16="http://schemas.microsoft.com/office/drawing/2014/main" val="3775302512"/>
                    </a:ext>
                  </a:extLst>
                </a:gridCol>
                <a:gridCol w="3445594">
                  <a:extLst>
                    <a:ext uri="{9D8B030D-6E8A-4147-A177-3AD203B41FA5}">
                      <a16:colId xmlns:a16="http://schemas.microsoft.com/office/drawing/2014/main" val="576915511"/>
                    </a:ext>
                  </a:extLst>
                </a:gridCol>
              </a:tblGrid>
              <a:tr h="1313008">
                <a:tc>
                  <a:txBody>
                    <a:bodyPr/>
                    <a:lstStyle/>
                    <a:p>
                      <a:r>
                        <a:rPr lang="en-US" sz="3800" b="0" cap="all" spc="150">
                          <a:solidFill>
                            <a:schemeClr val="lt1"/>
                          </a:solidFill>
                        </a:rPr>
                        <a:t>NRC</a:t>
                      </a:r>
                    </a:p>
                  </a:txBody>
                  <a:tcPr marL="324645" marR="324645" marT="324645" marB="324645">
                    <a:lnL w="12700" cmpd="sng">
                      <a:noFill/>
                    </a:lnL>
                    <a:lnR w="12700" cmpd="sng">
                      <a:noFill/>
                    </a:lnR>
                    <a:lnT w="12700" cmpd="sng">
                      <a:noFill/>
                    </a:lnT>
                    <a:lnB w="38100" cmpd="sng">
                      <a:noFill/>
                    </a:lnB>
                    <a:solidFill>
                      <a:srgbClr val="505356"/>
                    </a:solidFill>
                  </a:tcPr>
                </a:tc>
                <a:tc>
                  <a:txBody>
                    <a:bodyPr/>
                    <a:lstStyle/>
                    <a:p>
                      <a:r>
                        <a:rPr lang="en-US" sz="3800" b="0" cap="all" spc="150">
                          <a:solidFill>
                            <a:schemeClr val="lt1"/>
                          </a:solidFill>
                        </a:rPr>
                        <a:t>Bing</a:t>
                      </a:r>
                    </a:p>
                  </a:txBody>
                  <a:tcPr marL="324645" marR="324645" marT="324645" marB="324645">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1669416451"/>
                  </a:ext>
                </a:extLst>
              </a:tr>
              <a:tr h="1204793">
                <a:tc>
                  <a:txBody>
                    <a:bodyPr/>
                    <a:lstStyle/>
                    <a:p>
                      <a:r>
                        <a:rPr lang="en-US" sz="3100" cap="none" spc="0">
                          <a:solidFill>
                            <a:schemeClr val="tx1"/>
                          </a:solidFill>
                        </a:rPr>
                        <a:t>Negative 3324</a:t>
                      </a:r>
                    </a:p>
                  </a:txBody>
                  <a:tcPr marL="324645" marR="324645" marT="324645" marB="324645">
                    <a:lnL w="12700" cmpd="sng">
                      <a:noFill/>
                      <a:prstDash val="solid"/>
                    </a:lnL>
                    <a:lnR w="12700" cmpd="sng">
                      <a:noFill/>
                      <a:prstDash val="solid"/>
                    </a:lnR>
                    <a:lnT w="38100" cmpd="sng">
                      <a:noFill/>
                    </a:lnT>
                    <a:lnB w="12700" cmpd="sng">
                      <a:noFill/>
                      <a:prstDash val="solid"/>
                    </a:lnB>
                    <a:noFill/>
                  </a:tcPr>
                </a:tc>
                <a:tc>
                  <a:txBody>
                    <a:bodyPr/>
                    <a:lstStyle/>
                    <a:p>
                      <a:r>
                        <a:rPr lang="en-US" sz="3100" cap="none" spc="0">
                          <a:solidFill>
                            <a:schemeClr val="tx1"/>
                          </a:solidFill>
                        </a:rPr>
                        <a:t>Negative 4782</a:t>
                      </a:r>
                    </a:p>
                  </a:txBody>
                  <a:tcPr marL="324645" marR="324645" marT="324645" marB="324645">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339111921"/>
                  </a:ext>
                </a:extLst>
              </a:tr>
              <a:tr h="1204793">
                <a:tc>
                  <a:txBody>
                    <a:bodyPr/>
                    <a:lstStyle/>
                    <a:p>
                      <a:r>
                        <a:rPr lang="en-US" sz="3100" cap="none" spc="0">
                          <a:solidFill>
                            <a:schemeClr val="tx1"/>
                          </a:solidFill>
                        </a:rPr>
                        <a:t>Positive 2312</a:t>
                      </a:r>
                    </a:p>
                  </a:txBody>
                  <a:tcPr marL="324645" marR="324645" marT="324645" marB="324645">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3100" cap="none" spc="0">
                          <a:solidFill>
                            <a:schemeClr val="tx1"/>
                          </a:solidFill>
                        </a:rPr>
                        <a:t>Positive 2006</a:t>
                      </a:r>
                    </a:p>
                  </a:txBody>
                  <a:tcPr marL="324645" marR="324645" marT="324645" marB="324645">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980025131"/>
                  </a:ext>
                </a:extLst>
              </a:tr>
            </a:tbl>
          </a:graphicData>
        </a:graphic>
      </p:graphicFrame>
    </p:spTree>
    <p:extLst>
      <p:ext uri="{BB962C8B-B14F-4D97-AF65-F5344CB8AC3E}">
        <p14:creationId xmlns:p14="http://schemas.microsoft.com/office/powerpoint/2010/main" val="1112600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6" name="Rectangle 10">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9B836E-8E55-43A2-82C1-F440BD65C468}"/>
              </a:ext>
            </a:extLst>
          </p:cNvPr>
          <p:cNvSpPr>
            <a:spLocks noGrp="1"/>
          </p:cNvSpPr>
          <p:nvPr>
            <p:ph type="title"/>
          </p:nvPr>
        </p:nvSpPr>
        <p:spPr>
          <a:xfrm>
            <a:off x="841247" y="474146"/>
            <a:ext cx="10515593" cy="1197864"/>
          </a:xfrm>
        </p:spPr>
        <p:txBody>
          <a:bodyPr>
            <a:normAutofit/>
          </a:bodyPr>
          <a:lstStyle/>
          <a:p>
            <a:r>
              <a:rPr lang="en-US" dirty="0">
                <a:ea typeface="+mj-lt"/>
                <a:cs typeface="+mj-lt"/>
              </a:rPr>
              <a:t>Most common positive and negative words</a:t>
            </a:r>
          </a:p>
        </p:txBody>
      </p:sp>
      <p:cxnSp>
        <p:nvCxnSpPr>
          <p:cNvPr id="13" name="Straight Connector 12">
            <a:extLst>
              <a:ext uri="{FF2B5EF4-FFF2-40B4-BE49-F238E27FC236}">
                <a16:creationId xmlns:a16="http://schemas.microsoft.com/office/drawing/2014/main" id="{EDF5FE34-0A41-407A-8D94-10FCF68F1D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75488" y="587238"/>
            <a:ext cx="0" cy="914400"/>
          </a:xfrm>
          <a:prstGeom prst="line">
            <a:avLst/>
          </a:prstGeom>
          <a:ln w="190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647EC699-B8D7-46D0-95AF-6BF4258E63DC}"/>
              </a:ext>
            </a:extLst>
          </p:cNvPr>
          <p:cNvSpPr>
            <a:spLocks noGrp="1"/>
          </p:cNvSpPr>
          <p:nvPr>
            <p:ph idx="1"/>
          </p:nvPr>
        </p:nvSpPr>
        <p:spPr/>
        <p:txBody>
          <a:bodyPr vert="horz" lIns="91440" tIns="45720" rIns="91440" bIns="45720" rtlCol="0" anchor="t">
            <a:normAutofit/>
          </a:bodyPr>
          <a:lstStyle/>
          <a:p>
            <a:r>
              <a:rPr lang="en-US" dirty="0">
                <a:cs typeface="Calibri"/>
              </a:rPr>
              <a:t>One advantage of having the data frame with both sentiment and word is that we can analyze word counts that contribute to each sentiment</a:t>
            </a:r>
            <a:endParaRPr lang="en-US" dirty="0"/>
          </a:p>
        </p:txBody>
      </p:sp>
      <p:pic>
        <p:nvPicPr>
          <p:cNvPr id="5" name="Picture 4" descr="A picture containing orange, holding, room, black&#10;&#10;Description generated with very high confidence">
            <a:extLst>
              <a:ext uri="{FF2B5EF4-FFF2-40B4-BE49-F238E27FC236}">
                <a16:creationId xmlns:a16="http://schemas.microsoft.com/office/drawing/2014/main" id="{86E76A00-D8EE-4723-B3E9-721709B8308B}"/>
              </a:ext>
            </a:extLst>
          </p:cNvPr>
          <p:cNvPicPr>
            <a:picLocks noChangeAspect="1"/>
          </p:cNvPicPr>
          <p:nvPr/>
        </p:nvPicPr>
        <p:blipFill>
          <a:blip r:embed="rId2"/>
          <a:stretch>
            <a:fillRect/>
          </a:stretch>
        </p:blipFill>
        <p:spPr>
          <a:xfrm>
            <a:off x="246346" y="3333111"/>
            <a:ext cx="6751529" cy="1538326"/>
          </a:xfrm>
          <a:prstGeom prst="rect">
            <a:avLst/>
          </a:prstGeom>
        </p:spPr>
      </p:pic>
      <p:pic>
        <p:nvPicPr>
          <p:cNvPr id="7" name="Picture 6" descr="A screenshot of a cell phone&#10;&#10;Description generated with very high confidence">
            <a:extLst>
              <a:ext uri="{FF2B5EF4-FFF2-40B4-BE49-F238E27FC236}">
                <a16:creationId xmlns:a16="http://schemas.microsoft.com/office/drawing/2014/main" id="{DC28ECD0-BD2C-4498-8068-F30A993C4FF3}"/>
              </a:ext>
            </a:extLst>
          </p:cNvPr>
          <p:cNvPicPr>
            <a:picLocks noChangeAspect="1"/>
          </p:cNvPicPr>
          <p:nvPr/>
        </p:nvPicPr>
        <p:blipFill>
          <a:blip r:embed="rId3"/>
          <a:stretch>
            <a:fillRect/>
          </a:stretch>
        </p:blipFill>
        <p:spPr>
          <a:xfrm>
            <a:off x="7240045" y="4219469"/>
            <a:ext cx="4642980" cy="2155994"/>
          </a:xfrm>
          <a:prstGeom prst="rect">
            <a:avLst/>
          </a:prstGeom>
        </p:spPr>
      </p:pic>
    </p:spTree>
    <p:extLst>
      <p:ext uri="{BB962C8B-B14F-4D97-AF65-F5344CB8AC3E}">
        <p14:creationId xmlns:p14="http://schemas.microsoft.com/office/powerpoint/2010/main" val="3146488625"/>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2" name="Picture 2" descr="A screenshot of a cell phone&#10;&#10;Description generated with high confidence">
            <a:extLst>
              <a:ext uri="{FF2B5EF4-FFF2-40B4-BE49-F238E27FC236}">
                <a16:creationId xmlns:a16="http://schemas.microsoft.com/office/drawing/2014/main" id="{D6811F62-EFD0-4DAF-A315-4E96C67DAED0}"/>
              </a:ext>
            </a:extLst>
          </p:cNvPr>
          <p:cNvPicPr>
            <a:picLocks noChangeAspect="1"/>
          </p:cNvPicPr>
          <p:nvPr/>
        </p:nvPicPr>
        <p:blipFill rotWithShape="1">
          <a:blip r:embed="rId2"/>
          <a:srcRect r="-1" b="5175"/>
          <a:stretch/>
        </p:blipFill>
        <p:spPr>
          <a:xfrm>
            <a:off x="321733" y="321733"/>
            <a:ext cx="11548534" cy="6214534"/>
          </a:xfrm>
          <a:prstGeom prst="rect">
            <a:avLst/>
          </a:prstGeom>
        </p:spPr>
      </p:pic>
    </p:spTree>
    <p:extLst>
      <p:ext uri="{BB962C8B-B14F-4D97-AF65-F5344CB8AC3E}">
        <p14:creationId xmlns:p14="http://schemas.microsoft.com/office/powerpoint/2010/main" val="1236220535"/>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869AA-E88B-4243-9773-68334C857EA6}"/>
              </a:ext>
            </a:extLst>
          </p:cNvPr>
          <p:cNvSpPr>
            <a:spLocks noGrp="1"/>
          </p:cNvSpPr>
          <p:nvPr>
            <p:ph type="title"/>
          </p:nvPr>
        </p:nvSpPr>
        <p:spPr>
          <a:xfrm>
            <a:off x="648929" y="629266"/>
            <a:ext cx="3667039" cy="1676603"/>
          </a:xfrm>
        </p:spPr>
        <p:txBody>
          <a:bodyPr>
            <a:normAutofit/>
          </a:bodyPr>
          <a:lstStyle/>
          <a:p>
            <a:r>
              <a:rPr lang="en-US" sz="3600">
                <a:cs typeface="Calibri Light"/>
              </a:rPr>
              <a:t>Miss coded no pun intended </a:t>
            </a:r>
            <a:endParaRPr lang="en-US" sz="3600"/>
          </a:p>
        </p:txBody>
      </p:sp>
      <p:sp>
        <p:nvSpPr>
          <p:cNvPr id="3" name="Content Placeholder 2">
            <a:extLst>
              <a:ext uri="{FF2B5EF4-FFF2-40B4-BE49-F238E27FC236}">
                <a16:creationId xmlns:a16="http://schemas.microsoft.com/office/drawing/2014/main" id="{32A06F4D-10B4-4442-8AFC-656EEE073919}"/>
              </a:ext>
            </a:extLst>
          </p:cNvPr>
          <p:cNvSpPr>
            <a:spLocks noGrp="1"/>
          </p:cNvSpPr>
          <p:nvPr>
            <p:ph idx="1"/>
          </p:nvPr>
        </p:nvSpPr>
        <p:spPr>
          <a:xfrm>
            <a:off x="648931" y="2438401"/>
            <a:ext cx="3667036" cy="3779520"/>
          </a:xfrm>
        </p:spPr>
        <p:txBody>
          <a:bodyPr vert="horz" lIns="91440" tIns="45720" rIns="91440" bIns="45720" rtlCol="0">
            <a:normAutofit/>
          </a:bodyPr>
          <a:lstStyle/>
          <a:p>
            <a:r>
              <a:rPr lang="en-US" sz="1800">
                <a:ea typeface="+mn-lt"/>
                <a:cs typeface="+mn-lt"/>
              </a:rPr>
              <a:t>The word “miss” is coded as negative but it is used as a title for young, unmarried women in Jane Austen’s works. </a:t>
            </a:r>
          </a:p>
          <a:p>
            <a:r>
              <a:rPr lang="en-US" sz="1800">
                <a:ea typeface="+mn-lt"/>
                <a:cs typeface="+mn-lt"/>
              </a:rPr>
              <a:t>If it were appropriate for our purposes, we could easily add “miss” to a custom stop-words list for future analysis </a:t>
            </a:r>
          </a:p>
          <a:p>
            <a:endParaRPr lang="en-US" sz="1800">
              <a:cs typeface="Calibri"/>
            </a:endParaRPr>
          </a:p>
        </p:txBody>
      </p:sp>
      <p:sp>
        <p:nvSpPr>
          <p:cNvPr id="14" name="Rectangle 13">
            <a:extLst>
              <a:ext uri="{FF2B5EF4-FFF2-40B4-BE49-F238E27FC236}">
                <a16:creationId xmlns:a16="http://schemas.microsoft.com/office/drawing/2014/main" id="{F2B38F72-8FC4-4001-8C67-FA6B86DEC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2"/>
            <a:ext cx="7555992"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A screenshot of a cell phone&#10;&#10;Description generated with very high confidence">
            <a:extLst>
              <a:ext uri="{FF2B5EF4-FFF2-40B4-BE49-F238E27FC236}">
                <a16:creationId xmlns:a16="http://schemas.microsoft.com/office/drawing/2014/main" id="{B2317744-4E20-49B2-9B23-F8B6345FBEC0}"/>
              </a:ext>
            </a:extLst>
          </p:cNvPr>
          <p:cNvPicPr>
            <a:picLocks noChangeAspect="1"/>
          </p:cNvPicPr>
          <p:nvPr/>
        </p:nvPicPr>
        <p:blipFill>
          <a:blip r:embed="rId2"/>
          <a:stretch>
            <a:fillRect/>
          </a:stretch>
        </p:blipFill>
        <p:spPr>
          <a:xfrm>
            <a:off x="4880975" y="1293095"/>
            <a:ext cx="6918542" cy="4271811"/>
          </a:xfrm>
          <a:prstGeom prst="rect">
            <a:avLst/>
          </a:prstGeom>
        </p:spPr>
      </p:pic>
    </p:spTree>
    <p:extLst>
      <p:ext uri="{BB962C8B-B14F-4D97-AF65-F5344CB8AC3E}">
        <p14:creationId xmlns:p14="http://schemas.microsoft.com/office/powerpoint/2010/main" val="1274165919"/>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2" name="Picture 2" descr="A lamp hanging from the ceiling&#10;&#10;Description generated with high confidence">
            <a:extLst>
              <a:ext uri="{FF2B5EF4-FFF2-40B4-BE49-F238E27FC236}">
                <a16:creationId xmlns:a16="http://schemas.microsoft.com/office/drawing/2014/main" id="{01F0313E-B354-42D6-855D-5898B4024C5E}"/>
              </a:ext>
            </a:extLst>
          </p:cNvPr>
          <p:cNvPicPr>
            <a:picLocks noChangeAspect="1"/>
          </p:cNvPicPr>
          <p:nvPr/>
        </p:nvPicPr>
        <p:blipFill rotWithShape="1">
          <a:blip r:embed="rId2"/>
          <a:srcRect l="1510" r="1" b="1"/>
          <a:stretch/>
        </p:blipFill>
        <p:spPr>
          <a:xfrm>
            <a:off x="321733" y="321733"/>
            <a:ext cx="11548534" cy="6214534"/>
          </a:xfrm>
          <a:prstGeom prst="rect">
            <a:avLst/>
          </a:prstGeom>
        </p:spPr>
      </p:pic>
      <p:sp>
        <p:nvSpPr>
          <p:cNvPr id="4" name="TextBox 3">
            <a:extLst>
              <a:ext uri="{FF2B5EF4-FFF2-40B4-BE49-F238E27FC236}">
                <a16:creationId xmlns:a16="http://schemas.microsoft.com/office/drawing/2014/main" id="{04807E43-9C56-4D68-998D-587916297B8D}"/>
              </a:ext>
            </a:extLst>
          </p:cNvPr>
          <p:cNvSpPr txBox="1"/>
          <p:nvPr/>
        </p:nvSpPr>
        <p:spPr>
          <a:xfrm>
            <a:off x="4223359" y="3169085"/>
            <a:ext cx="3463446" cy="83099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dirty="0"/>
              <a:t>Word Clouds</a:t>
            </a:r>
            <a:endParaRPr lang="en-US" sz="4800">
              <a:cs typeface="Calibri"/>
            </a:endParaRPr>
          </a:p>
        </p:txBody>
      </p:sp>
    </p:spTree>
    <p:extLst>
      <p:ext uri="{BB962C8B-B14F-4D97-AF65-F5344CB8AC3E}">
        <p14:creationId xmlns:p14="http://schemas.microsoft.com/office/powerpoint/2010/main" val="2016551285"/>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6" name="Rectangle 10">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9B836E-8E55-43A2-82C1-F440BD65C468}"/>
              </a:ext>
            </a:extLst>
          </p:cNvPr>
          <p:cNvSpPr>
            <a:spLocks noGrp="1"/>
          </p:cNvSpPr>
          <p:nvPr>
            <p:ph type="title"/>
          </p:nvPr>
        </p:nvSpPr>
        <p:spPr>
          <a:xfrm>
            <a:off x="841247" y="474146"/>
            <a:ext cx="10515593" cy="1197864"/>
          </a:xfrm>
        </p:spPr>
        <p:txBody>
          <a:bodyPr>
            <a:normAutofit/>
          </a:bodyPr>
          <a:lstStyle/>
          <a:p>
            <a:r>
              <a:rPr lang="en-US">
                <a:cs typeface="Calibri Light"/>
              </a:rPr>
              <a:t>Simple Version</a:t>
            </a:r>
            <a:endParaRPr lang="en-US"/>
          </a:p>
        </p:txBody>
      </p:sp>
      <p:cxnSp>
        <p:nvCxnSpPr>
          <p:cNvPr id="13" name="Straight Connector 12">
            <a:extLst>
              <a:ext uri="{FF2B5EF4-FFF2-40B4-BE49-F238E27FC236}">
                <a16:creationId xmlns:a16="http://schemas.microsoft.com/office/drawing/2014/main" id="{EDF5FE34-0A41-407A-8D94-10FCF68F1D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75488" y="587238"/>
            <a:ext cx="0" cy="914400"/>
          </a:xfrm>
          <a:prstGeom prst="line">
            <a:avLst/>
          </a:prstGeom>
          <a:ln w="190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pic>
        <p:nvPicPr>
          <p:cNvPr id="9" name="Picture 9" descr="A picture containing bird&#10;&#10;Description generated with very high confidence">
            <a:extLst>
              <a:ext uri="{FF2B5EF4-FFF2-40B4-BE49-F238E27FC236}">
                <a16:creationId xmlns:a16="http://schemas.microsoft.com/office/drawing/2014/main" id="{37B69046-6AB3-4DFD-A9BF-2166C7D44372}"/>
              </a:ext>
            </a:extLst>
          </p:cNvPr>
          <p:cNvPicPr>
            <a:picLocks noGrp="1" noChangeAspect="1"/>
          </p:cNvPicPr>
          <p:nvPr>
            <p:ph idx="1"/>
          </p:nvPr>
        </p:nvPicPr>
        <p:blipFill>
          <a:blip r:embed="rId2"/>
          <a:stretch>
            <a:fillRect/>
          </a:stretch>
        </p:blipFill>
        <p:spPr>
          <a:xfrm>
            <a:off x="623123" y="2252033"/>
            <a:ext cx="10858976" cy="3176056"/>
          </a:xfrm>
        </p:spPr>
      </p:pic>
    </p:spTree>
    <p:extLst>
      <p:ext uri="{BB962C8B-B14F-4D97-AF65-F5344CB8AC3E}">
        <p14:creationId xmlns:p14="http://schemas.microsoft.com/office/powerpoint/2010/main" val="4160430248"/>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4372" y="0"/>
            <a:ext cx="9483256" cy="6858000"/>
          </a:xfrm>
          <a:prstGeom prst="rect">
            <a:avLst/>
          </a:prstGeom>
          <a:solidFill>
            <a:srgbClr val="1E23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9">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Freeform: Shape 11">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4" descr="A close up of a newspaper&#10;&#10;Description generated with high confidence">
            <a:extLst>
              <a:ext uri="{FF2B5EF4-FFF2-40B4-BE49-F238E27FC236}">
                <a16:creationId xmlns:a16="http://schemas.microsoft.com/office/drawing/2014/main" id="{6AE07CB6-FA78-47D6-A8AC-B12311A5C6A2}"/>
              </a:ext>
            </a:extLst>
          </p:cNvPr>
          <p:cNvPicPr>
            <a:picLocks noChangeAspect="1"/>
          </p:cNvPicPr>
          <p:nvPr/>
        </p:nvPicPr>
        <p:blipFill>
          <a:blip r:embed="rId3"/>
          <a:stretch>
            <a:fillRect/>
          </a:stretch>
        </p:blipFill>
        <p:spPr>
          <a:xfrm>
            <a:off x="3426177" y="1176793"/>
            <a:ext cx="5082553" cy="4548146"/>
          </a:xfrm>
          <a:prstGeom prst="rect">
            <a:avLst/>
          </a:prstGeom>
        </p:spPr>
      </p:pic>
    </p:spTree>
    <p:extLst>
      <p:ext uri="{BB962C8B-B14F-4D97-AF65-F5344CB8AC3E}">
        <p14:creationId xmlns:p14="http://schemas.microsoft.com/office/powerpoint/2010/main" val="2846745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6" name="Rectangle 10">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9B836E-8E55-43A2-82C1-F440BD65C468}"/>
              </a:ext>
            </a:extLst>
          </p:cNvPr>
          <p:cNvSpPr>
            <a:spLocks noGrp="1"/>
          </p:cNvSpPr>
          <p:nvPr>
            <p:ph type="title"/>
          </p:nvPr>
        </p:nvSpPr>
        <p:spPr>
          <a:xfrm>
            <a:off x="841247" y="474146"/>
            <a:ext cx="10515593" cy="1197864"/>
          </a:xfrm>
        </p:spPr>
        <p:txBody>
          <a:bodyPr>
            <a:normAutofit/>
          </a:bodyPr>
          <a:lstStyle/>
          <a:p>
            <a:r>
              <a:rPr lang="en-US">
                <a:cs typeface="Calibri Light"/>
              </a:rPr>
              <a:t>Better Version</a:t>
            </a:r>
            <a:endParaRPr lang="en-US"/>
          </a:p>
        </p:txBody>
      </p:sp>
      <p:cxnSp>
        <p:nvCxnSpPr>
          <p:cNvPr id="13" name="Straight Connector 12">
            <a:extLst>
              <a:ext uri="{FF2B5EF4-FFF2-40B4-BE49-F238E27FC236}">
                <a16:creationId xmlns:a16="http://schemas.microsoft.com/office/drawing/2014/main" id="{EDF5FE34-0A41-407A-8D94-10FCF68F1D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75488" y="587238"/>
            <a:ext cx="0" cy="914400"/>
          </a:xfrm>
          <a:prstGeom prst="line">
            <a:avLst/>
          </a:prstGeom>
          <a:ln w="190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pic>
        <p:nvPicPr>
          <p:cNvPr id="3" name="Picture 4" descr="A screenshot of a cell phone&#10;&#10;Description generated with high confidence">
            <a:extLst>
              <a:ext uri="{FF2B5EF4-FFF2-40B4-BE49-F238E27FC236}">
                <a16:creationId xmlns:a16="http://schemas.microsoft.com/office/drawing/2014/main" id="{C9C4500C-915A-4AF9-9F06-34396ABE28FB}"/>
              </a:ext>
            </a:extLst>
          </p:cNvPr>
          <p:cNvPicPr>
            <a:picLocks noChangeAspect="1"/>
          </p:cNvPicPr>
          <p:nvPr/>
        </p:nvPicPr>
        <p:blipFill>
          <a:blip r:embed="rId2"/>
          <a:stretch>
            <a:fillRect/>
          </a:stretch>
        </p:blipFill>
        <p:spPr>
          <a:xfrm>
            <a:off x="1405720" y="2396201"/>
            <a:ext cx="8816888" cy="2500377"/>
          </a:xfrm>
          <a:prstGeom prst="rect">
            <a:avLst/>
          </a:prstGeom>
        </p:spPr>
      </p:pic>
    </p:spTree>
    <p:extLst>
      <p:ext uri="{BB962C8B-B14F-4D97-AF65-F5344CB8AC3E}">
        <p14:creationId xmlns:p14="http://schemas.microsoft.com/office/powerpoint/2010/main" val="2713369724"/>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4372" y="0"/>
            <a:ext cx="9483256" cy="6858000"/>
          </a:xfrm>
          <a:prstGeom prst="rect">
            <a:avLst/>
          </a:prstGeom>
          <a:solidFill>
            <a:srgbClr val="5636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8">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Freeform: Shape 10">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44484" y="0"/>
            <a:ext cx="7837716" cy="6858000"/>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2" descr="A screenshot of a cell phone&#10;&#10;Description generated with very high confidence">
            <a:extLst>
              <a:ext uri="{FF2B5EF4-FFF2-40B4-BE49-F238E27FC236}">
                <a16:creationId xmlns:a16="http://schemas.microsoft.com/office/drawing/2014/main" id="{D9DBEBFD-9EED-4134-925C-D4F47B60EEB9}"/>
              </a:ext>
            </a:extLst>
          </p:cNvPr>
          <p:cNvPicPr>
            <a:picLocks noChangeAspect="1"/>
          </p:cNvPicPr>
          <p:nvPr/>
        </p:nvPicPr>
        <p:blipFill>
          <a:blip r:embed="rId3"/>
          <a:stretch>
            <a:fillRect/>
          </a:stretch>
        </p:blipFill>
        <p:spPr>
          <a:xfrm>
            <a:off x="3302957" y="811451"/>
            <a:ext cx="5506446" cy="5320583"/>
          </a:xfrm>
          <a:prstGeom prst="rect">
            <a:avLst/>
          </a:prstGeom>
        </p:spPr>
      </p:pic>
    </p:spTree>
    <p:extLst>
      <p:ext uri="{BB962C8B-B14F-4D97-AF65-F5344CB8AC3E}">
        <p14:creationId xmlns:p14="http://schemas.microsoft.com/office/powerpoint/2010/main" val="2393447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532B20-4443-48CA-80B7-2B59B22AE2DF}"/>
              </a:ext>
            </a:extLst>
          </p:cNvPr>
          <p:cNvSpPr>
            <a:spLocks noGrp="1"/>
          </p:cNvSpPr>
          <p:nvPr>
            <p:ph type="title"/>
          </p:nvPr>
        </p:nvSpPr>
        <p:spPr>
          <a:xfrm>
            <a:off x="594360" y="637125"/>
            <a:ext cx="3802276" cy="5256371"/>
          </a:xfrm>
        </p:spPr>
        <p:txBody>
          <a:bodyPr>
            <a:normAutofit/>
          </a:bodyPr>
          <a:lstStyle/>
          <a:p>
            <a:r>
              <a:rPr lang="en-US" sz="4800">
                <a:solidFill>
                  <a:schemeClr val="bg1"/>
                </a:solidFill>
                <a:cs typeface="Calibri Light"/>
              </a:rPr>
              <a:t>What about the Chapters </a:t>
            </a:r>
            <a:endParaRPr lang="en-US" sz="4800">
              <a:solidFill>
                <a:schemeClr val="bg1"/>
              </a:solidFill>
            </a:endParaRPr>
          </a:p>
        </p:txBody>
      </p:sp>
      <p:graphicFrame>
        <p:nvGraphicFramePr>
          <p:cNvPr id="5" name="Content Placeholder 2">
            <a:extLst>
              <a:ext uri="{FF2B5EF4-FFF2-40B4-BE49-F238E27FC236}">
                <a16:creationId xmlns:a16="http://schemas.microsoft.com/office/drawing/2014/main" id="{5B4149C8-6C19-48EE-BF92-0B08AEAF0CC3}"/>
              </a:ext>
            </a:extLst>
          </p:cNvPr>
          <p:cNvGraphicFramePr>
            <a:graphicFrameLocks noGrp="1"/>
          </p:cNvGraphicFramePr>
          <p:nvPr>
            <p:ph idx="1"/>
            <p:extLst>
              <p:ext uri="{D42A27DB-BD31-4B8C-83A1-F6EECF244321}">
                <p14:modId xmlns:p14="http://schemas.microsoft.com/office/powerpoint/2010/main" val="3039759317"/>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0451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648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75F19D9A-4EED-4612-A2AF-6A90358949ED}"/>
              </a:ext>
            </a:extLst>
          </p:cNvPr>
          <p:cNvPicPr>
            <a:picLocks noGrp="1" noChangeAspect="1"/>
          </p:cNvPicPr>
          <p:nvPr>
            <p:ph idx="1"/>
          </p:nvPr>
        </p:nvPicPr>
        <p:blipFill rotWithShape="1">
          <a:blip r:embed="rId2"/>
          <a:srcRect r="4253" b="2"/>
          <a:stretch/>
        </p:blipFill>
        <p:spPr>
          <a:xfrm>
            <a:off x="976251" y="942538"/>
            <a:ext cx="7163222" cy="4808332"/>
          </a:xfrm>
          <a:prstGeom prst="rect">
            <a:avLst/>
          </a:prstGeom>
          <a:effectLst/>
        </p:spPr>
      </p:pic>
      <p:sp>
        <p:nvSpPr>
          <p:cNvPr id="3" name="TextBox 2">
            <a:extLst>
              <a:ext uri="{FF2B5EF4-FFF2-40B4-BE49-F238E27FC236}">
                <a16:creationId xmlns:a16="http://schemas.microsoft.com/office/drawing/2014/main" id="{06C723A2-F72F-4925-916E-F7C8B556C6A1}"/>
              </a:ext>
            </a:extLst>
          </p:cNvPr>
          <p:cNvSpPr txBox="1"/>
          <p:nvPr/>
        </p:nvSpPr>
        <p:spPr>
          <a:xfrm>
            <a:off x="8870907" y="1114425"/>
            <a:ext cx="311897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FFFFFF"/>
                </a:solidFill>
              </a:rPr>
              <a:t>Here is how to get each chapter separated</a:t>
            </a:r>
            <a:endParaRPr lang="en-US" sz="2400" dirty="0">
              <a:solidFill>
                <a:srgbClr val="FFFFFF"/>
              </a:solidFill>
              <a:cs typeface="Calibri"/>
            </a:endParaRPr>
          </a:p>
        </p:txBody>
      </p:sp>
    </p:spTree>
    <p:extLst>
      <p:ext uri="{BB962C8B-B14F-4D97-AF65-F5344CB8AC3E}">
        <p14:creationId xmlns:p14="http://schemas.microsoft.com/office/powerpoint/2010/main" val="3635003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648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C723A2-F72F-4925-916E-F7C8B556C6A1}"/>
              </a:ext>
            </a:extLst>
          </p:cNvPr>
          <p:cNvSpPr txBox="1"/>
          <p:nvPr/>
        </p:nvSpPr>
        <p:spPr>
          <a:xfrm>
            <a:off x="8839591" y="1030918"/>
            <a:ext cx="3035473"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bg1"/>
                </a:solidFill>
                <a:ea typeface="+mn-lt"/>
                <a:cs typeface="+mn-lt"/>
              </a:rPr>
              <a:t>These are the chapters with the most sad words in each book, normalized for number of words in the chapter</a:t>
            </a:r>
          </a:p>
        </p:txBody>
      </p:sp>
      <p:pic>
        <p:nvPicPr>
          <p:cNvPr id="2" name="Picture 4" descr="A screenshot of a cell phone&#10;&#10;Description generated with very high confidence">
            <a:extLst>
              <a:ext uri="{FF2B5EF4-FFF2-40B4-BE49-F238E27FC236}">
                <a16:creationId xmlns:a16="http://schemas.microsoft.com/office/drawing/2014/main" id="{568566C9-6371-41CA-B4D8-BC6856874FFA}"/>
              </a:ext>
            </a:extLst>
          </p:cNvPr>
          <p:cNvPicPr>
            <a:picLocks noChangeAspect="1"/>
          </p:cNvPicPr>
          <p:nvPr/>
        </p:nvPicPr>
        <p:blipFill rotWithShape="1">
          <a:blip r:embed="rId2"/>
          <a:srcRect t="3310" r="1" b="170"/>
          <a:stretch/>
        </p:blipFill>
        <p:spPr>
          <a:xfrm>
            <a:off x="731308" y="1273580"/>
            <a:ext cx="7498191" cy="4033962"/>
          </a:xfrm>
          <a:prstGeom prst="rect">
            <a:avLst/>
          </a:prstGeom>
        </p:spPr>
      </p:pic>
    </p:spTree>
    <p:extLst>
      <p:ext uri="{BB962C8B-B14F-4D97-AF65-F5344CB8AC3E}">
        <p14:creationId xmlns:p14="http://schemas.microsoft.com/office/powerpoint/2010/main" val="439509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A739-D639-4939-97CD-32672783A988}"/>
              </a:ext>
            </a:extLst>
          </p:cNvPr>
          <p:cNvSpPr>
            <a:spLocks noGrp="1"/>
          </p:cNvSpPr>
          <p:nvPr>
            <p:ph type="title"/>
          </p:nvPr>
        </p:nvSpPr>
        <p:spPr/>
        <p:txBody>
          <a:bodyPr/>
          <a:lstStyle/>
          <a:p>
            <a:r>
              <a:rPr lang="en-US">
                <a:cs typeface="Calibri Light"/>
              </a:rPr>
              <a:t>The Break Down</a:t>
            </a:r>
            <a:endParaRPr lang="en-US"/>
          </a:p>
        </p:txBody>
      </p:sp>
      <p:pic>
        <p:nvPicPr>
          <p:cNvPr id="6" name="Picture 6" descr="A screenshot of a cell phone&#10;&#10;Description generated with very high confidence">
            <a:extLst>
              <a:ext uri="{FF2B5EF4-FFF2-40B4-BE49-F238E27FC236}">
                <a16:creationId xmlns:a16="http://schemas.microsoft.com/office/drawing/2014/main" id="{24937384-E46D-41E7-AB4F-4927C6F0F6BE}"/>
              </a:ext>
            </a:extLst>
          </p:cNvPr>
          <p:cNvPicPr>
            <a:picLocks noChangeAspect="1"/>
          </p:cNvPicPr>
          <p:nvPr/>
        </p:nvPicPr>
        <p:blipFill>
          <a:blip r:embed="rId2"/>
          <a:stretch>
            <a:fillRect/>
          </a:stretch>
        </p:blipFill>
        <p:spPr>
          <a:xfrm>
            <a:off x="994105" y="2210339"/>
            <a:ext cx="3001810" cy="2522298"/>
          </a:xfrm>
          <a:prstGeom prst="rect">
            <a:avLst/>
          </a:prstGeom>
        </p:spPr>
      </p:pic>
      <p:pic>
        <p:nvPicPr>
          <p:cNvPr id="10" name="Picture 10" descr="A screenshot of a cell phone&#10;&#10;Description generated with very high confidence">
            <a:extLst>
              <a:ext uri="{FF2B5EF4-FFF2-40B4-BE49-F238E27FC236}">
                <a16:creationId xmlns:a16="http://schemas.microsoft.com/office/drawing/2014/main" id="{E4D268A5-A672-41D4-A61D-EF719FEEE47D}"/>
              </a:ext>
            </a:extLst>
          </p:cNvPr>
          <p:cNvPicPr>
            <a:picLocks noGrp="1" noChangeAspect="1"/>
          </p:cNvPicPr>
          <p:nvPr>
            <p:ph idx="1"/>
          </p:nvPr>
        </p:nvPicPr>
        <p:blipFill>
          <a:blip r:embed="rId3"/>
          <a:stretch>
            <a:fillRect/>
          </a:stretch>
        </p:blipFill>
        <p:spPr>
          <a:xfrm>
            <a:off x="3441851" y="2111335"/>
            <a:ext cx="1561446" cy="2622505"/>
          </a:xfrm>
        </p:spPr>
      </p:pic>
      <p:pic>
        <p:nvPicPr>
          <p:cNvPr id="12" name="Picture 12" descr="A screenshot of a cell phone&#10;&#10;Description generated with very high confidence">
            <a:extLst>
              <a:ext uri="{FF2B5EF4-FFF2-40B4-BE49-F238E27FC236}">
                <a16:creationId xmlns:a16="http://schemas.microsoft.com/office/drawing/2014/main" id="{A371F761-2E4E-41C9-85C3-C17369FB2547}"/>
              </a:ext>
            </a:extLst>
          </p:cNvPr>
          <p:cNvPicPr>
            <a:picLocks noChangeAspect="1"/>
          </p:cNvPicPr>
          <p:nvPr/>
        </p:nvPicPr>
        <p:blipFill>
          <a:blip r:embed="rId4"/>
          <a:stretch>
            <a:fillRect/>
          </a:stretch>
        </p:blipFill>
        <p:spPr>
          <a:xfrm>
            <a:off x="4632673" y="2171441"/>
            <a:ext cx="7563239" cy="2507680"/>
          </a:xfrm>
          <a:prstGeom prst="rect">
            <a:avLst/>
          </a:prstGeom>
        </p:spPr>
      </p:pic>
      <p:sp>
        <p:nvSpPr>
          <p:cNvPr id="3" name="TextBox 2">
            <a:extLst>
              <a:ext uri="{FF2B5EF4-FFF2-40B4-BE49-F238E27FC236}">
                <a16:creationId xmlns:a16="http://schemas.microsoft.com/office/drawing/2014/main" id="{2AA39754-A05D-4E67-8442-88536A862C19}"/>
              </a:ext>
            </a:extLst>
          </p:cNvPr>
          <p:cNvSpPr txBox="1"/>
          <p:nvPr/>
        </p:nvSpPr>
        <p:spPr>
          <a:xfrm>
            <a:off x="990600" y="4953000"/>
            <a:ext cx="901065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dirty="0">
                <a:solidFill>
                  <a:srgbClr val="333333"/>
                </a:solidFill>
                <a:latin typeface="Helvetica Neue"/>
              </a:rPr>
              <a:t>Chapter 43 of </a:t>
            </a:r>
            <a:r>
              <a:rPr lang="en-US" sz="2000" i="1" dirty="0">
                <a:solidFill>
                  <a:srgbClr val="333333"/>
                </a:solidFill>
                <a:latin typeface="Helvetica Neue"/>
              </a:rPr>
              <a:t>Sense and Sensibility</a:t>
            </a:r>
            <a:r>
              <a:rPr lang="en-US" sz="2000" dirty="0">
                <a:solidFill>
                  <a:srgbClr val="333333"/>
                </a:solidFill>
                <a:latin typeface="Helvetica Neue"/>
              </a:rPr>
              <a:t> Marianne is seriously ill, near death</a:t>
            </a:r>
            <a:endParaRPr lang="en-US" sz="2000" dirty="0">
              <a:solidFill>
                <a:srgbClr val="000000"/>
              </a:solidFill>
              <a:latin typeface="Calibri" panose="020F0502020204030204"/>
              <a:cs typeface="Calibri" panose="020F0502020204030204"/>
            </a:endParaRPr>
          </a:p>
          <a:p>
            <a:pPr marL="285750" indent="-285750">
              <a:buFont typeface="Arial"/>
              <a:buChar char="•"/>
            </a:pPr>
            <a:r>
              <a:rPr lang="en-US" sz="2000" dirty="0">
                <a:solidFill>
                  <a:srgbClr val="333333"/>
                </a:solidFill>
                <a:latin typeface="Helvetica Neue"/>
              </a:rPr>
              <a:t>Chapter 34 of </a:t>
            </a:r>
            <a:r>
              <a:rPr lang="en-US" sz="2000" i="1" dirty="0">
                <a:solidFill>
                  <a:srgbClr val="333333"/>
                </a:solidFill>
                <a:latin typeface="Helvetica Neue"/>
              </a:rPr>
              <a:t>Pride and Prejudice</a:t>
            </a:r>
            <a:r>
              <a:rPr lang="en-US" sz="2000" dirty="0">
                <a:solidFill>
                  <a:srgbClr val="333333"/>
                </a:solidFill>
                <a:latin typeface="Helvetica Neue"/>
              </a:rPr>
              <a:t> Mr. Darcy proposes for the first time (so badly!)</a:t>
            </a:r>
            <a:endParaRPr lang="en-US" sz="2000" dirty="0">
              <a:solidFill>
                <a:srgbClr val="000000"/>
              </a:solidFill>
              <a:latin typeface="Calibri" panose="020F0502020204030204"/>
              <a:cs typeface="Calibri" panose="020F0502020204030204"/>
            </a:endParaRPr>
          </a:p>
          <a:p>
            <a:pPr marL="285750" indent="-285750">
              <a:buFont typeface="Arial"/>
              <a:buChar char="•"/>
            </a:pPr>
            <a:r>
              <a:rPr lang="en-US" sz="2000" dirty="0">
                <a:solidFill>
                  <a:srgbClr val="333333"/>
                </a:solidFill>
                <a:latin typeface="Helvetica Neue"/>
              </a:rPr>
              <a:t>Chapter 46 of </a:t>
            </a:r>
            <a:r>
              <a:rPr lang="en-US" sz="2000" i="1" dirty="0">
                <a:solidFill>
                  <a:srgbClr val="333333"/>
                </a:solidFill>
                <a:latin typeface="Helvetica Neue"/>
              </a:rPr>
              <a:t>Mansfield Park</a:t>
            </a:r>
            <a:r>
              <a:rPr lang="en-US" sz="2000" dirty="0">
                <a:solidFill>
                  <a:srgbClr val="333333"/>
                </a:solidFill>
                <a:latin typeface="Helvetica Neue"/>
              </a:rPr>
              <a:t> is almost the end, when everyone learns of Henry’s scandalous adultery, </a:t>
            </a:r>
            <a:endParaRPr lang="en-US" sz="2000" dirty="0">
              <a:cs typeface="Calibri" panose="020F0502020204030204"/>
            </a:endParaRPr>
          </a:p>
        </p:txBody>
      </p:sp>
    </p:spTree>
    <p:extLst>
      <p:ext uri="{BB962C8B-B14F-4D97-AF65-F5344CB8AC3E}">
        <p14:creationId xmlns:p14="http://schemas.microsoft.com/office/powerpoint/2010/main" val="1115557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B4948D-0464-4D7B-A502-C5EE06D7C86A}"/>
              </a:ext>
            </a:extLst>
          </p:cNvPr>
          <p:cNvSpPr>
            <a:spLocks noGrp="1"/>
          </p:cNvSpPr>
          <p:nvPr>
            <p:ph type="title"/>
          </p:nvPr>
        </p:nvSpPr>
        <p:spPr>
          <a:xfrm>
            <a:off x="643468" y="623392"/>
            <a:ext cx="3363974" cy="1607060"/>
          </a:xfrm>
          <a:noFill/>
          <a:ln w="19050">
            <a:solidFill>
              <a:schemeClr val="tx1"/>
            </a:solidFill>
          </a:ln>
        </p:spPr>
        <p:txBody>
          <a:bodyPr wrap="square" anchor="ctr">
            <a:normAutofit/>
          </a:bodyPr>
          <a:lstStyle/>
          <a:p>
            <a:pPr algn="ctr"/>
            <a:r>
              <a:rPr lang="en-US" sz="2800">
                <a:cs typeface="Calibri Light"/>
              </a:rPr>
              <a:t>Other packages </a:t>
            </a:r>
            <a:endParaRPr lang="en-US" sz="2800"/>
          </a:p>
        </p:txBody>
      </p:sp>
      <p:sp>
        <p:nvSpPr>
          <p:cNvPr id="3" name="Content Placeholder 2">
            <a:extLst>
              <a:ext uri="{FF2B5EF4-FFF2-40B4-BE49-F238E27FC236}">
                <a16:creationId xmlns:a16="http://schemas.microsoft.com/office/drawing/2014/main" id="{F362EEC0-0473-4C30-9830-B22307903B5F}"/>
              </a:ext>
            </a:extLst>
          </p:cNvPr>
          <p:cNvSpPr>
            <a:spLocks noGrp="1"/>
          </p:cNvSpPr>
          <p:nvPr>
            <p:ph idx="1"/>
          </p:nvPr>
        </p:nvSpPr>
        <p:spPr>
          <a:xfrm>
            <a:off x="643468" y="2638043"/>
            <a:ext cx="3363974" cy="3415623"/>
          </a:xfrm>
        </p:spPr>
        <p:txBody>
          <a:bodyPr vert="horz" lIns="91440" tIns="45720" rIns="91440" bIns="45720" rtlCol="0" anchor="t">
            <a:normAutofit/>
          </a:bodyPr>
          <a:lstStyle/>
          <a:p>
            <a:r>
              <a:rPr lang="en-US" sz="2000">
                <a:cs typeface="Calibri"/>
              </a:rPr>
              <a:t>Syuzhet</a:t>
            </a:r>
          </a:p>
          <a:p>
            <a:r>
              <a:rPr lang="en-US" sz="2000">
                <a:cs typeface="Calibri"/>
              </a:rPr>
              <a:t>Has positive and negative scale like ones in previous slides</a:t>
            </a:r>
            <a:endParaRPr lang="en-US" sz="2000" dirty="0">
              <a:cs typeface="Calibri"/>
            </a:endParaRPr>
          </a:p>
          <a:p>
            <a:r>
              <a:rPr lang="en-US" sz="2000">
                <a:cs typeface="Calibri"/>
              </a:rPr>
              <a:t>Adds more of an emotion scale as the one seen to the right</a:t>
            </a:r>
            <a:endParaRPr lang="en-US" sz="2000" dirty="0">
              <a:cs typeface="Calibri"/>
            </a:endParaRPr>
          </a:p>
          <a:p>
            <a:endParaRPr lang="en-US" sz="2000">
              <a:cs typeface="Calibri"/>
            </a:endParaRPr>
          </a:p>
        </p:txBody>
      </p:sp>
      <p:pic>
        <p:nvPicPr>
          <p:cNvPr id="4" name="Picture 4" descr="A screenshot of a cell phone&#10;&#10;Description generated with high confidence">
            <a:extLst>
              <a:ext uri="{FF2B5EF4-FFF2-40B4-BE49-F238E27FC236}">
                <a16:creationId xmlns:a16="http://schemas.microsoft.com/office/drawing/2014/main" id="{4B3A6EA3-7094-4FD2-8644-A799697747CC}"/>
              </a:ext>
            </a:extLst>
          </p:cNvPr>
          <p:cNvPicPr>
            <a:picLocks noChangeAspect="1"/>
          </p:cNvPicPr>
          <p:nvPr/>
        </p:nvPicPr>
        <p:blipFill>
          <a:blip r:embed="rId2"/>
          <a:stretch>
            <a:fillRect/>
          </a:stretch>
        </p:blipFill>
        <p:spPr>
          <a:xfrm>
            <a:off x="5297763" y="1418642"/>
            <a:ext cx="6250769" cy="3859849"/>
          </a:xfrm>
          <a:prstGeom prst="rect">
            <a:avLst/>
          </a:prstGeom>
        </p:spPr>
      </p:pic>
    </p:spTree>
    <p:extLst>
      <p:ext uri="{BB962C8B-B14F-4D97-AF65-F5344CB8AC3E}">
        <p14:creationId xmlns:p14="http://schemas.microsoft.com/office/powerpoint/2010/main" val="2474102889"/>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08CE-8AA7-479E-94B2-1043680B0B73}"/>
              </a:ext>
            </a:extLst>
          </p:cNvPr>
          <p:cNvSpPr>
            <a:spLocks noGrp="1"/>
          </p:cNvSpPr>
          <p:nvPr>
            <p:ph type="title"/>
          </p:nvPr>
        </p:nvSpPr>
        <p:spPr>
          <a:xfrm>
            <a:off x="1913468" y="365125"/>
            <a:ext cx="9440332" cy="1325563"/>
          </a:xfrm>
        </p:spPr>
        <p:txBody>
          <a:bodyPr>
            <a:normAutofit/>
          </a:bodyPr>
          <a:lstStyle/>
          <a:p>
            <a:r>
              <a:rPr lang="en-US" sz="5000">
                <a:cs typeface="Calibri Light"/>
              </a:rPr>
              <a:t>Main Drawback of TidyText Analysis</a:t>
            </a:r>
            <a:endParaRPr lang="en-US" sz="5000"/>
          </a:p>
        </p:txBody>
      </p:sp>
      <p:sp>
        <p:nvSpPr>
          <p:cNvPr id="10" name="Rectangle 9">
            <a:extLst>
              <a:ext uri="{FF2B5EF4-FFF2-40B4-BE49-F238E27FC236}">
                <a16:creationId xmlns:a16="http://schemas.microsoft.com/office/drawing/2014/main" id="{FF0330B1-AAAC-427D-8A95-40380162B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Robot">
            <a:extLst>
              <a:ext uri="{FF2B5EF4-FFF2-40B4-BE49-F238E27FC236}">
                <a16:creationId xmlns:a16="http://schemas.microsoft.com/office/drawing/2014/main" id="{90259C72-C2F2-4ED5-8823-9815F1F6F3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70706"/>
            <a:ext cx="914400" cy="914400"/>
          </a:xfrm>
          <a:prstGeom prst="rect">
            <a:avLst/>
          </a:prstGeom>
        </p:spPr>
      </p:pic>
      <p:sp>
        <p:nvSpPr>
          <p:cNvPr id="3" name="Content Placeholder 2">
            <a:extLst>
              <a:ext uri="{FF2B5EF4-FFF2-40B4-BE49-F238E27FC236}">
                <a16:creationId xmlns:a16="http://schemas.microsoft.com/office/drawing/2014/main" id="{63F170A3-377D-4262-BC7D-316DDFC74745}"/>
              </a:ext>
            </a:extLst>
          </p:cNvPr>
          <p:cNvSpPr>
            <a:spLocks noGrp="1"/>
          </p:cNvSpPr>
          <p:nvPr>
            <p:ph idx="1"/>
          </p:nvPr>
        </p:nvSpPr>
        <p:spPr>
          <a:xfrm>
            <a:off x="838200" y="1825625"/>
            <a:ext cx="10515600" cy="4351338"/>
          </a:xfrm>
        </p:spPr>
        <p:txBody>
          <a:bodyPr vert="horz" lIns="91440" tIns="45720" rIns="91440" bIns="45720" rtlCol="0">
            <a:normAutofit/>
          </a:bodyPr>
          <a:lstStyle/>
          <a:p>
            <a:r>
              <a:rPr lang="en-US">
                <a:ea typeface="+mn-lt"/>
                <a:cs typeface="+mn-lt"/>
              </a:rPr>
              <a:t>They were constructed via either crowdsourcing (using, for example, Amazon Mechanical Turk) or by the labor of one of the authors, and were validated using some combination of crowdsourcing again, restaurant or movie reviews, or Twitter data</a:t>
            </a:r>
          </a:p>
          <a:p>
            <a:r>
              <a:rPr lang="en-US">
                <a:ea typeface="+mn-lt"/>
                <a:cs typeface="+mn-lt"/>
              </a:rPr>
              <a:t> Given this information, we may hesitate to apply these sentiment lexicons to styles of text dramatically different from what they were validated on, such as narrative fiction from 200 years ago I did this because it is very hard to find any other books in R to use and to show as an example of how it works</a:t>
            </a:r>
            <a:endParaRPr lang="en-US">
              <a:cs typeface="Calibri"/>
            </a:endParaRPr>
          </a:p>
        </p:txBody>
      </p:sp>
    </p:spTree>
    <p:extLst>
      <p:ext uri="{BB962C8B-B14F-4D97-AF65-F5344CB8AC3E}">
        <p14:creationId xmlns:p14="http://schemas.microsoft.com/office/powerpoint/2010/main" val="1124296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6FCE8A-C10D-44E7-AC8F-E05F39F3A1B0}"/>
              </a:ext>
            </a:extLst>
          </p:cNvPr>
          <p:cNvSpPr>
            <a:spLocks noGrp="1"/>
          </p:cNvSpPr>
          <p:nvPr>
            <p:ph type="title"/>
          </p:nvPr>
        </p:nvSpPr>
        <p:spPr>
          <a:xfrm>
            <a:off x="1524000" y="1122362"/>
            <a:ext cx="9144000" cy="2840037"/>
          </a:xfrm>
        </p:spPr>
        <p:txBody>
          <a:bodyPr vert="horz" lIns="91440" tIns="45720" rIns="91440" bIns="45720" rtlCol="0" anchor="b">
            <a:normAutofit/>
          </a:bodyPr>
          <a:lstStyle/>
          <a:p>
            <a:pPr algn="ctr"/>
            <a:r>
              <a:rPr lang="en-US" sz="5800" dirty="0"/>
              <a:t>If you have questions, feel free to email me! </a:t>
            </a:r>
            <a:br>
              <a:rPr lang="en-US" sz="5800" dirty="0"/>
            </a:br>
            <a:r>
              <a:rPr lang="en-US" sz="5800" dirty="0"/>
              <a:t>Stay Healthy!</a:t>
            </a:r>
            <a:endParaRPr lang="en-US" sz="5800" kern="1200" dirty="0">
              <a:latin typeface="+mj-lt"/>
              <a:cs typeface="Calibri Light"/>
            </a:endParaRPr>
          </a:p>
        </p:txBody>
      </p:sp>
      <p:cxnSp>
        <p:nvCxnSpPr>
          <p:cNvPr id="11" name="Straight Connector 10">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73421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Sentiment Analysis In R </vt:lpstr>
      <vt:lpstr>Overview</vt:lpstr>
      <vt:lpstr>Sentiments in TidyText</vt:lpstr>
      <vt:lpstr>Afinn</vt:lpstr>
      <vt:lpstr>Bing</vt:lpstr>
      <vt:lpstr>Nrc</vt:lpstr>
      <vt:lpstr>Jane Austin Books</vt:lpstr>
      <vt:lpstr>Comparing Sentiments Over Time Step one</vt:lpstr>
      <vt:lpstr>Step two</vt:lpstr>
      <vt:lpstr>PowerPoint Presentation</vt:lpstr>
      <vt:lpstr>Step 3 </vt:lpstr>
      <vt:lpstr>Step 3</vt:lpstr>
      <vt:lpstr>Plotting</vt:lpstr>
      <vt:lpstr>PowerPoint Presentation</vt:lpstr>
      <vt:lpstr> Comparing the three sentiment dictionaries</vt:lpstr>
      <vt:lpstr>Helpful Note</vt:lpstr>
      <vt:lpstr>Getting the scores </vt:lpstr>
      <vt:lpstr>Simple Bind and Plot</vt:lpstr>
      <vt:lpstr>PowerPoint Presentation</vt:lpstr>
      <vt:lpstr>What We See</vt:lpstr>
      <vt:lpstr>Simple Question</vt:lpstr>
      <vt:lpstr>Word Count</vt:lpstr>
      <vt:lpstr>Most common positive and negative words</vt:lpstr>
      <vt:lpstr>PowerPoint Presentation</vt:lpstr>
      <vt:lpstr>Miss coded no pun intended </vt:lpstr>
      <vt:lpstr>PowerPoint Presentation</vt:lpstr>
      <vt:lpstr>Simple Version</vt:lpstr>
      <vt:lpstr>PowerPoint Presentation</vt:lpstr>
      <vt:lpstr>Better Version</vt:lpstr>
      <vt:lpstr>PowerPoint Presentation</vt:lpstr>
      <vt:lpstr>What about the Chapters </vt:lpstr>
      <vt:lpstr>PowerPoint Presentation</vt:lpstr>
      <vt:lpstr>PowerPoint Presentation</vt:lpstr>
      <vt:lpstr>The Break Down</vt:lpstr>
      <vt:lpstr>Other packages </vt:lpstr>
      <vt:lpstr>Main Drawback of TidyText Analysis</vt:lpstr>
      <vt:lpstr>If you have questions, feel free to email me!  Stay Healthy!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826</cp:revision>
  <dcterms:created xsi:type="dcterms:W3CDTF">2020-04-10T22:12:32Z</dcterms:created>
  <dcterms:modified xsi:type="dcterms:W3CDTF">2020-05-04T23:27:44Z</dcterms:modified>
</cp:coreProperties>
</file>