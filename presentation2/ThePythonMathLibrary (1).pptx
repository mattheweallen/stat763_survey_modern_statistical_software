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6" r:id="rId7"/>
    <p:sldId id="260" r:id="rId8"/>
    <p:sldId id="261" r:id="rId9"/>
    <p:sldId id="262" r:id="rId10"/>
    <p:sldId id="270" r:id="rId11"/>
    <p:sldId id="271" r:id="rId12"/>
    <p:sldId id="272" r:id="rId13"/>
    <p:sldId id="277" r:id="rId14"/>
    <p:sldId id="278" r:id="rId15"/>
    <p:sldId id="264" r:id="rId16"/>
    <p:sldId id="265" r:id="rId17"/>
    <p:sldId id="269" r:id="rId18"/>
    <p:sldId id="267" r:id="rId19"/>
    <p:sldId id="268" r:id="rId20"/>
    <p:sldId id="273" r:id="rId21"/>
    <p:sldId id="274" r:id="rId22"/>
    <p:sldId id="275" r:id="rId23"/>
    <p:sldId id="27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8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8EE2-81A2-4F2D-AA59-9AF520549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A24D6-4D53-4AFB-9EE8-D5FA83B03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FB4BE-3139-4E23-A8B2-07E263D4F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85CF-126A-4200-99E0-68DE0EE5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69EC0-E532-4ED3-AB82-B6D1EE0A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0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47AC-A189-471B-8233-1CB90767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ADBE-3899-4818-A38E-39341EFCB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B780D-C31E-42D0-8FEE-C7B4AAE6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F1B32-88CC-4C3B-B3C4-AD0B537B0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807D2-4EBC-4F8E-B93E-33591C201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5E2B-E47A-47FE-9938-838C336F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90258-1C14-4D29-B8FA-6CDD8AF1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93A28-F590-46C0-84DC-CF1BDDB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14A65-1CA7-4203-A63D-D5FCCD08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855A-E3AC-4340-8ABE-F0C35561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6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A5CA-1C5E-4449-BAD1-B688E394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5D719-B150-42F2-A188-22363728A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AA3AB-D201-40AC-9C73-66D373BB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C9A01-2124-40E7-8BEB-117A5A48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D703A-E82C-443F-8D61-38F94E6C5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30F51-6C3F-4B4B-B44D-586CED03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4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151E3-1707-4A9B-A313-EF924084F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2389C-78BB-496D-9BCB-448D43C2E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072D0-872A-423A-BAD7-B92E11A82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67A83E-DABB-4361-A6F3-47CA44A04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C5C6B-D967-44C4-B7DA-EAFF99AA7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60FBD-3299-4C96-BBF5-3735B634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A5026-06BE-4C99-95E4-C1DC6DA50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116279-FD61-4332-8A5C-7BF9F2F6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96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8CBE-D870-4E17-ADFD-013351A4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51208-BA9A-401F-BBD8-DC63BB62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D245A-796D-4FBE-A370-655157EF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4CB03-D9CF-4472-9257-A039F576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8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1FE8F-7F6D-47E0-8B69-A9B362A9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FD9A42-19DD-4E63-8522-204FB31F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9D3C4-FE67-4D52-BF28-0728A564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59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CB7C1-15C0-4596-B3D7-491E8FA6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F2A2-EF84-40B4-97B9-AEAC3E86F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116D19-6129-4F06-A4FF-B303A2A45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C18A0-990C-4DEE-8215-046FED28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A90CF-4D23-4789-9A36-57413AC78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C2B0A-09C4-4BC2-A1E3-318F0C59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2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1991C-A71E-4D66-870B-1BC06ABB4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CB27A-8670-4764-BFA0-97F2DDF76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5761C-1557-4B27-82A1-A2E419982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E8551-8186-483B-A59D-C44CE2BA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E26CD-004A-482B-ABBD-0495C1C7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F3986-87AC-44B0-B900-2268B85B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4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5D1E-3C29-4BE3-BB96-0998516A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F53AB-5F0D-4005-AE6D-2F17968F7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10A0-E6DB-45A8-9B9C-FA988425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840B8-4D18-4C67-A43F-93DA085C4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762F4-55D6-40CE-9D88-7C646C9D9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BAE031-02C3-4CB2-9998-AF83AE57E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0B994-D561-47DC-8D21-EEB62928A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D793E-B900-46B1-BF47-D22032D3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631EB-E959-4105-A167-CC56936A4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FD226-C0FB-4585-9812-4A439911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12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74BB2-D4F6-477E-BA26-5200158A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7C39F-96A8-42F9-9610-13A44C5F5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7000A-E1BD-46F2-81DA-2A786B645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AE4C3-9371-4B56-9FF7-E44B3B7D7990}" type="datetimeFigureOut">
              <a:rPr lang="en-US" smtClean="0"/>
              <a:t>4/19/2020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4688A-6784-45BB-9AE1-6E982920E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F41BE-41BA-407D-8534-D6553649C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1F6F6-7843-464A-B897-F0E2E7AD1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8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math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7B1E-0FCE-400D-A85C-0378A817F5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The Python Math Library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3D322-D7B3-4963-86BA-740377F936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Samuel VanderZee</a:t>
            </a:r>
          </a:p>
        </p:txBody>
      </p:sp>
    </p:spTree>
    <p:extLst>
      <p:ext uri="{BB962C8B-B14F-4D97-AF65-F5344CB8AC3E}">
        <p14:creationId xmlns:p14="http://schemas.microsoft.com/office/powerpoint/2010/main" val="179394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CD91-19B4-4CC8-B20C-0B70FDA00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Simple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8AB3-B582-4E74-B9E8-359329C60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Simply type “import math” into Python</a:t>
            </a:r>
          </a:p>
          <a:p>
            <a:r>
              <a:rPr lang="en-US" dirty="0"/>
              <a:t>There are many simple, yet useful math functions in this library. Using these functions allows us to write other functions and perform tasks that might be quite hard otherwise</a:t>
            </a:r>
          </a:p>
          <a:p>
            <a:r>
              <a:rPr lang="en-US" dirty="0"/>
              <a:t>This presentation will introduce many of the functions in the math library, and I’ll also share some functions I wrote that make use of these functions.</a:t>
            </a:r>
          </a:p>
          <a:p>
            <a:r>
              <a:rPr lang="en-US" dirty="0"/>
              <a:t>I enjoy numbers, so many of my examples are number-theory related. But I will also share more practical uses, and I’m sure you’ll find many practical, statistical uses of the math library!</a:t>
            </a:r>
          </a:p>
          <a:p>
            <a:r>
              <a:rPr lang="en-US" dirty="0"/>
              <a:t>I’m very new to Python, but found writing mathematical functions that make use of the built-in functions from the math library to be a great way to learn basic function writing in Python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23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CE2E-654F-4969-BB1E-022CB69E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gcd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2666-1748-4304-95EA-B15FB40A0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gcd</a:t>
            </a:r>
            <a:r>
              <a:rPr lang="en-US" dirty="0"/>
              <a:t>(a, b) returns the greatest common divisor of two integers, a &amp; b.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function can be used to write more complex functions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Euler’s Totient Function is a function that counts the positive integers up to n that are relatively prime to n (see next page).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517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B639-1331-49DA-A975-F50B4C58F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Euler’s Totient Function in Python using the </a:t>
            </a:r>
            <a:r>
              <a:rPr lang="en-US" b="1" dirty="0" err="1"/>
              <a:t>gcd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316B1-F639-4F58-B398-C9C46105F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wrote the following function in Python, which makes use of the built-in </a:t>
            </a:r>
            <a:r>
              <a:rPr lang="en-US" dirty="0" err="1"/>
              <a:t>gcd</a:t>
            </a:r>
            <a:r>
              <a:rPr lang="en-US" dirty="0"/>
              <a:t> function from the math library, to compute the totient of a number: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28B0A-DC44-42DE-9414-1EEF5075F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750660"/>
            <a:ext cx="5882640" cy="364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F66A-37AC-4BA7-9F38-1470163B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Creating an lcm function from the </a:t>
            </a:r>
            <a:r>
              <a:rPr lang="en-US" b="1" dirty="0" err="1"/>
              <a:t>gcd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62789-1211-4220-9999-91F8F1425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the math library does not contain a least common multiple function, it is easy to build our own lcm function from the </a:t>
            </a:r>
            <a:r>
              <a:rPr lang="en-US" dirty="0" err="1"/>
              <a:t>gcd</a:t>
            </a:r>
            <a:r>
              <a:rPr lang="en-US" dirty="0"/>
              <a:t> function (simply using a proven fact about lcm)!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95739-D8C7-447C-A8C0-5D8A96C30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449" y="3098800"/>
            <a:ext cx="9029103" cy="261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74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6D92E-28E8-4730-9C40-3662EDCC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Creating an </a:t>
            </a:r>
            <a:r>
              <a:rPr lang="en-US" b="1" dirty="0" err="1"/>
              <a:t>isPrime</a:t>
            </a:r>
            <a:r>
              <a:rPr lang="en-US" b="1" dirty="0"/>
              <a:t> function from the </a:t>
            </a:r>
            <a:r>
              <a:rPr lang="en-US" b="1" dirty="0" err="1"/>
              <a:t>gcd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96C4-DEE5-4D13-A3AA-C62451C1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built the following simple function to return a Boolean True or False and check if a number is prime. This is another useful usage of the </a:t>
            </a:r>
            <a:r>
              <a:rPr lang="en-US" dirty="0" err="1"/>
              <a:t>gcd</a:t>
            </a:r>
            <a:r>
              <a:rPr lang="en-US" dirty="0"/>
              <a:t> function!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F4B1F-946F-48B6-856E-E1F1E2332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840" y="2764154"/>
            <a:ext cx="4592320" cy="40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5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AA74-1C52-4BD4-B5D1-ECFF7A40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fsum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1D83-AB30-43E9-BF10-38A4FAB71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fsum</a:t>
            </a:r>
            <a:r>
              <a:rPr lang="en-US" dirty="0"/>
              <a:t> function can be used to calculate a more precise sum of numbers, for instance, the code: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print(sum([.2, .2, .2, .2, .2, .2, .2, .2, .2, .2]))</a:t>
            </a:r>
            <a:r>
              <a:rPr lang="en-US" dirty="0"/>
              <a:t> prints 1.9999999999999998, which is not correct.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code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math.fsum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([.2, .2, .2, .2, .2, .2, .2, .2, .2, .2]))</a:t>
            </a:r>
            <a:r>
              <a:rPr lang="en-US" dirty="0"/>
              <a:t> prints 2.0, which is correct.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3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56CC-95E6-4FDC-A94D-77B7D6D9A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math.ceil</a:t>
            </a:r>
            <a:r>
              <a:rPr lang="en-US" b="1" dirty="0"/>
              <a:t> &amp; </a:t>
            </a:r>
            <a:r>
              <a:rPr lang="en-US" b="1" dirty="0" err="1"/>
              <a:t>math.floor</a:t>
            </a:r>
            <a:r>
              <a:rPr lang="en-US" b="1" dirty="0"/>
              <a:t>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CB243-548B-4F98-BE69-8B1073A0E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math.ceil</a:t>
            </a:r>
            <a:r>
              <a:rPr lang="en-US" dirty="0"/>
              <a:t>(x) returns the smallest integer greater than or equal to x (this could be useful in calculating necessary sample sizes that meet type I and type II error probability requirements (alpha and beta), as will be illustrated on the next slide)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Likewise, </a:t>
            </a:r>
            <a:r>
              <a:rPr lang="en-US" dirty="0" err="1"/>
              <a:t>math.floor</a:t>
            </a:r>
            <a:r>
              <a:rPr lang="en-US" dirty="0"/>
              <a:t>(x) returns the largest integer less than or equal to x</a:t>
            </a:r>
          </a:p>
        </p:txBody>
      </p:sp>
    </p:spTree>
    <p:extLst>
      <p:ext uri="{BB962C8B-B14F-4D97-AF65-F5344CB8AC3E}">
        <p14:creationId xmlns:p14="http://schemas.microsoft.com/office/powerpoint/2010/main" val="68232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98E9-B21B-4C7A-93C2-F0418BEC0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Creating our own sample size function for an upper-tail alpha-level test using the </a:t>
            </a:r>
            <a:r>
              <a:rPr lang="en-US" b="1" dirty="0" err="1"/>
              <a:t>math.ceil</a:t>
            </a:r>
            <a:r>
              <a:rPr lang="en-US" b="1" dirty="0"/>
              <a:t> function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5E1D90-8012-41B9-A7C4-060A68A46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035" y="2113280"/>
            <a:ext cx="10781931" cy="14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00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7256-8D5E-45E8-AED0-7D508AC9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Creating a divisors function from the floor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827F-9A23-4BC9-9CD1-DADBF1415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built-in </a:t>
            </a:r>
            <a:r>
              <a:rPr lang="en-US" dirty="0" err="1"/>
              <a:t>math.floor</a:t>
            </a:r>
            <a:r>
              <a:rPr lang="en-US" dirty="0"/>
              <a:t> function, I created a simple function that returns a list of the divisors of a number: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4C279-5C26-4607-9F1D-7E9B4F38B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844" y="2732086"/>
            <a:ext cx="7072313" cy="393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769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CA6F-67A6-4C5C-82AE-640D8963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Expanding on the divisors function to build a number type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A36CF-C2A5-4C3B-89B2-5B836CA7C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 sum of a number’s divisors is less than two times the number, it is called a deficient number. If the sum of a number’s divisors is equal to two times the number, it is called a perfect number, and if the sum of a number’s divisors is greater than two times the number, it is called an abundant number (yeah, I like number theory).</a:t>
            </a:r>
          </a:p>
          <a:p>
            <a:endParaRPr lang="en-US" dirty="0"/>
          </a:p>
          <a:p>
            <a:r>
              <a:rPr lang="en-US" dirty="0"/>
              <a:t>I expanded on the previous divisors function to create a </a:t>
            </a:r>
            <a:r>
              <a:rPr lang="en-US" dirty="0" err="1"/>
              <a:t>numbertype</a:t>
            </a:r>
            <a:r>
              <a:rPr lang="en-US" dirty="0"/>
              <a:t> function, which implements the </a:t>
            </a:r>
            <a:r>
              <a:rPr lang="en-US" dirty="0" err="1"/>
              <a:t>fsum</a:t>
            </a:r>
            <a:r>
              <a:rPr lang="en-US" dirty="0"/>
              <a:t> function in the math library as well (see next slide). Together, the two functions I wrote on the next slide use two functions from the math library that we already discussed (</a:t>
            </a:r>
            <a:r>
              <a:rPr lang="en-US" dirty="0" err="1"/>
              <a:t>math.floor</a:t>
            </a:r>
            <a:r>
              <a:rPr lang="en-US" dirty="0"/>
              <a:t> &amp; </a:t>
            </a:r>
            <a:r>
              <a:rPr lang="en-US" dirty="0" err="1"/>
              <a:t>math.fsum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329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C864-1759-48E8-B5BD-C5A4FADB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My </a:t>
            </a:r>
            <a:r>
              <a:rPr lang="en-US" b="1" dirty="0" err="1"/>
              <a:t>NumberType</a:t>
            </a:r>
            <a:r>
              <a:rPr lang="en-US" b="1" dirty="0"/>
              <a:t> Function (uses my divisors function)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E23F3C-F358-4521-9C9A-91C1A8B3C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640" y="1690688"/>
            <a:ext cx="6268720" cy="503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087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CBE5-E7D1-4D0C-936B-EB7C317CF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More fun with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22DF2-5881-467B-AB45-CA62E2D47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harmonic divisor number (or </a:t>
            </a:r>
            <a:r>
              <a:rPr lang="en-US" dirty="0" err="1"/>
              <a:t>Oystein</a:t>
            </a:r>
            <a:r>
              <a:rPr lang="en-US" dirty="0"/>
              <a:t> Ore number) is a positive integer whose divisors have a harmonic mean that is an integer.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harmonic mean of the divisors of a number n is defined as: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78FBF3-A4EA-4857-A9C3-91FE403DD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4508500"/>
            <a:ext cx="10083800" cy="105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9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292A-4AB3-477E-AFEC-80AAD7E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Finding Harmonic Divisor Numbers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61BD4-D4B1-4D77-A257-BFB137ED8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wrote the following function to find Harmonic Divisor Numbers. Note it uses my divisors function, as well as math library functions: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EA709-280A-4C5A-9CCE-C0611F82C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" y="2720974"/>
            <a:ext cx="11796078" cy="379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60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602F6-A63D-4E3E-8D93-80DD077D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Square Root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13570-C1C5-4621-8A26-F6743A3B8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math.sqrt</a:t>
            </a:r>
            <a:r>
              <a:rPr lang="en-US" dirty="0"/>
              <a:t>(x) returns the square root of a number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alone may not seem impressive, however, like other simple built-in functions, we can use this function to develop more functions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following page contains a function I wrote using the </a:t>
            </a:r>
            <a:r>
              <a:rPr lang="en-US" dirty="0" err="1"/>
              <a:t>math.sqrt</a:t>
            </a:r>
            <a:r>
              <a:rPr lang="en-US" dirty="0"/>
              <a:t> function to determine if a triangle is a right triangle given the side lengths</a:t>
            </a:r>
          </a:p>
        </p:txBody>
      </p:sp>
    </p:spTree>
    <p:extLst>
      <p:ext uri="{BB962C8B-B14F-4D97-AF65-F5344CB8AC3E}">
        <p14:creationId xmlns:p14="http://schemas.microsoft.com/office/powerpoint/2010/main" val="1571041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30CE7-62FB-4CE9-AE2F-CE99F164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 function I wrote to determine if a triangle is a right triangle using </a:t>
            </a:r>
            <a:r>
              <a:rPr lang="en-US" b="1" dirty="0" err="1"/>
              <a:t>math.sqrt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3A384-2719-485B-B262-E1DDCC4B8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764ABE-0D80-48EE-8DC9-B8CE48FD7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09" y="2128123"/>
            <a:ext cx="11672182" cy="260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75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283C2-A2C0-45BC-A2A4-DAFB6A38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Another application of the sqrt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02108-1CD1-41B3-9B79-B4BCD0FF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want to write a simple function to determine if a number is a perfect square. We can implement the </a:t>
            </a:r>
            <a:r>
              <a:rPr lang="en-US" dirty="0" err="1"/>
              <a:t>math.sqrt</a:t>
            </a:r>
            <a:r>
              <a:rPr lang="en-US" dirty="0"/>
              <a:t> function and </a:t>
            </a:r>
            <a:r>
              <a:rPr lang="en-US" dirty="0" err="1"/>
              <a:t>math.floor</a:t>
            </a:r>
            <a:r>
              <a:rPr lang="en-US" dirty="0"/>
              <a:t> function to build the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7BF89-25D5-47F7-8ACC-F2F1F877B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676" y="3088373"/>
            <a:ext cx="6984648" cy="368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74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69DA-744C-4E1C-8C3B-4EDADD8D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combinations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69CCF-CFAE-4AC5-B090-250E993F4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math.comb</a:t>
            </a:r>
            <a:r>
              <a:rPr lang="en-US" dirty="0"/>
              <a:t>(n, k) returns the number of ways that k items can be chosen from n items. When k &gt; n it returns 0. Of course, the inputs must be non-negative integers.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could be very useful in quickly calculating probabilities and other statistics-related questions</a:t>
            </a:r>
          </a:p>
        </p:txBody>
      </p:sp>
    </p:spTree>
    <p:extLst>
      <p:ext uri="{BB962C8B-B14F-4D97-AF65-F5344CB8AC3E}">
        <p14:creationId xmlns:p14="http://schemas.microsoft.com/office/powerpoint/2010/main" val="1508174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167A-4DDB-4CA7-AE36-1541E224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More interesting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6CB3E-D013-4CCC-BFEA-F34F85581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math.copysign</a:t>
            </a:r>
            <a:r>
              <a:rPr lang="en-US" dirty="0"/>
              <a:t>(a, b) function returns a float with the absolute value of a, but the sign of b.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math.fabs</a:t>
            </a:r>
            <a:r>
              <a:rPr lang="en-US" dirty="0"/>
              <a:t>(a) function returns the absolute value of a.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math.factorial</a:t>
            </a:r>
            <a:r>
              <a:rPr lang="en-US" dirty="0"/>
              <a:t>(a) function returns the factorial of a </a:t>
            </a:r>
            <a:r>
              <a:rPr lang="en-US"/>
              <a:t>non-negative integer a.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330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D984-7A7E-4879-BE99-D950359C3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Applying the </a:t>
            </a:r>
            <a:r>
              <a:rPr lang="en-US" b="1" dirty="0" err="1"/>
              <a:t>math.factorial</a:t>
            </a:r>
            <a:r>
              <a:rPr lang="en-US" b="1" dirty="0"/>
              <a:t> &amp; </a:t>
            </a:r>
            <a:r>
              <a:rPr lang="en-US" b="1" dirty="0" err="1"/>
              <a:t>math.fsum</a:t>
            </a:r>
            <a:r>
              <a:rPr lang="en-US" b="1" dirty="0"/>
              <a:t> functions to solve a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4F2D7-26A3-4816-9FC2-392D820AF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CE8BBE-DC70-42F8-9776-30BFCB34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5671"/>
            <a:ext cx="12192000" cy="410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17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DD14A-1DCA-41A6-AEC5-BDC5654D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68F5-3D7D-4D3E-B42B-B22E4CDC8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solved the problem utilizing two functions from the math library in the following way. This code yields the correct answer of 648: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1591A-B6DE-40AE-83A1-9C1D8115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560" y="2728887"/>
            <a:ext cx="5262880" cy="391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09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0930-83AD-4460-8694-9AB12815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math.dist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0B7C-E04B-45C4-841D-115977040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math.dist</a:t>
            </a:r>
            <a:r>
              <a:rPr lang="en-US" dirty="0"/>
              <a:t>(x, y) returns the Euclidean distance between two points x &amp; y, where each are given as a sequence of coordinates. It is necessary for the two points to have the same dimension.</a:t>
            </a:r>
          </a:p>
        </p:txBody>
      </p:sp>
    </p:spTree>
    <p:extLst>
      <p:ext uri="{BB962C8B-B14F-4D97-AF65-F5344CB8AC3E}">
        <p14:creationId xmlns:p14="http://schemas.microsoft.com/office/powerpoint/2010/main" val="1842923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037B-F6C7-4AD9-9A60-CAF9ACC8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math.pow</a:t>
            </a:r>
            <a:r>
              <a:rPr lang="en-US" b="1" dirty="0"/>
              <a:t> function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B6501-C9F7-4446-B935-DCA59F5A8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math.pow</a:t>
            </a:r>
            <a:r>
              <a:rPr lang="en-US" dirty="0"/>
              <a:t>(a, b) returns a raised to the power b.</a:t>
            </a:r>
          </a:p>
        </p:txBody>
      </p:sp>
    </p:spTree>
    <p:extLst>
      <p:ext uri="{BB962C8B-B14F-4D97-AF65-F5344CB8AC3E}">
        <p14:creationId xmlns:p14="http://schemas.microsoft.com/office/powerpoint/2010/main" val="392283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7508-D668-4335-B8F8-9278FAEE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math.pi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FE8BE-90CB-4E65-A785-BCB8AABA0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math.pi</a:t>
            </a:r>
            <a:r>
              <a:rPr lang="en-US" dirty="0"/>
              <a:t> returns pi to available precision. We can use this to write a simple function to find the area and circumference of a circle: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 Circle(radius):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"the area of a circle with radius " + str(radius) + " is " + str(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*(radius**2)) + " and the circumference is " + str(2*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*radius)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711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E29C-D0E8-4BF8-AE5C-9341F0F0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Trigonometric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7306-ABA6-4A79-904A-BCF4CA53A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many trigonometric functions in the math library (note </a:t>
            </a:r>
            <a:r>
              <a:rPr lang="en-US" dirty="0" err="1"/>
              <a:t>asin</a:t>
            </a:r>
            <a:r>
              <a:rPr lang="en-US" dirty="0"/>
              <a:t> means </a:t>
            </a:r>
            <a:r>
              <a:rPr lang="en-US" dirty="0" err="1"/>
              <a:t>arcsin</a:t>
            </a:r>
            <a:r>
              <a:rPr lang="en-US" dirty="0"/>
              <a:t>, etc. while math.atan2(x, y) returns the arctangent of x/y. All results are returned in radians.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US" dirty="0" err="1"/>
              <a:t>math.cos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US" dirty="0" err="1"/>
              <a:t>math.sin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US" dirty="0" err="1"/>
              <a:t>math.tan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US" dirty="0" err="1"/>
              <a:t>math.asin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US" dirty="0" err="1"/>
              <a:t>math.acos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US" dirty="0" err="1"/>
              <a:t>math.atan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	-math.atan2(x, y)</a:t>
            </a:r>
          </a:p>
        </p:txBody>
      </p:sp>
    </p:spTree>
    <p:extLst>
      <p:ext uri="{BB962C8B-B14F-4D97-AF65-F5344CB8AC3E}">
        <p14:creationId xmlns:p14="http://schemas.microsoft.com/office/powerpoint/2010/main" val="4288830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415-665D-4891-8D6D-CC026C41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Hyperbolic Trigonometric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0614-56D1-4CD0-A8D0-BB1C493A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math.acosh</a:t>
            </a:r>
            <a:r>
              <a:rPr lang="en-US" dirty="0"/>
              <a:t>(x) returns the inverse hyperbolic cosine of x</a:t>
            </a:r>
          </a:p>
          <a:p>
            <a:r>
              <a:rPr lang="en-US" dirty="0" err="1"/>
              <a:t>math.asinh</a:t>
            </a:r>
            <a:r>
              <a:rPr lang="en-US" dirty="0"/>
              <a:t>(x) returns the inverse hyperbolic sine of x</a:t>
            </a:r>
          </a:p>
          <a:p>
            <a:r>
              <a:rPr lang="en-US" dirty="0" err="1"/>
              <a:t>math.atanh</a:t>
            </a:r>
            <a:r>
              <a:rPr lang="en-US" dirty="0"/>
              <a:t>(x) returns the inverse hyperbolic tangent of x</a:t>
            </a:r>
          </a:p>
          <a:p>
            <a:r>
              <a:rPr lang="en-US" dirty="0" err="1"/>
              <a:t>math.cosh</a:t>
            </a:r>
            <a:r>
              <a:rPr lang="en-US" dirty="0"/>
              <a:t>(x) returns the hyperbolic cosine of x</a:t>
            </a:r>
          </a:p>
          <a:p>
            <a:r>
              <a:rPr lang="en-US" dirty="0" err="1"/>
              <a:t>math.sinh</a:t>
            </a:r>
            <a:r>
              <a:rPr lang="en-US" dirty="0"/>
              <a:t>(x) returns the hyperbolic sine of x</a:t>
            </a:r>
          </a:p>
          <a:p>
            <a:r>
              <a:rPr lang="en-US" dirty="0" err="1"/>
              <a:t>math.tanh</a:t>
            </a:r>
            <a:r>
              <a:rPr lang="en-US" dirty="0"/>
              <a:t>(x) returns the hyperbolic tangent of x</a:t>
            </a:r>
          </a:p>
        </p:txBody>
      </p:sp>
    </p:spTree>
    <p:extLst>
      <p:ext uri="{BB962C8B-B14F-4D97-AF65-F5344CB8AC3E}">
        <p14:creationId xmlns:p14="http://schemas.microsoft.com/office/powerpoint/2010/main" val="2842701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B5BDC-B1D2-472D-A5BF-3A71F4DB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Angular Conversions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6A4E-E7F6-42F6-9374-304BDDA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math.degrees</a:t>
            </a:r>
            <a:r>
              <a:rPr lang="en-US" dirty="0"/>
              <a:t>(x) takes in an angular measurement x in radians and returns its measurement in degrees</a:t>
            </a:r>
          </a:p>
          <a:p>
            <a:r>
              <a:rPr lang="en-US" dirty="0" err="1"/>
              <a:t>math.radians</a:t>
            </a:r>
            <a:r>
              <a:rPr lang="en-US" dirty="0"/>
              <a:t>(x) takes in an angular measurement x in degrees and returns its measurement in radians</a:t>
            </a:r>
          </a:p>
        </p:txBody>
      </p:sp>
    </p:spTree>
    <p:extLst>
      <p:ext uri="{BB962C8B-B14F-4D97-AF65-F5344CB8AC3E}">
        <p14:creationId xmlns:p14="http://schemas.microsoft.com/office/powerpoint/2010/main" val="2136176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B429-8CDE-482C-A53E-BA870A4FA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math.isclose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3A84-4958-46F8-851F-347A73446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math.isclose</a:t>
            </a:r>
            <a:r>
              <a:rPr lang="en-US" dirty="0"/>
              <a:t>(x, y) returns True or False depending on whether the values of x and y are “close.” The function also allows the user to specify </a:t>
            </a:r>
            <a:r>
              <a:rPr lang="en-US" dirty="0" err="1"/>
              <a:t>rel_tol</a:t>
            </a:r>
            <a:r>
              <a:rPr lang="en-US" dirty="0"/>
              <a:t> and </a:t>
            </a:r>
            <a:r>
              <a:rPr lang="en-US" dirty="0" err="1"/>
              <a:t>abs_tol</a:t>
            </a:r>
            <a:r>
              <a:rPr lang="en-US" dirty="0"/>
              <a:t>, that is, relative and absolute tolerance. Relative tolerance is the maximum allowed difference between x and y, relative to the larger absolute value of x and y. For instance, a tolerance of 1% would be specified as </a:t>
            </a:r>
            <a:r>
              <a:rPr lang="en-US" dirty="0" err="1"/>
              <a:t>rel_tol</a:t>
            </a:r>
            <a:r>
              <a:rPr lang="en-US" dirty="0"/>
              <a:t> = 0.01. Absolute tolerance, specified as </a:t>
            </a:r>
            <a:r>
              <a:rPr lang="en-US" dirty="0" err="1"/>
              <a:t>abs_tol</a:t>
            </a:r>
            <a:r>
              <a:rPr lang="en-US" dirty="0"/>
              <a:t> is the minimum absolute tolerance, and must be at least 0.</a:t>
            </a:r>
          </a:p>
          <a:p>
            <a:r>
              <a:rPr lang="en-US" dirty="0"/>
              <a:t>Next slide contains examples</a:t>
            </a:r>
          </a:p>
        </p:txBody>
      </p:sp>
    </p:spTree>
    <p:extLst>
      <p:ext uri="{BB962C8B-B14F-4D97-AF65-F5344CB8AC3E}">
        <p14:creationId xmlns:p14="http://schemas.microsoft.com/office/powerpoint/2010/main" val="291147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2A14-05C4-4A2E-9729-538C58AB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</a:t>
            </a:r>
            <a:r>
              <a:rPr lang="en-US" b="1" dirty="0" err="1"/>
              <a:t>math.isclose</a:t>
            </a:r>
            <a:r>
              <a:rPr lang="en-US" b="1" dirty="0"/>
              <a:t> function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E7B81-8565-4732-9F44-717A886F9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</a:t>
            </a:r>
            <a:r>
              <a:rPr lang="en-US" dirty="0" err="1"/>
              <a:t>math.isclose</a:t>
            </a:r>
            <a:r>
              <a:rPr lang="en-US" dirty="0"/>
              <a:t>(3, 3.000000001)) prints “True” but print(</a:t>
            </a:r>
            <a:r>
              <a:rPr lang="en-US" dirty="0" err="1"/>
              <a:t>math.isclose</a:t>
            </a:r>
            <a:r>
              <a:rPr lang="en-US" dirty="0"/>
              <a:t>(3, 3.00000001)) prints “False.” This is because the default relative tolerance is 10^-9</a:t>
            </a:r>
          </a:p>
          <a:p>
            <a:r>
              <a:rPr lang="en-US" dirty="0"/>
              <a:t>Experimenting more: print(</a:t>
            </a:r>
            <a:r>
              <a:rPr lang="en-US" dirty="0" err="1"/>
              <a:t>math.isclose</a:t>
            </a:r>
            <a:r>
              <a:rPr lang="en-US" dirty="0"/>
              <a:t>(3, 3.000001, </a:t>
            </a:r>
            <a:r>
              <a:rPr lang="en-US" dirty="0" err="1"/>
              <a:t>rel_tol</a:t>
            </a:r>
            <a:r>
              <a:rPr lang="en-US" dirty="0"/>
              <a:t>=1e-06, </a:t>
            </a:r>
            <a:r>
              <a:rPr lang="en-US" dirty="0" err="1"/>
              <a:t>abs_tol</a:t>
            </a:r>
            <a:r>
              <a:rPr lang="en-US" dirty="0"/>
              <a:t>=0.0)) prints “True” but print(</a:t>
            </a:r>
            <a:r>
              <a:rPr lang="en-US" dirty="0" err="1"/>
              <a:t>math.isclose</a:t>
            </a:r>
            <a:r>
              <a:rPr lang="en-US" dirty="0"/>
              <a:t>(3, 3.00001, </a:t>
            </a:r>
            <a:r>
              <a:rPr lang="en-US" dirty="0" err="1"/>
              <a:t>rel_tol</a:t>
            </a:r>
            <a:r>
              <a:rPr lang="en-US" dirty="0"/>
              <a:t>=1e-06, </a:t>
            </a:r>
            <a:r>
              <a:rPr lang="en-US" dirty="0" err="1"/>
              <a:t>abs_tol</a:t>
            </a:r>
            <a:r>
              <a:rPr lang="en-US" dirty="0"/>
              <a:t>=0.0)) prints “False.” This is because we specified </a:t>
            </a:r>
            <a:r>
              <a:rPr lang="en-US" dirty="0" err="1"/>
              <a:t>rel_tol</a:t>
            </a:r>
            <a:r>
              <a:rPr lang="en-US" dirty="0"/>
              <a:t> = 1e-06</a:t>
            </a:r>
          </a:p>
        </p:txBody>
      </p:sp>
    </p:spTree>
    <p:extLst>
      <p:ext uri="{BB962C8B-B14F-4D97-AF65-F5344CB8AC3E}">
        <p14:creationId xmlns:p14="http://schemas.microsoft.com/office/powerpoint/2010/main" val="3092356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F048-75F6-4E7E-8611-F45A275C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Using the </a:t>
            </a:r>
            <a:r>
              <a:rPr lang="en-US" b="1" dirty="0" err="1"/>
              <a:t>isclose</a:t>
            </a:r>
            <a:r>
              <a:rPr lang="en-US" b="1" dirty="0"/>
              <a:t> function on an approximation of 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E682-1661-432F-B55E-7DC2C7F2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Leibniz determined that </a:t>
            </a:r>
          </a:p>
          <a:p>
            <a:endParaRPr lang="en-US" dirty="0"/>
          </a:p>
          <a:p>
            <a:r>
              <a:rPr lang="en-US" dirty="0"/>
              <a:t>Let’s employ Python to figure out how many iterations of this series it takes until we get an approximation of pi/4 with a relative tolerance of 0.0001</a:t>
            </a:r>
          </a:p>
          <a:p>
            <a:endParaRPr lang="en-US" dirty="0"/>
          </a:p>
          <a:p>
            <a:r>
              <a:rPr lang="en-US" dirty="0"/>
              <a:t>The code is on the next page followed by the output. As you will see, it took 3183 iterations of the Leibniz formula to approximate pi with a relative tolerance of 0.0001.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C790F-F47B-484F-9964-7734C566B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047" y="1690688"/>
            <a:ext cx="545782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82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82729-43F8-413A-945D-A535D216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Approximating pi continued (Leibniz formula)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FAD4F-0662-49A1-BF8B-B553B106D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11" y="5368924"/>
            <a:ext cx="6303378" cy="88618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307295-D8C4-4212-AB05-6A17CA2E69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6040" y="1401126"/>
            <a:ext cx="9519920" cy="384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58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EC04-81EC-48C1-B85A-4EF4401C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Experimenting with approximating pi to a relative tolerance of 0.0001 using another known summation formula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0B85AA-0AE6-4A69-8688-755CEF8F8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3426" y="2304891"/>
            <a:ext cx="9185149" cy="1515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4CB4C1-72F9-4186-AC6B-7A982EE3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74" y="4082549"/>
            <a:ext cx="9535853" cy="112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1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8733-98DB-462E-A8BA-6C2616A3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When approximation takes too long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D5181-955E-4A48-95A8-C24C1F5B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try to approximate pi with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48B41-B2DE-4D4A-8039-52D2B6E04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99" y="2362779"/>
            <a:ext cx="8035203" cy="136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42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3DC43-DE54-4607-88B3-41F21356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Adding code to control for too many iterations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1BFD3-8404-4750-BE6A-86DB64FCD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added code to stop if the number of iterations exceeds 1000000, and approximating pi using the formula on the previous page gives: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9F197-A0DE-415F-9E52-AE948223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99" y="2662238"/>
            <a:ext cx="7411403" cy="3161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35D702-527A-4E18-8FEA-0C171A6A5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5947280"/>
            <a:ext cx="3251200" cy="36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06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2D4C-F07F-4493-9AB4-0D070D40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Downsides of the Package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32034-6013-4FBA-9AB0-5B52C3FE7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While the Python math library has a lot of functions, clearly there is a lot that is left out. This can be seen even in this presentation, as I had to write many functions myself to perform math tasks that I was interested in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Nevertheless, the math library is very useful and allows many mathematical operations to be done quickly</a:t>
            </a:r>
          </a:p>
          <a:p>
            <a:endParaRPr lang="en-US" dirty="0"/>
          </a:p>
          <a:p>
            <a:r>
              <a:rPr lang="en-US" dirty="0"/>
              <a:t>I hope you enjoy this package as well, and find other relevant uses of it. I encourage you to explore more at </a:t>
            </a:r>
            <a:r>
              <a:rPr lang="en-US" dirty="0">
                <a:hlinkClick r:id="rId2"/>
              </a:rPr>
              <a:t>https://docs.python.org/3/library/math.html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53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1941</Words>
  <Application>Microsoft Office PowerPoint</Application>
  <PresentationFormat>Widescreen</PresentationFormat>
  <Paragraphs>139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Office Theme</vt:lpstr>
      <vt:lpstr>The Python Math Library </vt:lpstr>
      <vt:lpstr>Simple to Use</vt:lpstr>
      <vt:lpstr>The gcd function</vt:lpstr>
      <vt:lpstr>Euler’s Totient Function in Python using the gcd function</vt:lpstr>
      <vt:lpstr>Creating an lcm function from the gcd function</vt:lpstr>
      <vt:lpstr>Creating an isPrime function from the gcd function</vt:lpstr>
      <vt:lpstr>The fsum function</vt:lpstr>
      <vt:lpstr>The math.ceil &amp; math.floor functions</vt:lpstr>
      <vt:lpstr>Creating our own sample size function for an upper-tail alpha-level test using the math.ceil function</vt:lpstr>
      <vt:lpstr>Creating a divisors function from the floor function</vt:lpstr>
      <vt:lpstr>Expanding on the divisors function to build a number type function</vt:lpstr>
      <vt:lpstr>My NumberType Function (uses my divisors function)</vt:lpstr>
      <vt:lpstr>More fun with numbers</vt:lpstr>
      <vt:lpstr>Finding Harmonic Divisor Numbers with Python</vt:lpstr>
      <vt:lpstr>The Square Root Function</vt:lpstr>
      <vt:lpstr>A function I wrote to determine if a triangle is a right triangle using math.sqrt</vt:lpstr>
      <vt:lpstr>Another application of the sqrt function</vt:lpstr>
      <vt:lpstr>The combinations function</vt:lpstr>
      <vt:lpstr>More interesting functions</vt:lpstr>
      <vt:lpstr>Applying the math.factorial &amp; math.fsum functions to solve a problem:</vt:lpstr>
      <vt:lpstr>The solution:</vt:lpstr>
      <vt:lpstr>The math.dist function</vt:lpstr>
      <vt:lpstr>The math.pow function </vt:lpstr>
      <vt:lpstr>The math.pi function</vt:lpstr>
      <vt:lpstr>Trigonometric Functions</vt:lpstr>
      <vt:lpstr>Hyperbolic Trigonometric Functions</vt:lpstr>
      <vt:lpstr>Angular Conversions</vt:lpstr>
      <vt:lpstr>The math.isclose function</vt:lpstr>
      <vt:lpstr>The math.isclose function continued</vt:lpstr>
      <vt:lpstr>Using the isclose function on an approximation of pi</vt:lpstr>
      <vt:lpstr>Approximating pi continued (Leibniz formula)</vt:lpstr>
      <vt:lpstr>Experimenting with approximating pi to a relative tolerance of 0.0001 using another known summation formula</vt:lpstr>
      <vt:lpstr>When approximation takes too long</vt:lpstr>
      <vt:lpstr>Adding code to control for too many iterations</vt:lpstr>
      <vt:lpstr>Downsides of the Package &amp;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Python Math Library </dc:title>
  <dc:creator>Samuel Vanderzee</dc:creator>
  <cp:lastModifiedBy>Samuel Vanderzee</cp:lastModifiedBy>
  <cp:revision>86</cp:revision>
  <dcterms:created xsi:type="dcterms:W3CDTF">2020-04-09T15:36:52Z</dcterms:created>
  <dcterms:modified xsi:type="dcterms:W3CDTF">2020-04-20T00:07:06Z</dcterms:modified>
</cp:coreProperties>
</file>